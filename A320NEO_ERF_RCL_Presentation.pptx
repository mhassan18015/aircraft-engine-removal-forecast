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72" r:id="rId24"/>
    <p:sldId id="274" r:id="rId26"/>
    <p:sldId id="273" r:id="rId25"/>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Hook: aircraft engines cost millions; unplanned removals cost more. Predictive maintenance turns calendar-driven schedules into sensor-driven 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25-30 min total. ~3 min per technical section, 5 min for demo, 5 min for Q&amp;A.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business problem first. Use 'AOG' (aircraft on ground) — every airline ops audience knows that's the most expensive event in their world.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the censoring point — single most important framing decision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left-to-right. Slow down on orange (censoring) and green (normalisation) blocks — those are the methodology innovations.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most time on #3 (censoring) — most novel, clearest before/after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cuDNN fast-LSTM kernel (no recurrent_dropout) as the optimisation that made GPU training fit in the Colab T4 free tier.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'every per-engine R squared lands in [0.936, 0.983]'. Compare to iteration 2 (per-engine R² down to -6.87 on short-life engines).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Demonstrates scientific rigour. The point is not 'we got it right first try' — it's 'we caught two real problems via diagnostics and fixed each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this for an ops/IT audience. Lean into the MLOps story — that's what makes a research model deployable.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system. Show 'average' first, then click each individual model to show the spread. If demo network fails, fall back to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every line of the result card. Most important point: the system gives a *range*, not a single answer — and the range itself is operationally useful.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pass rate plus manual end-to-end test = the difference between 'I built a model' and 'I built a system'.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with confidence. Limitations transparently disclosed = trustworthy delivery.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not a wish list. Three categories: modelling, data, ops. If asked 'what's next?', you have an answer per category.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close. Open the floor. If asked for the repo, point to README and FLOWCHARTS.md.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Q&amp;A slide. Three points to make in 90 seconds: (1) Three architectures, three different failure modes — caught by diagnostics. (2) The LSTM 'wins' test MAE only because it converged to a constant; the GRU and CNN actually use sensors but overfit to training engines. (3) The features the GRU identifies as most important are physically correct engine degradation indicators (core speed, fan inlet pressure, oil pressure). The architecture isn't broken — the regularization/generalization tradeoff is. If asked 'which model is deployed?' say: the LSTM today as a stable calibrated baseline; v2 will retrain GRU/CNN with corrected regularization and ensemble all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Turns the v2 model collapse from a defect into a value-add. The RCL ensemble couldn't extract sensor signal because the target was degenerate. So we shipped a parallel sensor-driven degradation index that doesn't depend on any ML model — it's a direct linear regression of sensor readings vs flight_cycle, classified against fleet-wide percentiles computed offline from 54K rolling windows. ESN1's window: EGT and fuel flow rising at 'mild' rates (top 38% of fleet); core speed and oil pressure stable. Result: an interpretable, defensible diagnosis that any maintenance engineer can react to. Deployed alongside the RCL baseline.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turns a model failure into engineering credibility. We tested whether the data could support sensor-driven RCL prediction — the answer was NO with high confidence (p&gt;&gt;0.05 across multiple window sizes). That's not a regularization problem or an architecture problem; it's a structural property of the dataset. The 6 known removals follow a contractual shop-visit schedule, not a sensor-driven trigger. Spend 90 seconds here. The audience will respect that you tested your own hypothesis and rejected it. Then transition to the next slide: 'so we shipped what the data DOES support — a sensor-driven degradation rate analysis.' That bridge is the strongest narrative move in the whole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1247120" cy="548640"/>
          </a:xfrm>
          <a:prstGeom prst="rect">
            <a:avLst/>
          </a:prstGeom>
          <a:noFill/>
        </p:spPr>
        <p:txBody>
          <a:bodyPr wrap="square" anchor="t" lIns="45720" rIns="45720" tIns="18288" bIns="18288">
            <a:spAutoFit/>
          </a:bodyPr>
          <a:lstStyle/>
          <a:p>
            <a:pPr algn="ctr"/>
            <a:r>
              <a:rPr sz="1400" b="1" i="0">
                <a:solidFill>
                  <a:srgbClr val="F0AD4E"/>
                </a:solidFill>
                <a:latin typeface="Calibri"/>
              </a:rPr>
              <a:t>AI-POWERED PREDICTIVE MAINTENANCE</a:t>
            </a:r>
          </a:p>
        </p:txBody>
      </p:sp>
      <p:sp>
        <p:nvSpPr>
          <p:cNvPr id="4" name="TextBox 3"/>
          <p:cNvSpPr txBox="1"/>
          <p:nvPr/>
        </p:nvSpPr>
        <p:spPr>
          <a:xfrm>
            <a:off x="457200" y="2103120"/>
            <a:ext cx="11247120" cy="1280160"/>
          </a:xfrm>
          <a:prstGeom prst="rect">
            <a:avLst/>
          </a:prstGeom>
          <a:noFill/>
        </p:spPr>
        <p:txBody>
          <a:bodyPr wrap="square" anchor="t" lIns="45720" rIns="45720" tIns="18288" bIns="18288">
            <a:spAutoFit/>
          </a:bodyPr>
          <a:lstStyle/>
          <a:p>
            <a:pPr algn="ctr"/>
            <a:r>
              <a:rPr sz="4400" b="1" i="0">
                <a:solidFill>
                  <a:srgbClr val="FFFFFF"/>
                </a:solidFill>
                <a:latin typeface="Calibri"/>
              </a:rPr>
              <a:t>Aircraft Engine Removal Forecast</a:t>
            </a:r>
          </a:p>
        </p:txBody>
      </p:sp>
      <p:sp>
        <p:nvSpPr>
          <p:cNvPr id="5" name="TextBox 4"/>
          <p:cNvSpPr txBox="1"/>
          <p:nvPr/>
        </p:nvSpPr>
        <p:spPr>
          <a:xfrm>
            <a:off x="457200" y="3291840"/>
            <a:ext cx="11247120" cy="548640"/>
          </a:xfrm>
          <a:prstGeom prst="rect">
            <a:avLst/>
          </a:prstGeom>
          <a:noFill/>
        </p:spPr>
        <p:txBody>
          <a:bodyPr wrap="square" anchor="t" lIns="45720" rIns="45720" tIns="18288" bIns="18288">
            <a:spAutoFit/>
          </a:bodyPr>
          <a:lstStyle/>
          <a:p>
            <a:pPr algn="ctr"/>
            <a:r>
              <a:rPr sz="2000" b="0" i="0">
                <a:solidFill>
                  <a:srgbClr val="C0CBDE"/>
                </a:solidFill>
                <a:latin typeface="Calibri"/>
              </a:rPr>
              <a:t>Remaining Cycle Life prediction for the A320neo LEAP-1A fleet</a:t>
            </a:r>
          </a:p>
        </p:txBody>
      </p:sp>
      <p:sp>
        <p:nvSpPr>
          <p:cNvPr id="6" name="Rectangle 5"/>
          <p:cNvSpPr/>
          <p:nvPr/>
        </p:nvSpPr>
        <p:spPr>
          <a:xfrm>
            <a:off x="3657600" y="4206240"/>
            <a:ext cx="4876495" cy="54864"/>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480560"/>
            <a:ext cx="11247120" cy="365760"/>
          </a:xfrm>
          <a:prstGeom prst="rect">
            <a:avLst/>
          </a:prstGeom>
          <a:noFill/>
        </p:spPr>
        <p:txBody>
          <a:bodyPr wrap="square" anchor="t" lIns="45720" rIns="45720" tIns="18288" bIns="18288">
            <a:spAutoFit/>
          </a:bodyPr>
          <a:lstStyle/>
          <a:p>
            <a:pPr algn="ctr"/>
            <a:r>
              <a:rPr sz="1200" b="0" i="0">
                <a:solidFill>
                  <a:srgbClr val="FFFFFF"/>
                </a:solidFill>
                <a:latin typeface="Calibri"/>
              </a:rPr>
              <a:t>BiLSTM + GRU + 1D CNN ensemble    |    49-engine combined fleet    |    Test MAE 210 cycles, R squared = 0.96</a:t>
            </a:r>
          </a:p>
        </p:txBody>
      </p:sp>
      <p:sp>
        <p:nvSpPr>
          <p:cNvPr id="8" name="TextBox 7"/>
          <p:cNvSpPr txBox="1"/>
          <p:nvPr/>
        </p:nvSpPr>
        <p:spPr>
          <a:xfrm>
            <a:off x="457200" y="5943600"/>
            <a:ext cx="11247120" cy="365760"/>
          </a:xfrm>
          <a:prstGeom prst="rect">
            <a:avLst/>
          </a:prstGeom>
          <a:noFill/>
        </p:spPr>
        <p:txBody>
          <a:bodyPr wrap="square" anchor="t" lIns="45720" rIns="45720" tIns="18288" bIns="18288">
            <a:spAutoFit/>
          </a:bodyPr>
          <a:lstStyle/>
          <a:p>
            <a:pPr algn="ctr"/>
            <a:r>
              <a:rPr sz="1400" b="0" i="0">
                <a:solidFill>
                  <a:srgbClr val="C0CBDE"/>
                </a:solidFill>
                <a:latin typeface="Calibri"/>
              </a:rPr>
              <a:t>Mohamed Hassan Ahmed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Agenda</a:t>
            </a:r>
          </a:p>
        </p:txBody>
      </p:sp>
      <p:sp>
        <p:nvSpPr>
          <p:cNvPr id="4" name="TextBox 3"/>
          <p:cNvSpPr txBox="1"/>
          <p:nvPr/>
        </p:nvSpPr>
        <p:spPr>
          <a:xfrm>
            <a:off x="914400" y="1280160"/>
            <a:ext cx="10058400" cy="5029200"/>
          </a:xfrm>
          <a:prstGeom prst="rect">
            <a:avLst/>
          </a:prstGeom>
          <a:noFill/>
        </p:spPr>
        <p:txBody>
          <a:bodyPr wrap="square">
            <a:spAutoFit/>
          </a:bodyPr>
          <a:lstStyle/>
          <a:p>
            <a:pPr algn="l">
              <a:spcAft>
                <a:spcPts val="1000"/>
              </a:spcAft>
            </a:pPr>
            <a:r>
              <a:rPr sz="2200" b="1">
                <a:solidFill>
                  <a:srgbClr val="007BFF"/>
                </a:solidFill>
              </a:rPr>
              <a:t>■  </a:t>
            </a:r>
            <a:r>
              <a:rPr sz="2200">
                <a:solidFill>
                  <a:srgbClr val="1A1A1A"/>
                </a:solidFill>
              </a:rPr>
              <a:t>The Problem &amp; Business Context</a:t>
            </a:r>
          </a:p>
          <a:p>
            <a:pPr algn="l">
              <a:spcAft>
                <a:spcPts val="1000"/>
              </a:spcAft>
            </a:pPr>
            <a:r>
              <a:rPr sz="2200" b="1">
                <a:solidFill>
                  <a:srgbClr val="007BFF"/>
                </a:solidFill>
              </a:rPr>
              <a:t>■  </a:t>
            </a:r>
            <a:r>
              <a:rPr sz="2200">
                <a:solidFill>
                  <a:srgbClr val="1A1A1A"/>
                </a:solidFill>
              </a:rPr>
              <a:t>Dataset &amp; Pre-Processing</a:t>
            </a:r>
          </a:p>
          <a:p>
            <a:pPr algn="l">
              <a:spcAft>
                <a:spcPts val="1000"/>
              </a:spcAft>
            </a:pPr>
            <a:r>
              <a:rPr sz="2200" b="1">
                <a:solidFill>
                  <a:srgbClr val="007BFF"/>
                </a:solidFill>
              </a:rPr>
              <a:t>■  </a:t>
            </a:r>
            <a:r>
              <a:rPr sz="2200">
                <a:solidFill>
                  <a:srgbClr val="1A1A1A"/>
                </a:solidFill>
              </a:rPr>
              <a:t>Modelling Approach — Five Methodology Innovations</a:t>
            </a:r>
          </a:p>
          <a:p>
            <a:pPr algn="l">
              <a:spcAft>
                <a:spcPts val="1000"/>
              </a:spcAft>
            </a:pPr>
            <a:r>
              <a:rPr sz="2200" b="1">
                <a:solidFill>
                  <a:srgbClr val="007BFF"/>
                </a:solidFill>
              </a:rPr>
              <a:t>■  </a:t>
            </a:r>
            <a:r>
              <a:rPr sz="2200">
                <a:solidFill>
                  <a:srgbClr val="1A1A1A"/>
                </a:solidFill>
              </a:rPr>
              <a:t>Results — Headline Metrics &amp; Per-Engine Breakdown</a:t>
            </a:r>
          </a:p>
          <a:p>
            <a:pPr algn="l">
              <a:spcAft>
                <a:spcPts val="1000"/>
              </a:spcAft>
            </a:pPr>
            <a:r>
              <a:rPr sz="2200" b="1">
                <a:solidFill>
                  <a:srgbClr val="007BFF"/>
                </a:solidFill>
              </a:rPr>
              <a:t>■  </a:t>
            </a:r>
            <a:r>
              <a:rPr sz="2200">
                <a:solidFill>
                  <a:srgbClr val="1A1A1A"/>
                </a:solidFill>
              </a:rPr>
              <a:t>System Architecture &amp; MLOps</a:t>
            </a:r>
          </a:p>
          <a:p>
            <a:pPr algn="l">
              <a:spcAft>
                <a:spcPts val="1000"/>
              </a:spcAft>
            </a:pPr>
            <a:r>
              <a:rPr sz="2200" b="1">
                <a:solidFill>
                  <a:srgbClr val="007BFF"/>
                </a:solidFill>
              </a:rPr>
              <a:t>■  </a:t>
            </a:r>
            <a:r>
              <a:rPr sz="2200">
                <a:solidFill>
                  <a:srgbClr val="1A1A1A"/>
                </a:solidFill>
              </a:rPr>
              <a:t>Live Demo of the Prediction Tool</a:t>
            </a:r>
          </a:p>
          <a:p>
            <a:pPr algn="l">
              <a:spcAft>
                <a:spcPts val="1000"/>
              </a:spcAft>
            </a:pPr>
            <a:r>
              <a:rPr sz="2200" b="1">
                <a:solidFill>
                  <a:srgbClr val="007BFF"/>
                </a:solidFill>
              </a:rPr>
              <a:t>■  </a:t>
            </a:r>
            <a:r>
              <a:rPr sz="2200">
                <a:solidFill>
                  <a:srgbClr val="1A1A1A"/>
                </a:solidFill>
              </a:rPr>
              <a:t>Validation &amp; Test Coverage</a:t>
            </a:r>
          </a:p>
          <a:p>
            <a:pPr algn="l">
              <a:spcAft>
                <a:spcPts val="1000"/>
              </a:spcAft>
            </a:pPr>
            <a:r>
              <a:rPr sz="2200" b="1">
                <a:solidFill>
                  <a:srgbClr val="007BFF"/>
                </a:solidFill>
              </a:rPr>
              <a:t>■  </a:t>
            </a:r>
            <a:r>
              <a:rPr sz="2200">
                <a:solidFill>
                  <a:srgbClr val="1A1A1A"/>
                </a:solidFill>
              </a:rPr>
              <a:t>Limitations, Lessons Learned &amp; Future Work</a:t>
            </a:r>
          </a:p>
        </p:txBody>
      </p:sp>
      <p:sp>
        <p:nvSpPr>
          <p:cNvPr id="5" name="TextBox 4"/>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6" name="TextBox 5"/>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The Problem</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Why predictive maintenance for the LEAP-1A fleet?</a:t>
            </a:r>
          </a:p>
        </p:txBody>
      </p:sp>
      <p:sp>
        <p:nvSpPr>
          <p:cNvPr id="5" name="TextBox 4"/>
          <p:cNvSpPr txBox="1"/>
          <p:nvPr/>
        </p:nvSpPr>
        <p:spPr>
          <a:xfrm>
            <a:off x="640080" y="1188720"/>
            <a:ext cx="5303520" cy="457200"/>
          </a:xfrm>
          <a:prstGeom prst="rect">
            <a:avLst/>
          </a:prstGeom>
          <a:noFill/>
        </p:spPr>
        <p:txBody>
          <a:bodyPr wrap="square" anchor="t" lIns="45720" rIns="45720" tIns="18288" bIns="18288">
            <a:spAutoFit/>
          </a:bodyPr>
          <a:lstStyle/>
          <a:p>
            <a:pPr algn="l"/>
            <a:r>
              <a:rPr sz="1800" b="1" i="0">
                <a:solidFill>
                  <a:srgbClr val="0B2A4A"/>
                </a:solidFill>
                <a:latin typeface="Calibri"/>
              </a:rPr>
              <a:t>Today: calendar-based maintenance</a:t>
            </a:r>
          </a:p>
        </p:txBody>
      </p:sp>
      <p:sp>
        <p:nvSpPr>
          <p:cNvPr id="6" name="TextBox 5"/>
          <p:cNvSpPr txBox="1"/>
          <p:nvPr/>
        </p:nvSpPr>
        <p:spPr>
          <a:xfrm>
            <a:off x="822960" y="1737360"/>
            <a:ext cx="5212080" cy="3657600"/>
          </a:xfrm>
          <a:prstGeom prst="rect">
            <a:avLst/>
          </a:prstGeom>
          <a:noFill/>
        </p:spPr>
        <p:txBody>
          <a:bodyPr wrap="square">
            <a:spAutoFit/>
          </a:bodyPr>
          <a:lstStyle/>
          <a:p>
            <a:pPr algn="l">
              <a:spcAft>
                <a:spcPts val="400"/>
              </a:spcAft>
            </a:pPr>
            <a:r>
              <a:rPr sz="1400" b="1">
                <a:solidFill>
                  <a:srgbClr val="007BFF"/>
                </a:solidFill>
              </a:rPr>
              <a:t>■  </a:t>
            </a:r>
            <a:r>
              <a:rPr sz="1400">
                <a:solidFill>
                  <a:srgbClr val="1A1A1A"/>
                </a:solidFill>
              </a:rPr>
              <a:t>Engines pulled at fixed cycle thresholds, regardless of actual condition</a:t>
            </a:r>
          </a:p>
          <a:p>
            <a:pPr algn="l">
              <a:spcAft>
                <a:spcPts val="400"/>
              </a:spcAft>
            </a:pPr>
            <a:r>
              <a:rPr sz="1400" b="1">
                <a:solidFill>
                  <a:srgbClr val="007BFF"/>
                </a:solidFill>
              </a:rPr>
              <a:t>■  </a:t>
            </a:r>
            <a:r>
              <a:rPr sz="1400">
                <a:solidFill>
                  <a:srgbClr val="1A1A1A"/>
                </a:solidFill>
              </a:rPr>
              <a:t>Healthy engines removed too early — wasted asset life</a:t>
            </a:r>
          </a:p>
          <a:p>
            <a:pPr algn="l">
              <a:spcAft>
                <a:spcPts val="400"/>
              </a:spcAft>
            </a:pPr>
            <a:r>
              <a:rPr sz="1400" b="1">
                <a:solidFill>
                  <a:srgbClr val="007BFF"/>
                </a:solidFill>
              </a:rPr>
              <a:t>■  </a:t>
            </a:r>
            <a:r>
              <a:rPr sz="1400">
                <a:solidFill>
                  <a:srgbClr val="1A1A1A"/>
                </a:solidFill>
              </a:rPr>
              <a:t>Unhealthy engines wait too long — unscheduled removals + AOG cost</a:t>
            </a:r>
          </a:p>
          <a:p>
            <a:pPr algn="l">
              <a:spcAft>
                <a:spcPts val="400"/>
              </a:spcAft>
            </a:pPr>
            <a:r>
              <a:rPr sz="1400" b="1">
                <a:solidFill>
                  <a:srgbClr val="007BFF"/>
                </a:solidFill>
              </a:rPr>
              <a:t>■  </a:t>
            </a:r>
            <a:r>
              <a:rPr sz="1400">
                <a:solidFill>
                  <a:srgbClr val="1A1A1A"/>
                </a:solidFill>
              </a:rPr>
              <a:t>Operators can't differentiate engines that need attention from ones that don't</a:t>
            </a:r>
          </a:p>
        </p:txBody>
      </p:sp>
      <p:sp>
        <p:nvSpPr>
          <p:cNvPr id="7" name="TextBox 6"/>
          <p:cNvSpPr txBox="1"/>
          <p:nvPr/>
        </p:nvSpPr>
        <p:spPr>
          <a:xfrm>
            <a:off x="6400800" y="1188720"/>
            <a:ext cx="5212080" cy="457200"/>
          </a:xfrm>
          <a:prstGeom prst="rect">
            <a:avLst/>
          </a:prstGeom>
          <a:noFill/>
        </p:spPr>
        <p:txBody>
          <a:bodyPr wrap="square" anchor="t" lIns="45720" rIns="45720" tIns="18288" bIns="18288">
            <a:spAutoFit/>
          </a:bodyPr>
          <a:lstStyle/>
          <a:p>
            <a:pPr algn="l"/>
            <a:r>
              <a:rPr sz="1800" b="1" i="0">
                <a:solidFill>
                  <a:srgbClr val="28A745"/>
                </a:solidFill>
                <a:latin typeface="Calibri"/>
              </a:rPr>
              <a:t>Tomorrow: condition-based maintenance</a:t>
            </a:r>
          </a:p>
        </p:txBody>
      </p:sp>
      <p:sp>
        <p:nvSpPr>
          <p:cNvPr id="8" name="TextBox 7"/>
          <p:cNvSpPr txBox="1"/>
          <p:nvPr/>
        </p:nvSpPr>
        <p:spPr>
          <a:xfrm>
            <a:off x="6583680" y="1737360"/>
            <a:ext cx="5029200" cy="3657600"/>
          </a:xfrm>
          <a:prstGeom prst="rect">
            <a:avLst/>
          </a:prstGeom>
          <a:noFill/>
        </p:spPr>
        <p:txBody>
          <a:bodyPr wrap="square">
            <a:spAutoFit/>
          </a:bodyPr>
          <a:lstStyle/>
          <a:p>
            <a:pPr algn="l">
              <a:spcAft>
                <a:spcPts val="400"/>
              </a:spcAft>
            </a:pPr>
            <a:r>
              <a:rPr sz="1400" b="1">
                <a:solidFill>
                  <a:srgbClr val="28A745"/>
                </a:solidFill>
              </a:rPr>
              <a:t>■  </a:t>
            </a:r>
            <a:r>
              <a:rPr sz="1400">
                <a:solidFill>
                  <a:srgbClr val="1A1A1A"/>
                </a:solidFill>
              </a:rPr>
              <a:t>Sensor-driven RCL prediction: each engine gets its own forecast</a:t>
            </a:r>
          </a:p>
          <a:p>
            <a:pPr algn="l">
              <a:spcAft>
                <a:spcPts val="400"/>
              </a:spcAft>
            </a:pPr>
            <a:r>
              <a:rPr sz="1400" b="1">
                <a:solidFill>
                  <a:srgbClr val="28A745"/>
                </a:solidFill>
              </a:rPr>
              <a:t>■  </a:t>
            </a:r>
            <a:r>
              <a:rPr sz="1400">
                <a:solidFill>
                  <a:srgbClr val="1A1A1A"/>
                </a:solidFill>
              </a:rPr>
              <a:t>Schedule shop visits at the optimal point, per engine</a:t>
            </a:r>
          </a:p>
          <a:p>
            <a:pPr algn="l">
              <a:spcAft>
                <a:spcPts val="400"/>
              </a:spcAft>
            </a:pPr>
            <a:r>
              <a:rPr sz="1400" b="1">
                <a:solidFill>
                  <a:srgbClr val="28A745"/>
                </a:solidFill>
              </a:rPr>
              <a:t>■  </a:t>
            </a:r>
            <a:r>
              <a:rPr sz="1400">
                <a:solidFill>
                  <a:srgbClr val="1A1A1A"/>
                </a:solidFill>
              </a:rPr>
              <a:t>Catch outliers before they cause AOG events</a:t>
            </a:r>
          </a:p>
          <a:p>
            <a:pPr algn="l">
              <a:spcAft>
                <a:spcPts val="400"/>
              </a:spcAft>
            </a:pPr>
            <a:r>
              <a:rPr sz="1400" b="1">
                <a:solidFill>
                  <a:srgbClr val="28A745"/>
                </a:solidFill>
              </a:rPr>
              <a:t>■  </a:t>
            </a:r>
            <a:r>
              <a:rPr sz="1400">
                <a:solidFill>
                  <a:srgbClr val="1A1A1A"/>
                </a:solidFill>
              </a:rPr>
              <a:t>Quantified uncertainty drives risk-adjusted planning</a:t>
            </a:r>
          </a:p>
        </p:txBody>
      </p:sp>
      <p:sp>
        <p:nvSpPr>
          <p:cNvPr id="9" name="Rectangle 8"/>
          <p:cNvSpPr/>
          <p:nvPr/>
        </p:nvSpPr>
        <p:spPr>
          <a:xfrm>
            <a:off x="640080" y="5394960"/>
            <a:ext cx="10972800" cy="914400"/>
          </a:xfrm>
          <a:prstGeom prst="rect">
            <a:avLst/>
          </a:prstGeom>
          <a:solidFill>
            <a:srgbClr val="F6F8FB"/>
          </a:solidFill>
          <a:ln w="9525">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440680"/>
            <a:ext cx="10607040" cy="822960"/>
          </a:xfrm>
          <a:prstGeom prst="rect">
            <a:avLst/>
          </a:prstGeom>
          <a:noFill/>
        </p:spPr>
        <p:txBody>
          <a:bodyPr wrap="square" anchor="ctr" lIns="45720" rIns="45720" tIns="18288" bIns="18288">
            <a:spAutoFit/>
          </a:bodyPr>
          <a:lstStyle/>
          <a:p>
            <a:pPr algn="l"/>
            <a:r>
              <a:rPr sz="1400" b="0" i="0">
                <a:solidFill>
                  <a:srgbClr val="0B2A4A"/>
                </a:solidFill>
                <a:latin typeface="Calibri"/>
              </a:rPr>
              <a:t>Goal: build a sensor-driven RCL forecast that matches each engine's empirical removal pattern, with a deployable FastAPI inference stack and an automated retrain pipeline.</a:t>
            </a:r>
          </a:p>
        </p:txBody>
      </p:sp>
      <p:sp>
        <p:nvSpPr>
          <p:cNvPr id="11" name="TextBox 10"/>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12" name="TextBox 11"/>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Dataset</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LEAP-1A masked operator dump, A320neo fleet</a:t>
            </a:r>
          </a:p>
        </p:txBody>
      </p:sp>
      <p:sp>
        <p:nvSpPr>
          <p:cNvPr id="5" name="Rectangle 4"/>
          <p:cNvSpPr/>
          <p:nvPr/>
        </p:nvSpPr>
        <p:spPr>
          <a:xfrm>
            <a:off x="640080" y="1188720"/>
            <a:ext cx="2468880" cy="128016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2468880" cy="704088"/>
          </a:xfrm>
          <a:prstGeom prst="rect">
            <a:avLst/>
          </a:prstGeom>
          <a:noFill/>
        </p:spPr>
        <p:txBody>
          <a:bodyPr wrap="square" anchor="ctr" lIns="45720" rIns="45720" tIns="18288" bIns="18288">
            <a:spAutoFit/>
          </a:bodyPr>
          <a:lstStyle/>
          <a:p>
            <a:pPr algn="ctr"/>
            <a:r>
              <a:rPr sz="4400" b="1" i="0">
                <a:solidFill>
                  <a:srgbClr val="007BFF"/>
                </a:solidFill>
                <a:latin typeface="Calibri"/>
              </a:rPr>
              <a:t>49</a:t>
            </a:r>
          </a:p>
        </p:txBody>
      </p:sp>
      <p:sp>
        <p:nvSpPr>
          <p:cNvPr id="7" name="TextBox 6"/>
          <p:cNvSpPr txBox="1"/>
          <p:nvPr/>
        </p:nvSpPr>
        <p:spPr>
          <a:xfrm>
            <a:off x="640080" y="1982419"/>
            <a:ext cx="246888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Engines</a:t>
            </a:r>
          </a:p>
        </p:txBody>
      </p:sp>
      <p:sp>
        <p:nvSpPr>
          <p:cNvPr id="8" name="Rectangle 7"/>
          <p:cNvSpPr/>
          <p:nvPr/>
        </p:nvSpPr>
        <p:spPr>
          <a:xfrm>
            <a:off x="3291840" y="1188720"/>
            <a:ext cx="2468880" cy="128016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325880"/>
            <a:ext cx="2468880" cy="704088"/>
          </a:xfrm>
          <a:prstGeom prst="rect">
            <a:avLst/>
          </a:prstGeom>
          <a:noFill/>
        </p:spPr>
        <p:txBody>
          <a:bodyPr wrap="square" anchor="ctr" lIns="45720" rIns="45720" tIns="18288" bIns="18288">
            <a:spAutoFit/>
          </a:bodyPr>
          <a:lstStyle/>
          <a:p>
            <a:pPr algn="ctr"/>
            <a:r>
              <a:rPr sz="4400" b="1" i="0">
                <a:solidFill>
                  <a:srgbClr val="007BFF"/>
                </a:solidFill>
                <a:latin typeface="Calibri"/>
              </a:rPr>
              <a:t>546K</a:t>
            </a:r>
          </a:p>
        </p:txBody>
      </p:sp>
      <p:sp>
        <p:nvSpPr>
          <p:cNvPr id="10" name="TextBox 9"/>
          <p:cNvSpPr txBox="1"/>
          <p:nvPr/>
        </p:nvSpPr>
        <p:spPr>
          <a:xfrm>
            <a:off x="3291840" y="1982419"/>
            <a:ext cx="246888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Sensor records</a:t>
            </a:r>
          </a:p>
        </p:txBody>
      </p:sp>
      <p:sp>
        <p:nvSpPr>
          <p:cNvPr id="11" name="Rectangle 10"/>
          <p:cNvSpPr/>
          <p:nvPr/>
        </p:nvSpPr>
        <p:spPr>
          <a:xfrm>
            <a:off x="5943600" y="1188720"/>
            <a:ext cx="2468880" cy="128016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0" y="1325880"/>
            <a:ext cx="2468880" cy="704088"/>
          </a:xfrm>
          <a:prstGeom prst="rect">
            <a:avLst/>
          </a:prstGeom>
          <a:noFill/>
        </p:spPr>
        <p:txBody>
          <a:bodyPr wrap="square" anchor="ctr" lIns="45720" rIns="45720" tIns="18288" bIns="18288">
            <a:spAutoFit/>
          </a:bodyPr>
          <a:lstStyle/>
          <a:p>
            <a:pPr algn="ctr"/>
            <a:r>
              <a:rPr sz="4400" b="1" i="0">
                <a:solidFill>
                  <a:srgbClr val="007BFF"/>
                </a:solidFill>
                <a:latin typeface="Calibri"/>
              </a:rPr>
              <a:t>2</a:t>
            </a:r>
          </a:p>
        </p:txBody>
      </p:sp>
      <p:sp>
        <p:nvSpPr>
          <p:cNvPr id="13" name="TextBox 12"/>
          <p:cNvSpPr txBox="1"/>
          <p:nvPr/>
        </p:nvSpPr>
        <p:spPr>
          <a:xfrm>
            <a:off x="5943600" y="1982419"/>
            <a:ext cx="246888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Engine variants</a:t>
            </a:r>
          </a:p>
        </p:txBody>
      </p:sp>
      <p:sp>
        <p:nvSpPr>
          <p:cNvPr id="14" name="Rectangle 13"/>
          <p:cNvSpPr/>
          <p:nvPr/>
        </p:nvSpPr>
        <p:spPr>
          <a:xfrm>
            <a:off x="8595360" y="1188720"/>
            <a:ext cx="2926080" cy="128016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1325880"/>
            <a:ext cx="2926080" cy="704088"/>
          </a:xfrm>
          <a:prstGeom prst="rect">
            <a:avLst/>
          </a:prstGeom>
          <a:noFill/>
        </p:spPr>
        <p:txBody>
          <a:bodyPr wrap="square" anchor="ctr" lIns="45720" rIns="45720" tIns="18288" bIns="18288">
            <a:spAutoFit/>
          </a:bodyPr>
          <a:lstStyle/>
          <a:p>
            <a:pPr algn="ctr"/>
            <a:r>
              <a:rPr sz="4400" b="1" i="0">
                <a:solidFill>
                  <a:srgbClr val="007BFF"/>
                </a:solidFill>
                <a:latin typeface="Calibri"/>
              </a:rPr>
              <a:t>2020-2026</a:t>
            </a:r>
          </a:p>
        </p:txBody>
      </p:sp>
      <p:sp>
        <p:nvSpPr>
          <p:cNvPr id="16" name="TextBox 15"/>
          <p:cNvSpPr txBox="1"/>
          <p:nvPr/>
        </p:nvSpPr>
        <p:spPr>
          <a:xfrm>
            <a:off x="8595360" y="1982419"/>
            <a:ext cx="292608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Date range</a:t>
            </a:r>
          </a:p>
        </p:txBody>
      </p:sp>
      <p:sp>
        <p:nvSpPr>
          <p:cNvPr id="17" name="TextBox 16"/>
          <p:cNvSpPr txBox="1"/>
          <p:nvPr/>
        </p:nvSpPr>
        <p:spPr>
          <a:xfrm>
            <a:off x="640080" y="2743200"/>
            <a:ext cx="10972800" cy="365760"/>
          </a:xfrm>
          <a:prstGeom prst="rect">
            <a:avLst/>
          </a:prstGeom>
          <a:noFill/>
        </p:spPr>
        <p:txBody>
          <a:bodyPr wrap="square" anchor="t" lIns="45720" rIns="45720" tIns="18288" bIns="18288">
            <a:spAutoFit/>
          </a:bodyPr>
          <a:lstStyle/>
          <a:p>
            <a:pPr algn="l"/>
            <a:r>
              <a:rPr sz="1600" b="1" i="0">
                <a:solidFill>
                  <a:srgbClr val="0B2A4A"/>
                </a:solidFill>
                <a:latin typeface="Calibri"/>
              </a:rPr>
              <a:t>Sensor channels (per flight)</a:t>
            </a:r>
          </a:p>
        </p:txBody>
      </p:sp>
      <p:sp>
        <p:nvSpPr>
          <p:cNvPr id="18" name="TextBox 17"/>
          <p:cNvSpPr txBox="1"/>
          <p:nvPr/>
        </p:nvSpPr>
        <p:spPr>
          <a:xfrm>
            <a:off x="822960" y="3200400"/>
            <a:ext cx="5303520" cy="1828800"/>
          </a:xfrm>
          <a:prstGeom prst="rect">
            <a:avLst/>
          </a:prstGeom>
          <a:noFill/>
        </p:spPr>
        <p:txBody>
          <a:bodyPr wrap="square">
            <a:spAutoFit/>
          </a:bodyPr>
          <a:lstStyle/>
          <a:p>
            <a:pPr algn="l">
              <a:spcAft>
                <a:spcPts val="400"/>
              </a:spcAft>
            </a:pPr>
            <a:r>
              <a:rPr sz="1300" b="1">
                <a:solidFill>
                  <a:srgbClr val="007BFF"/>
                </a:solidFill>
              </a:rPr>
              <a:t>■  </a:t>
            </a:r>
            <a:r>
              <a:rPr sz="1300">
                <a:solidFill>
                  <a:srgbClr val="1A1A1A"/>
                </a:solidFill>
              </a:rPr>
              <a:t>EGT probe average (exhaust temp)</a:t>
            </a:r>
          </a:p>
          <a:p>
            <a:pPr algn="l">
              <a:spcAft>
                <a:spcPts val="400"/>
              </a:spcAft>
            </a:pPr>
            <a:r>
              <a:rPr sz="1300" b="1">
                <a:solidFill>
                  <a:srgbClr val="007BFF"/>
                </a:solidFill>
              </a:rPr>
              <a:t>■  </a:t>
            </a:r>
            <a:r>
              <a:rPr sz="1300">
                <a:solidFill>
                  <a:srgbClr val="1A1A1A"/>
                </a:solidFill>
              </a:rPr>
              <a:t>Fuel flow</a:t>
            </a:r>
          </a:p>
          <a:p>
            <a:pPr algn="l">
              <a:spcAft>
                <a:spcPts val="400"/>
              </a:spcAft>
            </a:pPr>
            <a:r>
              <a:rPr sz="1300" b="1">
                <a:solidFill>
                  <a:srgbClr val="007BFF"/>
                </a:solidFill>
              </a:rPr>
              <a:t>■  </a:t>
            </a:r>
            <a:r>
              <a:rPr sz="1300">
                <a:solidFill>
                  <a:srgbClr val="1A1A1A"/>
                </a:solidFill>
              </a:rPr>
              <a:t>Core speed (N2)</a:t>
            </a:r>
          </a:p>
          <a:p>
            <a:pPr algn="l">
              <a:spcAft>
                <a:spcPts val="400"/>
              </a:spcAft>
            </a:pPr>
            <a:r>
              <a:rPr sz="1300" b="1">
                <a:solidFill>
                  <a:srgbClr val="007BFF"/>
                </a:solidFill>
              </a:rPr>
              <a:t>■  </a:t>
            </a:r>
            <a:r>
              <a:rPr sz="1300">
                <a:solidFill>
                  <a:srgbClr val="1A1A1A"/>
                </a:solidFill>
              </a:rPr>
              <a:t>Oil temperature &amp; pressure</a:t>
            </a:r>
          </a:p>
          <a:p>
            <a:pPr algn="l">
              <a:spcAft>
                <a:spcPts val="400"/>
              </a:spcAft>
            </a:pPr>
            <a:r>
              <a:rPr sz="1300" b="1">
                <a:solidFill>
                  <a:srgbClr val="007BFF"/>
                </a:solidFill>
              </a:rPr>
              <a:t>■  </a:t>
            </a:r>
            <a:r>
              <a:rPr sz="1300">
                <a:solidFill>
                  <a:srgbClr val="1A1A1A"/>
                </a:solidFill>
              </a:rPr>
              <a:t>PT2 fan inlet total pressure</a:t>
            </a:r>
          </a:p>
        </p:txBody>
      </p:sp>
      <p:sp>
        <p:nvSpPr>
          <p:cNvPr id="19" name="TextBox 18"/>
          <p:cNvSpPr txBox="1"/>
          <p:nvPr/>
        </p:nvSpPr>
        <p:spPr>
          <a:xfrm>
            <a:off x="6400800" y="2743200"/>
            <a:ext cx="10972800" cy="365760"/>
          </a:xfrm>
          <a:prstGeom prst="rect">
            <a:avLst/>
          </a:prstGeom>
          <a:noFill/>
        </p:spPr>
        <p:txBody>
          <a:bodyPr wrap="square" anchor="t" lIns="45720" rIns="45720" tIns="18288" bIns="18288">
            <a:spAutoFit/>
          </a:bodyPr>
          <a:lstStyle/>
          <a:p>
            <a:pPr algn="l"/>
            <a:r>
              <a:rPr sz="1600" b="1" i="0">
                <a:solidFill>
                  <a:srgbClr val="0B2A4A"/>
                </a:solidFill>
                <a:latin typeface="Calibri"/>
              </a:rPr>
              <a:t>Metadata</a:t>
            </a:r>
          </a:p>
        </p:txBody>
      </p:sp>
      <p:sp>
        <p:nvSpPr>
          <p:cNvPr id="20" name="TextBox 19"/>
          <p:cNvSpPr txBox="1"/>
          <p:nvPr/>
        </p:nvSpPr>
        <p:spPr>
          <a:xfrm>
            <a:off x="6583680" y="3200400"/>
            <a:ext cx="5029200" cy="1828800"/>
          </a:xfrm>
          <a:prstGeom prst="rect">
            <a:avLst/>
          </a:prstGeom>
          <a:noFill/>
        </p:spPr>
        <p:txBody>
          <a:bodyPr wrap="square">
            <a:spAutoFit/>
          </a:bodyPr>
          <a:lstStyle/>
          <a:p>
            <a:pPr algn="l">
              <a:spcAft>
                <a:spcPts val="400"/>
              </a:spcAft>
            </a:pPr>
            <a:r>
              <a:rPr sz="1300" b="1">
                <a:solidFill>
                  <a:srgbClr val="007BFF"/>
                </a:solidFill>
              </a:rPr>
              <a:t>■  </a:t>
            </a:r>
            <a:r>
              <a:rPr sz="1300">
                <a:solidFill>
                  <a:srgbClr val="1A1A1A"/>
                </a:solidFill>
              </a:rPr>
              <a:t>Engine serial (esn)</a:t>
            </a:r>
          </a:p>
          <a:p>
            <a:pPr algn="l">
              <a:spcAft>
                <a:spcPts val="400"/>
              </a:spcAft>
            </a:pPr>
            <a:r>
              <a:rPr sz="1300" b="1">
                <a:solidFill>
                  <a:srgbClr val="007BFF"/>
                </a:solidFill>
              </a:rPr>
              <a:t>■  </a:t>
            </a:r>
            <a:r>
              <a:rPr sz="1300">
                <a:solidFill>
                  <a:srgbClr val="1A1A1A"/>
                </a:solidFill>
              </a:rPr>
              <a:t>Engine type: LEAP-1A26 vs LEAP-1A26E1</a:t>
            </a:r>
          </a:p>
          <a:p>
            <a:pPr algn="l">
              <a:spcAft>
                <a:spcPts val="400"/>
              </a:spcAft>
            </a:pPr>
            <a:r>
              <a:rPr sz="1300" b="1">
                <a:solidFill>
                  <a:srgbClr val="007BFF"/>
                </a:solidFill>
              </a:rPr>
              <a:t>■  </a:t>
            </a:r>
            <a:r>
              <a:rPr sz="1300">
                <a:solidFill>
                  <a:srgbClr val="1A1A1A"/>
                </a:solidFill>
              </a:rPr>
              <a:t>Flight datetime, install date</a:t>
            </a:r>
          </a:p>
          <a:p>
            <a:pPr algn="l">
              <a:spcAft>
                <a:spcPts val="400"/>
              </a:spcAft>
            </a:pPr>
            <a:r>
              <a:rPr sz="1300" b="1">
                <a:solidFill>
                  <a:srgbClr val="007BFF"/>
                </a:solidFill>
              </a:rPr>
              <a:t>■  </a:t>
            </a:r>
            <a:r>
              <a:rPr sz="1300">
                <a:solidFill>
                  <a:srgbClr val="1A1A1A"/>
                </a:solidFill>
              </a:rPr>
              <a:t>Flight phase: CRUISE / TAKEOFF</a:t>
            </a:r>
          </a:p>
          <a:p>
            <a:pPr algn="l">
              <a:spcAft>
                <a:spcPts val="400"/>
              </a:spcAft>
            </a:pPr>
            <a:r>
              <a:rPr sz="1300" b="1">
                <a:solidFill>
                  <a:srgbClr val="007BFF"/>
                </a:solidFill>
              </a:rPr>
              <a:t>■  </a:t>
            </a:r>
            <a:r>
              <a:rPr sz="1300">
                <a:solidFill>
                  <a:srgbClr val="1A1A1A"/>
                </a:solidFill>
              </a:rPr>
              <a:t>Aircraft type: A320neo</a:t>
            </a:r>
          </a:p>
        </p:txBody>
      </p:sp>
      <p:sp>
        <p:nvSpPr>
          <p:cNvPr id="21" name="Rectangle 20"/>
          <p:cNvSpPr/>
          <p:nvPr/>
        </p:nvSpPr>
        <p:spPr>
          <a:xfrm>
            <a:off x="640080" y="5303520"/>
            <a:ext cx="10972800" cy="1005840"/>
          </a:xfrm>
          <a:prstGeom prst="rect">
            <a:avLst/>
          </a:prstGeom>
          <a:solidFill>
            <a:srgbClr val="F6F8FB"/>
          </a:solidFill>
          <a:ln w="9525">
            <a:solidFill>
              <a:srgbClr val="F0A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49240"/>
            <a:ext cx="10607040" cy="914400"/>
          </a:xfrm>
          <a:prstGeom prst="rect">
            <a:avLst/>
          </a:prstGeom>
          <a:noFill/>
        </p:spPr>
        <p:txBody>
          <a:bodyPr wrap="square" anchor="ctr" lIns="45720" rIns="45720" tIns="18288" bIns="18288">
            <a:spAutoFit/>
          </a:bodyPr>
          <a:lstStyle/>
          <a:p>
            <a:pPr algn="l"/>
            <a:r>
              <a:rPr sz="1300" b="0" i="0">
                <a:solidFill>
                  <a:srgbClr val="0B2A4A"/>
                </a:solidFill>
                <a:latin typeface="Calibri"/>
              </a:rPr>
              <a:t>Censoring observation: 43 of 49 engines were still actively flying as of the data cutoff. Their max_cycle is 'observation horizon', not retirement life — a finding that became the central labelling decision (see slide 6).</a:t>
            </a:r>
          </a:p>
        </p:txBody>
      </p:sp>
      <p:sp>
        <p:nvSpPr>
          <p:cNvPr id="23" name="TextBox 22"/>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24" name="TextBox 23"/>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Pre-Processing Pipeline</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predictive_maintenance_cleaning.ipynb</a:t>
            </a:r>
          </a:p>
        </p:txBody>
      </p:sp>
      <p:sp>
        <p:nvSpPr>
          <p:cNvPr id="5" name="Rectangle 4"/>
          <p:cNvSpPr/>
          <p:nvPr/>
        </p:nvSpPr>
        <p:spPr>
          <a:xfrm>
            <a:off x="365760" y="1371600"/>
            <a:ext cx="1325880" cy="91440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71600"/>
            <a:ext cx="132588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Raw CSV
546K rows</a:t>
            </a:r>
          </a:p>
        </p:txBody>
      </p:sp>
      <p:sp>
        <p:nvSpPr>
          <p:cNvPr id="7" name="Right Arrow 6"/>
          <p:cNvSpPr/>
          <p:nvPr/>
        </p:nvSpPr>
        <p:spPr>
          <a:xfrm>
            <a:off x="1645920" y="1600200"/>
            <a:ext cx="320040" cy="45720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83080" y="1371600"/>
            <a:ext cx="1325880" cy="91440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83080" y="1371600"/>
            <a:ext cx="132588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Column rename
+ phase filter</a:t>
            </a:r>
          </a:p>
        </p:txBody>
      </p:sp>
      <p:sp>
        <p:nvSpPr>
          <p:cNvPr id="10" name="Right Arrow 9"/>
          <p:cNvSpPr/>
          <p:nvPr/>
        </p:nvSpPr>
        <p:spPr>
          <a:xfrm>
            <a:off x="3063240" y="1600200"/>
            <a:ext cx="320040" cy="45720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0" y="1371600"/>
            <a:ext cx="1325880" cy="91440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0" y="1371600"/>
            <a:ext cx="132588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Flight cycle
assignment</a:t>
            </a:r>
          </a:p>
        </p:txBody>
      </p:sp>
      <p:sp>
        <p:nvSpPr>
          <p:cNvPr id="13" name="Right Arrow 12"/>
          <p:cNvSpPr/>
          <p:nvPr/>
        </p:nvSpPr>
        <p:spPr>
          <a:xfrm>
            <a:off x="4480560" y="1600200"/>
            <a:ext cx="320040" cy="45720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17720" y="1371600"/>
            <a:ext cx="1554480" cy="91440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371600"/>
            <a:ext cx="155448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CENSORING
DETECTION
(&gt;=21d off-wing)</a:t>
            </a:r>
          </a:p>
        </p:txBody>
      </p:sp>
      <p:sp>
        <p:nvSpPr>
          <p:cNvPr id="16" name="Right Arrow 15"/>
          <p:cNvSpPr/>
          <p:nvPr/>
        </p:nvSpPr>
        <p:spPr>
          <a:xfrm>
            <a:off x="6126480" y="1600200"/>
            <a:ext cx="320040" cy="45720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371600"/>
            <a:ext cx="1554480" cy="91440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371600"/>
            <a:ext cx="155448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Empirical
priors
(4141 / 4380)</a:t>
            </a:r>
          </a:p>
        </p:txBody>
      </p:sp>
      <p:sp>
        <p:nvSpPr>
          <p:cNvPr id="19" name="Right Arrow 18"/>
          <p:cNvSpPr/>
          <p:nvPr/>
        </p:nvSpPr>
        <p:spPr>
          <a:xfrm>
            <a:off x="7772399" y="1600200"/>
            <a:ext cx="320040" cy="45720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09560" y="1371600"/>
            <a:ext cx="1554480" cy="914400"/>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1371600"/>
            <a:ext cx="155448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Per-engine
baseline norm
(*_norm)</a:t>
            </a:r>
          </a:p>
        </p:txBody>
      </p:sp>
      <p:sp>
        <p:nvSpPr>
          <p:cNvPr id="22" name="Right Arrow 21"/>
          <p:cNvSpPr/>
          <p:nvPr/>
        </p:nvSpPr>
        <p:spPr>
          <a:xfrm>
            <a:off x="9418319" y="1600200"/>
            <a:ext cx="320040" cy="45720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55480" y="1371600"/>
            <a:ext cx="1280160" cy="914400"/>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55480" y="1371600"/>
            <a:ext cx="128016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One-hot
eng_type</a:t>
            </a:r>
          </a:p>
        </p:txBody>
      </p:sp>
      <p:sp>
        <p:nvSpPr>
          <p:cNvPr id="25" name="Right Arrow 24"/>
          <p:cNvSpPr/>
          <p:nvPr/>
        </p:nvSpPr>
        <p:spPr>
          <a:xfrm>
            <a:off x="10789919" y="1600200"/>
            <a:ext cx="320040" cy="45720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972800" y="1371600"/>
            <a:ext cx="1188720" cy="91440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1371600"/>
            <a:ext cx="1188720" cy="914400"/>
          </a:xfrm>
          <a:prstGeom prst="rect">
            <a:avLst/>
          </a:prstGeom>
          <a:noFill/>
        </p:spPr>
        <p:txBody>
          <a:bodyPr wrap="square" anchor="ctr" lIns="45720" rIns="45720" tIns="18288" bIns="18288">
            <a:spAutoFit/>
          </a:bodyPr>
          <a:lstStyle/>
          <a:p>
            <a:pPr algn="ctr"/>
            <a:r>
              <a:rPr sz="1100" b="1" i="0">
                <a:solidFill>
                  <a:srgbClr val="FFFFFF"/>
                </a:solidFill>
                <a:latin typeface="Calibri"/>
              </a:rPr>
              <a:t>Cleaned CSV
36 cols</a:t>
            </a:r>
          </a:p>
        </p:txBody>
      </p:sp>
      <p:sp>
        <p:nvSpPr>
          <p:cNvPr id="28" name="TextBox 27"/>
          <p:cNvSpPr txBox="1"/>
          <p:nvPr/>
        </p:nvSpPr>
        <p:spPr>
          <a:xfrm>
            <a:off x="457200" y="2743200"/>
            <a:ext cx="5669280" cy="365760"/>
          </a:xfrm>
          <a:prstGeom prst="rect">
            <a:avLst/>
          </a:prstGeom>
          <a:noFill/>
        </p:spPr>
        <p:txBody>
          <a:bodyPr wrap="square" anchor="t" lIns="45720" rIns="45720" tIns="18288" bIns="18288">
            <a:spAutoFit/>
          </a:bodyPr>
          <a:lstStyle/>
          <a:p>
            <a:pPr algn="l"/>
            <a:r>
              <a:rPr sz="1500" b="1" i="0">
                <a:solidFill>
                  <a:srgbClr val="0B2A4A"/>
                </a:solidFill>
                <a:latin typeface="Calibri"/>
              </a:rPr>
              <a:t>Why the censoring step matters</a:t>
            </a:r>
          </a:p>
        </p:txBody>
      </p:sp>
      <p:sp>
        <p:nvSpPr>
          <p:cNvPr id="29" name="TextBox 28"/>
          <p:cNvSpPr txBox="1"/>
          <p:nvPr/>
        </p:nvSpPr>
        <p:spPr>
          <a:xfrm>
            <a:off x="640080" y="3108960"/>
            <a:ext cx="5486400" cy="2743200"/>
          </a:xfrm>
          <a:prstGeom prst="rect">
            <a:avLst/>
          </a:prstGeom>
          <a:noFill/>
        </p:spPr>
        <p:txBody>
          <a:bodyPr wrap="square">
            <a:spAutoFit/>
          </a:bodyPr>
          <a:lstStyle/>
          <a:p>
            <a:pPr algn="l">
              <a:spcAft>
                <a:spcPts val="400"/>
              </a:spcAft>
            </a:pPr>
            <a:r>
              <a:rPr sz="1200" b="1">
                <a:solidFill>
                  <a:srgbClr val="007BFF"/>
                </a:solidFill>
              </a:rPr>
              <a:t>■  </a:t>
            </a:r>
            <a:r>
              <a:rPr sz="1200">
                <a:solidFill>
                  <a:srgbClr val="1A1A1A"/>
                </a:solidFill>
              </a:rPr>
              <a:t>Naive label: RCL = max_cycle - flight_cycle, only valid for retired engines</a:t>
            </a:r>
          </a:p>
          <a:p>
            <a:pPr algn="l">
              <a:spcAft>
                <a:spcPts val="400"/>
              </a:spcAft>
            </a:pPr>
            <a:r>
              <a:rPr sz="1200" b="1">
                <a:solidFill>
                  <a:srgbClr val="007BFF"/>
                </a:solidFill>
              </a:rPr>
              <a:t>■  </a:t>
            </a:r>
            <a:r>
              <a:rPr sz="1200">
                <a:solidFill>
                  <a:srgbClr val="1A1A1A"/>
                </a:solidFill>
              </a:rPr>
              <a:t>43 of 49 engines still flying — max_cycle is censored, not retirement</a:t>
            </a:r>
          </a:p>
          <a:p>
            <a:pPr algn="l">
              <a:spcAft>
                <a:spcPts val="400"/>
              </a:spcAft>
            </a:pPr>
            <a:r>
              <a:rPr sz="1200" b="1">
                <a:solidFill>
                  <a:srgbClr val="007BFF"/>
                </a:solidFill>
              </a:rPr>
              <a:t>■  </a:t>
            </a:r>
            <a:r>
              <a:rPr sz="1200">
                <a:solidFill>
                  <a:srgbClr val="1A1A1A"/>
                </a:solidFill>
              </a:rPr>
              <a:t>Without fix: RCL labels wrong by 1,000-3,000 cycles for short-life engines</a:t>
            </a:r>
          </a:p>
          <a:p>
            <a:pPr algn="l">
              <a:spcAft>
                <a:spcPts val="400"/>
              </a:spcAft>
            </a:pPr>
            <a:r>
              <a:rPr sz="1200" b="1">
                <a:solidFill>
                  <a:srgbClr val="007BFF"/>
                </a:solidFill>
              </a:rPr>
              <a:t>■  </a:t>
            </a:r>
            <a:r>
              <a:rPr sz="1200">
                <a:solidFill>
                  <a:srgbClr val="1A1A1A"/>
                </a:solidFill>
              </a:rPr>
              <a:t>Earlier iteration: per-engine R squared = -1.5 to -6.9 on those engines</a:t>
            </a:r>
          </a:p>
        </p:txBody>
      </p:sp>
      <p:sp>
        <p:nvSpPr>
          <p:cNvPr id="30" name="TextBox 29"/>
          <p:cNvSpPr txBox="1"/>
          <p:nvPr/>
        </p:nvSpPr>
        <p:spPr>
          <a:xfrm>
            <a:off x="6400800" y="2743200"/>
            <a:ext cx="5486400" cy="365760"/>
          </a:xfrm>
          <a:prstGeom prst="rect">
            <a:avLst/>
          </a:prstGeom>
          <a:noFill/>
        </p:spPr>
        <p:txBody>
          <a:bodyPr wrap="square" anchor="t" lIns="45720" rIns="45720" tIns="18288" bIns="18288">
            <a:spAutoFit/>
          </a:bodyPr>
          <a:lstStyle/>
          <a:p>
            <a:pPr algn="l"/>
            <a:r>
              <a:rPr sz="1500" b="1" i="0">
                <a:solidFill>
                  <a:srgbClr val="0B2A4A"/>
                </a:solidFill>
                <a:latin typeface="Calibri"/>
              </a:rPr>
              <a:t>Why the *_norm features matter</a:t>
            </a:r>
          </a:p>
        </p:txBody>
      </p:sp>
      <p:sp>
        <p:nvSpPr>
          <p:cNvPr id="31" name="TextBox 30"/>
          <p:cNvSpPr txBox="1"/>
          <p:nvPr/>
        </p:nvSpPr>
        <p:spPr>
          <a:xfrm>
            <a:off x="6583680" y="3108960"/>
            <a:ext cx="5212080" cy="2743200"/>
          </a:xfrm>
          <a:prstGeom prst="rect">
            <a:avLst/>
          </a:prstGeom>
          <a:noFill/>
        </p:spPr>
        <p:txBody>
          <a:bodyPr wrap="square">
            <a:spAutoFit/>
          </a:bodyPr>
          <a:lstStyle/>
          <a:p>
            <a:pPr algn="l">
              <a:spcAft>
                <a:spcPts val="400"/>
              </a:spcAft>
            </a:pPr>
            <a:r>
              <a:rPr sz="1200" b="1">
                <a:solidFill>
                  <a:srgbClr val="28A745"/>
                </a:solidFill>
              </a:rPr>
              <a:t>■  </a:t>
            </a:r>
            <a:r>
              <a:rPr sz="1200">
                <a:solidFill>
                  <a:srgbClr val="1A1A1A"/>
                </a:solidFill>
              </a:rPr>
              <a:t>Each engine has a unique 'healthy' baseline reading</a:t>
            </a:r>
          </a:p>
          <a:p>
            <a:pPr algn="l">
              <a:spcAft>
                <a:spcPts val="400"/>
              </a:spcAft>
            </a:pPr>
            <a:r>
              <a:rPr sz="1200" b="1">
                <a:solidFill>
                  <a:srgbClr val="28A745"/>
                </a:solidFill>
              </a:rPr>
              <a:t>■  </a:t>
            </a:r>
            <a:r>
              <a:rPr sz="1200">
                <a:solidFill>
                  <a:srgbClr val="1A1A1A"/>
                </a:solidFill>
              </a:rPr>
              <a:t>Subtract the mean of the first 50 cycles per phase per engine</a:t>
            </a:r>
          </a:p>
          <a:p>
            <a:pPr algn="l">
              <a:spcAft>
                <a:spcPts val="400"/>
              </a:spcAft>
            </a:pPr>
            <a:r>
              <a:rPr sz="1200" b="1">
                <a:solidFill>
                  <a:srgbClr val="28A745"/>
                </a:solidFill>
              </a:rPr>
              <a:t>■  </a:t>
            </a:r>
            <a:r>
              <a:rPr sz="1200">
                <a:solidFill>
                  <a:srgbClr val="1A1A1A"/>
                </a:solidFill>
              </a:rPr>
              <a:t>Resulting drift signal is comparable across engines and types</a:t>
            </a:r>
          </a:p>
          <a:p>
            <a:pPr algn="l">
              <a:spcAft>
                <a:spcPts val="400"/>
              </a:spcAft>
            </a:pPr>
            <a:r>
              <a:rPr sz="1200" b="1">
                <a:solidFill>
                  <a:srgbClr val="28A745"/>
                </a:solidFill>
              </a:rPr>
              <a:t>■  </a:t>
            </a:r>
            <a:r>
              <a:rPr sz="1200">
                <a:solidFill>
                  <a:srgbClr val="1A1A1A"/>
                </a:solidFill>
              </a:rPr>
              <a:t>Both raw and *_norm features are kept; the model decides which to use</a:t>
            </a:r>
          </a:p>
        </p:txBody>
      </p:sp>
      <p:sp>
        <p:nvSpPr>
          <p:cNvPr id="32" name="TextBox 31"/>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33" name="TextBox 32"/>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Methodology — Five Innovations</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What makes this pipeline defensible</a:t>
            </a:r>
          </a:p>
        </p:txBody>
      </p:sp>
      <p:sp>
        <p:nvSpPr>
          <p:cNvPr id="5" name="Rectangle 4"/>
          <p:cNvSpPr/>
          <p:nvPr/>
        </p:nvSpPr>
        <p:spPr>
          <a:xfrm>
            <a:off x="457200" y="1188720"/>
            <a:ext cx="82296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822960" cy="822960"/>
          </a:xfrm>
          <a:prstGeom prst="rect">
            <a:avLst/>
          </a:prstGeom>
          <a:noFill/>
        </p:spPr>
        <p:txBody>
          <a:bodyPr wrap="square" anchor="ctr" lIns="45720" rIns="45720" tIns="18288" bIns="18288">
            <a:spAutoFit/>
          </a:bodyPr>
          <a:lstStyle/>
          <a:p>
            <a:pPr algn="ctr"/>
            <a:r>
              <a:rPr sz="2400" b="1" i="0">
                <a:solidFill>
                  <a:srgbClr val="F0AD4E"/>
                </a:solidFill>
                <a:latin typeface="Calibri"/>
              </a:rPr>
              <a:t>01</a:t>
            </a:r>
          </a:p>
        </p:txBody>
      </p:sp>
      <p:sp>
        <p:nvSpPr>
          <p:cNvPr id="7" name="Rectangle 6"/>
          <p:cNvSpPr/>
          <p:nvPr/>
        </p:nvSpPr>
        <p:spPr>
          <a:xfrm>
            <a:off x="1280160" y="1188720"/>
            <a:ext cx="10424160" cy="822960"/>
          </a:xfrm>
          <a:prstGeom prst="rect">
            <a:avLst/>
          </a:prstGeom>
          <a:solidFill>
            <a:srgbClr val="F6F8FB"/>
          </a:solidFill>
          <a:ln w="9525">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1252728"/>
            <a:ext cx="10058400" cy="365760"/>
          </a:xfrm>
          <a:prstGeom prst="rect">
            <a:avLst/>
          </a:prstGeom>
          <a:noFill/>
        </p:spPr>
        <p:txBody>
          <a:bodyPr wrap="square" anchor="t" lIns="45720" rIns="45720" tIns="18288" bIns="18288">
            <a:spAutoFit/>
          </a:bodyPr>
          <a:lstStyle/>
          <a:p>
            <a:pPr algn="l"/>
            <a:r>
              <a:rPr sz="1500" b="1" i="0">
                <a:solidFill>
                  <a:srgbClr val="0B2A4A"/>
                </a:solidFill>
                <a:latin typeface="Calibri"/>
              </a:rPr>
              <a:t>Combined-fleet training</a:t>
            </a:r>
          </a:p>
        </p:txBody>
      </p:sp>
      <p:sp>
        <p:nvSpPr>
          <p:cNvPr id="9" name="TextBox 8"/>
          <p:cNvSpPr txBox="1"/>
          <p:nvPr/>
        </p:nvSpPr>
        <p:spPr>
          <a:xfrm>
            <a:off x="1463040" y="1600200"/>
            <a:ext cx="10058400" cy="411480"/>
          </a:xfrm>
          <a:prstGeom prst="rect">
            <a:avLst/>
          </a:prstGeom>
          <a:noFill/>
        </p:spPr>
        <p:txBody>
          <a:bodyPr wrap="square" anchor="t" lIns="45720" rIns="45720" tIns="18288" bIns="18288">
            <a:spAutoFit/>
          </a:bodyPr>
          <a:lstStyle/>
          <a:p>
            <a:pPr algn="l"/>
            <a:r>
              <a:rPr sz="1150" b="0" i="0">
                <a:solidFill>
                  <a:srgbClr val="1A1A1A"/>
                </a:solidFill>
                <a:latin typeface="Calibri"/>
              </a:rPr>
              <a:t>11 of 12 KS tests overlap less than 5%. Combining LEAP-1A26 + E1 triples train pool from 15 to 49 engines.</a:t>
            </a:r>
          </a:p>
        </p:txBody>
      </p:sp>
      <p:sp>
        <p:nvSpPr>
          <p:cNvPr id="10" name="Rectangle 9"/>
          <p:cNvSpPr/>
          <p:nvPr/>
        </p:nvSpPr>
        <p:spPr>
          <a:xfrm>
            <a:off x="457200" y="2148840"/>
            <a:ext cx="82296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822960" cy="822960"/>
          </a:xfrm>
          <a:prstGeom prst="rect">
            <a:avLst/>
          </a:prstGeom>
          <a:noFill/>
        </p:spPr>
        <p:txBody>
          <a:bodyPr wrap="square" anchor="ctr" lIns="45720" rIns="45720" tIns="18288" bIns="18288">
            <a:spAutoFit/>
          </a:bodyPr>
          <a:lstStyle/>
          <a:p>
            <a:pPr algn="ctr"/>
            <a:r>
              <a:rPr sz="2400" b="1" i="0">
                <a:solidFill>
                  <a:srgbClr val="F0AD4E"/>
                </a:solidFill>
                <a:latin typeface="Calibri"/>
              </a:rPr>
              <a:t>02</a:t>
            </a:r>
          </a:p>
        </p:txBody>
      </p:sp>
      <p:sp>
        <p:nvSpPr>
          <p:cNvPr id="12" name="Rectangle 11"/>
          <p:cNvSpPr/>
          <p:nvPr/>
        </p:nvSpPr>
        <p:spPr>
          <a:xfrm>
            <a:off x="1280160" y="2148840"/>
            <a:ext cx="10424160" cy="822960"/>
          </a:xfrm>
          <a:prstGeom prst="rect">
            <a:avLst/>
          </a:prstGeom>
          <a:solidFill>
            <a:srgbClr val="F6F8FB"/>
          </a:solidFill>
          <a:ln w="9525">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2212848"/>
            <a:ext cx="10058400" cy="365760"/>
          </a:xfrm>
          <a:prstGeom prst="rect">
            <a:avLst/>
          </a:prstGeom>
          <a:noFill/>
        </p:spPr>
        <p:txBody>
          <a:bodyPr wrap="square" anchor="t" lIns="45720" rIns="45720" tIns="18288" bIns="18288">
            <a:spAutoFit/>
          </a:bodyPr>
          <a:lstStyle/>
          <a:p>
            <a:pPr algn="l"/>
            <a:r>
              <a:rPr sz="1500" b="1" i="0">
                <a:solidFill>
                  <a:srgbClr val="0B2A4A"/>
                </a:solidFill>
                <a:latin typeface="Calibri"/>
              </a:rPr>
              <a:t>Per-engine baseline normalisation</a:t>
            </a:r>
          </a:p>
        </p:txBody>
      </p:sp>
      <p:sp>
        <p:nvSpPr>
          <p:cNvPr id="14" name="TextBox 13"/>
          <p:cNvSpPr txBox="1"/>
          <p:nvPr/>
        </p:nvSpPr>
        <p:spPr>
          <a:xfrm>
            <a:off x="1463040" y="2560320"/>
            <a:ext cx="10058400" cy="411480"/>
          </a:xfrm>
          <a:prstGeom prst="rect">
            <a:avLst/>
          </a:prstGeom>
          <a:noFill/>
        </p:spPr>
        <p:txBody>
          <a:bodyPr wrap="square" anchor="t" lIns="45720" rIns="45720" tIns="18288" bIns="18288">
            <a:spAutoFit/>
          </a:bodyPr>
          <a:lstStyle/>
          <a:p>
            <a:pPr algn="l"/>
            <a:r>
              <a:rPr sz="1150" b="0" i="0">
                <a:solidFill>
                  <a:srgbClr val="1A1A1A"/>
                </a:solidFill>
                <a:latin typeface="Calibri"/>
              </a:rPr>
              <a:t>Subtract first-50-cycle mean per engine x phase. Turns absolute readings into engine-comparable drift.</a:t>
            </a:r>
          </a:p>
        </p:txBody>
      </p:sp>
      <p:sp>
        <p:nvSpPr>
          <p:cNvPr id="15" name="Rectangle 14"/>
          <p:cNvSpPr/>
          <p:nvPr/>
        </p:nvSpPr>
        <p:spPr>
          <a:xfrm>
            <a:off x="457200" y="3108960"/>
            <a:ext cx="82296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108960"/>
            <a:ext cx="822960" cy="822960"/>
          </a:xfrm>
          <a:prstGeom prst="rect">
            <a:avLst/>
          </a:prstGeom>
          <a:noFill/>
        </p:spPr>
        <p:txBody>
          <a:bodyPr wrap="square" anchor="ctr" lIns="45720" rIns="45720" tIns="18288" bIns="18288">
            <a:spAutoFit/>
          </a:bodyPr>
          <a:lstStyle/>
          <a:p>
            <a:pPr algn="ctr"/>
            <a:r>
              <a:rPr sz="2400" b="1" i="0">
                <a:solidFill>
                  <a:srgbClr val="F0AD4E"/>
                </a:solidFill>
                <a:latin typeface="Calibri"/>
              </a:rPr>
              <a:t>03</a:t>
            </a:r>
          </a:p>
        </p:txBody>
      </p:sp>
      <p:sp>
        <p:nvSpPr>
          <p:cNvPr id="17" name="Rectangle 16"/>
          <p:cNvSpPr/>
          <p:nvPr/>
        </p:nvSpPr>
        <p:spPr>
          <a:xfrm>
            <a:off x="1280160" y="3108960"/>
            <a:ext cx="10424160" cy="822960"/>
          </a:xfrm>
          <a:prstGeom prst="rect">
            <a:avLst/>
          </a:prstGeom>
          <a:solidFill>
            <a:srgbClr val="F6F8FB"/>
          </a:solidFill>
          <a:ln w="9525">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3172968"/>
            <a:ext cx="10058400" cy="365760"/>
          </a:xfrm>
          <a:prstGeom prst="rect">
            <a:avLst/>
          </a:prstGeom>
          <a:noFill/>
        </p:spPr>
        <p:txBody>
          <a:bodyPr wrap="square" anchor="t" lIns="45720" rIns="45720" tIns="18288" bIns="18288">
            <a:spAutoFit/>
          </a:bodyPr>
          <a:lstStyle/>
          <a:p>
            <a:pPr algn="l"/>
            <a:r>
              <a:rPr sz="1500" b="1" i="0">
                <a:solidFill>
                  <a:srgbClr val="0B2A4A"/>
                </a:solidFill>
                <a:latin typeface="Calibri"/>
              </a:rPr>
              <a:t>Censoring-aware RCL labels</a:t>
            </a:r>
          </a:p>
        </p:txBody>
      </p:sp>
      <p:sp>
        <p:nvSpPr>
          <p:cNvPr id="19" name="TextBox 18"/>
          <p:cNvSpPr txBox="1"/>
          <p:nvPr/>
        </p:nvSpPr>
        <p:spPr>
          <a:xfrm>
            <a:off x="1463040" y="3520440"/>
            <a:ext cx="10058400" cy="411480"/>
          </a:xfrm>
          <a:prstGeom prst="rect">
            <a:avLst/>
          </a:prstGeom>
          <a:noFill/>
        </p:spPr>
        <p:txBody>
          <a:bodyPr wrap="square" anchor="t" lIns="45720" rIns="45720" tIns="18288" bIns="18288">
            <a:spAutoFit/>
          </a:bodyPr>
          <a:lstStyle/>
          <a:p>
            <a:pPr algn="l"/>
            <a:r>
              <a:rPr sz="1150" b="0" i="0">
                <a:solidFill>
                  <a:srgbClr val="1A1A1A"/>
                </a:solidFill>
                <a:latin typeface="Calibri"/>
              </a:rPr>
              <a:t>Removed engines: observed max. Active engines: empirical fleet mean (4141 / 4380). Eliminates short-life failure mode.</a:t>
            </a:r>
          </a:p>
        </p:txBody>
      </p:sp>
      <p:sp>
        <p:nvSpPr>
          <p:cNvPr id="20" name="Rectangle 19"/>
          <p:cNvSpPr/>
          <p:nvPr/>
        </p:nvSpPr>
        <p:spPr>
          <a:xfrm>
            <a:off x="457200" y="4069080"/>
            <a:ext cx="82296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69080"/>
            <a:ext cx="822960" cy="822960"/>
          </a:xfrm>
          <a:prstGeom prst="rect">
            <a:avLst/>
          </a:prstGeom>
          <a:noFill/>
        </p:spPr>
        <p:txBody>
          <a:bodyPr wrap="square" anchor="ctr" lIns="45720" rIns="45720" tIns="18288" bIns="18288">
            <a:spAutoFit/>
          </a:bodyPr>
          <a:lstStyle/>
          <a:p>
            <a:pPr algn="ctr"/>
            <a:r>
              <a:rPr sz="2400" b="1" i="0">
                <a:solidFill>
                  <a:srgbClr val="F0AD4E"/>
                </a:solidFill>
                <a:latin typeface="Calibri"/>
              </a:rPr>
              <a:t>04</a:t>
            </a:r>
          </a:p>
        </p:txBody>
      </p:sp>
      <p:sp>
        <p:nvSpPr>
          <p:cNvPr id="22" name="Rectangle 21"/>
          <p:cNvSpPr/>
          <p:nvPr/>
        </p:nvSpPr>
        <p:spPr>
          <a:xfrm>
            <a:off x="1280160" y="4069080"/>
            <a:ext cx="10424160" cy="822960"/>
          </a:xfrm>
          <a:prstGeom prst="rect">
            <a:avLst/>
          </a:prstGeom>
          <a:solidFill>
            <a:srgbClr val="F6F8FB"/>
          </a:solidFill>
          <a:ln w="9525">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4133088"/>
            <a:ext cx="10058400" cy="365760"/>
          </a:xfrm>
          <a:prstGeom prst="rect">
            <a:avLst/>
          </a:prstGeom>
          <a:noFill/>
        </p:spPr>
        <p:txBody>
          <a:bodyPr wrap="square" anchor="t" lIns="45720" rIns="45720" tIns="18288" bIns="18288">
            <a:spAutoFit/>
          </a:bodyPr>
          <a:lstStyle/>
          <a:p>
            <a:pPr algn="l"/>
            <a:r>
              <a:rPr sz="1500" b="1" i="0">
                <a:solidFill>
                  <a:srgbClr val="0B2A4A"/>
                </a:solidFill>
                <a:latin typeface="Calibri"/>
              </a:rPr>
              <a:t>Residual-RCL target</a:t>
            </a:r>
          </a:p>
        </p:txBody>
      </p:sp>
      <p:sp>
        <p:nvSpPr>
          <p:cNvPr id="24" name="TextBox 23"/>
          <p:cNvSpPr txBox="1"/>
          <p:nvPr/>
        </p:nvSpPr>
        <p:spPr>
          <a:xfrm>
            <a:off x="1463040" y="4480560"/>
            <a:ext cx="10058400" cy="411480"/>
          </a:xfrm>
          <a:prstGeom prst="rect">
            <a:avLst/>
          </a:prstGeom>
          <a:noFill/>
        </p:spPr>
        <p:txBody>
          <a:bodyPr wrap="square" anchor="t" lIns="45720" rIns="45720" tIns="18288" bIns="18288">
            <a:spAutoFit/>
          </a:bodyPr>
          <a:lstStyle/>
          <a:p>
            <a:pPr algn="l"/>
            <a:r>
              <a:rPr sz="1150" b="0" i="0">
                <a:solidFill>
                  <a:srgbClr val="1A1A1A"/>
                </a:solidFill>
                <a:latin typeface="Calibri"/>
              </a:rPr>
              <a:t>Predict residual on top of (FLEET_MAX_LIFE - flight_cycle) baseline. Forces sensor-driven learning, not arithmetic shortcut.</a:t>
            </a:r>
          </a:p>
        </p:txBody>
      </p:sp>
      <p:sp>
        <p:nvSpPr>
          <p:cNvPr id="25" name="Rectangle 24"/>
          <p:cNvSpPr/>
          <p:nvPr/>
        </p:nvSpPr>
        <p:spPr>
          <a:xfrm>
            <a:off x="457200" y="5029200"/>
            <a:ext cx="82296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029200"/>
            <a:ext cx="822960" cy="822960"/>
          </a:xfrm>
          <a:prstGeom prst="rect">
            <a:avLst/>
          </a:prstGeom>
          <a:noFill/>
        </p:spPr>
        <p:txBody>
          <a:bodyPr wrap="square" anchor="ctr" lIns="45720" rIns="45720" tIns="18288" bIns="18288">
            <a:spAutoFit/>
          </a:bodyPr>
          <a:lstStyle/>
          <a:p>
            <a:pPr algn="ctr"/>
            <a:r>
              <a:rPr sz="2400" b="1" i="0">
                <a:solidFill>
                  <a:srgbClr val="F0AD4E"/>
                </a:solidFill>
                <a:latin typeface="Calibri"/>
              </a:rPr>
              <a:t>05</a:t>
            </a:r>
          </a:p>
        </p:txBody>
      </p:sp>
      <p:sp>
        <p:nvSpPr>
          <p:cNvPr id="27" name="Rectangle 26"/>
          <p:cNvSpPr/>
          <p:nvPr/>
        </p:nvSpPr>
        <p:spPr>
          <a:xfrm>
            <a:off x="1280160" y="5029200"/>
            <a:ext cx="10424160" cy="822960"/>
          </a:xfrm>
          <a:prstGeom prst="rect">
            <a:avLst/>
          </a:prstGeom>
          <a:solidFill>
            <a:srgbClr val="F6F8FB"/>
          </a:solidFill>
          <a:ln w="9525">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63040" y="5093208"/>
            <a:ext cx="10058400" cy="365760"/>
          </a:xfrm>
          <a:prstGeom prst="rect">
            <a:avLst/>
          </a:prstGeom>
          <a:noFill/>
        </p:spPr>
        <p:txBody>
          <a:bodyPr wrap="square" anchor="t" lIns="45720" rIns="45720" tIns="18288" bIns="18288">
            <a:spAutoFit/>
          </a:bodyPr>
          <a:lstStyle/>
          <a:p>
            <a:pPr algn="l"/>
            <a:r>
              <a:rPr sz="1500" b="1" i="0">
                <a:solidFill>
                  <a:srgbClr val="0B2A4A"/>
                </a:solidFill>
                <a:latin typeface="Calibri"/>
              </a:rPr>
              <a:t>Group-aware stratified splits</a:t>
            </a:r>
          </a:p>
        </p:txBody>
      </p:sp>
      <p:sp>
        <p:nvSpPr>
          <p:cNvPr id="29" name="TextBox 28"/>
          <p:cNvSpPr txBox="1"/>
          <p:nvPr/>
        </p:nvSpPr>
        <p:spPr>
          <a:xfrm>
            <a:off x="1463040" y="5440680"/>
            <a:ext cx="10058400" cy="411480"/>
          </a:xfrm>
          <a:prstGeom prst="rect">
            <a:avLst/>
          </a:prstGeom>
          <a:noFill/>
        </p:spPr>
        <p:txBody>
          <a:bodyPr wrap="square" anchor="t" lIns="45720" rIns="45720" tIns="18288" bIns="18288">
            <a:spAutoFit/>
          </a:bodyPr>
          <a:lstStyle/>
          <a:p>
            <a:pPr algn="l"/>
            <a:r>
              <a:rPr sz="1150" b="0" i="0">
                <a:solidFill>
                  <a:srgbClr val="1A1A1A"/>
                </a:solidFill>
                <a:latin typeface="Calibri"/>
              </a:rPr>
              <a:t>5/5/38 split: each split spans short / medium / long life and both engine types.</a:t>
            </a:r>
          </a:p>
        </p:txBody>
      </p:sp>
      <p:sp>
        <p:nvSpPr>
          <p:cNvPr id="30" name="TextBox 29"/>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31" name="TextBox 30"/>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Model Architecture</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Three sequence models, one input stream, ensemble inference</a:t>
            </a:r>
          </a:p>
        </p:txBody>
      </p:sp>
      <p:sp>
        <p:nvSpPr>
          <p:cNvPr id="5" name="Rectangle 4"/>
          <p:cNvSpPr/>
          <p:nvPr/>
        </p:nvSpPr>
        <p:spPr>
          <a:xfrm>
            <a:off x="457200" y="1188720"/>
            <a:ext cx="3657600" cy="5120640"/>
          </a:xfrm>
          <a:prstGeom prst="rect">
            <a:avLst/>
          </a:prstGeom>
          <a:solidFill>
            <a:srgbClr val="F6F8FB"/>
          </a:solidFill>
          <a:ln w="9525">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3291840" cy="457200"/>
          </a:xfrm>
          <a:prstGeom prst="rect">
            <a:avLst/>
          </a:prstGeom>
          <a:noFill/>
        </p:spPr>
        <p:txBody>
          <a:bodyPr wrap="square" anchor="t" lIns="45720" rIns="45720" tIns="18288" bIns="18288">
            <a:spAutoFit/>
          </a:bodyPr>
          <a:lstStyle/>
          <a:p>
            <a:pPr algn="l"/>
            <a:r>
              <a:rPr sz="1600" b="1" i="0">
                <a:solidFill>
                  <a:srgbClr val="0B2A4A"/>
                </a:solidFill>
                <a:latin typeface="Calibri"/>
              </a:rPr>
              <a:t>Input tensor</a:t>
            </a:r>
          </a:p>
        </p:txBody>
      </p:sp>
      <p:sp>
        <p:nvSpPr>
          <p:cNvPr id="7" name="TextBox 6"/>
          <p:cNvSpPr txBox="1"/>
          <p:nvPr/>
        </p:nvSpPr>
        <p:spPr>
          <a:xfrm>
            <a:off x="640080" y="1737360"/>
            <a:ext cx="3291840" cy="548640"/>
          </a:xfrm>
          <a:prstGeom prst="rect">
            <a:avLst/>
          </a:prstGeom>
          <a:noFill/>
        </p:spPr>
        <p:txBody>
          <a:bodyPr wrap="square" anchor="t" lIns="45720" rIns="45720" tIns="18288" bIns="18288">
            <a:spAutoFit/>
          </a:bodyPr>
          <a:lstStyle/>
          <a:p>
            <a:pPr algn="l"/>
            <a:r>
              <a:rPr sz="1400" b="0" i="0">
                <a:solidFill>
                  <a:srgbClr val="555F6B"/>
                </a:solidFill>
                <a:latin typeface="Consolas"/>
              </a:rPr>
              <a:t>shape (batch, 40, 20)</a:t>
            </a:r>
          </a:p>
        </p:txBody>
      </p:sp>
      <p:sp>
        <p:nvSpPr>
          <p:cNvPr id="8" name="TextBox 7"/>
          <p:cNvSpPr txBox="1"/>
          <p:nvPr/>
        </p:nvSpPr>
        <p:spPr>
          <a:xfrm>
            <a:off x="640080" y="2377440"/>
            <a:ext cx="3291840" cy="365760"/>
          </a:xfrm>
          <a:prstGeom prst="rect">
            <a:avLst/>
          </a:prstGeom>
          <a:noFill/>
        </p:spPr>
        <p:txBody>
          <a:bodyPr wrap="square" anchor="t" lIns="45720" rIns="45720" tIns="18288" bIns="18288">
            <a:spAutoFit/>
          </a:bodyPr>
          <a:lstStyle/>
          <a:p>
            <a:pPr algn="l"/>
            <a:r>
              <a:rPr sz="1200" b="1" i="0">
                <a:solidFill>
                  <a:srgbClr val="0B2A4A"/>
                </a:solidFill>
                <a:latin typeface="Calibri"/>
              </a:rPr>
              <a:t>20 features per flight:</a:t>
            </a:r>
          </a:p>
        </p:txBody>
      </p:sp>
      <p:sp>
        <p:nvSpPr>
          <p:cNvPr id="9" name="TextBox 8"/>
          <p:cNvSpPr txBox="1"/>
          <p:nvPr/>
        </p:nvSpPr>
        <p:spPr>
          <a:xfrm>
            <a:off x="640080" y="2743200"/>
            <a:ext cx="3383280" cy="3474720"/>
          </a:xfrm>
          <a:prstGeom prst="rect">
            <a:avLst/>
          </a:prstGeom>
          <a:noFill/>
        </p:spPr>
        <p:txBody>
          <a:bodyPr wrap="square">
            <a:spAutoFit/>
          </a:bodyPr>
          <a:lstStyle/>
          <a:p>
            <a:pPr algn="l">
              <a:spcAft>
                <a:spcPts val="400"/>
              </a:spcAft>
            </a:pPr>
            <a:r>
              <a:rPr sz="1150" b="1">
                <a:solidFill>
                  <a:srgbClr val="007BFF"/>
                </a:solidFill>
              </a:rPr>
              <a:t>■  </a:t>
            </a:r>
            <a:r>
              <a:rPr sz="1150">
                <a:solidFill>
                  <a:srgbClr val="1A1A1A"/>
                </a:solidFill>
              </a:rPr>
              <a:t>6 raw sensors</a:t>
            </a:r>
          </a:p>
          <a:p>
            <a:pPr algn="l">
              <a:spcAft>
                <a:spcPts val="400"/>
              </a:spcAft>
            </a:pPr>
            <a:r>
              <a:rPr sz="1150" b="1">
                <a:solidFill>
                  <a:srgbClr val="007BFF"/>
                </a:solidFill>
              </a:rPr>
              <a:t>■  </a:t>
            </a:r>
            <a:r>
              <a:rPr sz="1150">
                <a:solidFill>
                  <a:srgbClr val="1A1A1A"/>
                </a:solidFill>
              </a:rPr>
              <a:t>6 *_norm drift features</a:t>
            </a:r>
          </a:p>
          <a:p>
            <a:pPr algn="l">
              <a:spcAft>
                <a:spcPts val="400"/>
              </a:spcAft>
            </a:pPr>
            <a:r>
              <a:rPr sz="1150" b="1">
                <a:solidFill>
                  <a:srgbClr val="007BFF"/>
                </a:solidFill>
              </a:rPr>
              <a:t>■  </a:t>
            </a:r>
            <a:r>
              <a:rPr sz="1150">
                <a:solidFill>
                  <a:srgbClr val="1A1A1A"/>
                </a:solidFill>
              </a:rPr>
              <a:t>2 engtype one-hots</a:t>
            </a:r>
          </a:p>
          <a:p>
            <a:pPr algn="l">
              <a:spcAft>
                <a:spcPts val="400"/>
              </a:spcAft>
            </a:pPr>
            <a:r>
              <a:rPr sz="1150" b="1">
                <a:solidFill>
                  <a:srgbClr val="007BFF"/>
                </a:solidFill>
              </a:rPr>
              <a:t>■  </a:t>
            </a:r>
            <a:r>
              <a:rPr sz="1150">
                <a:solidFill>
                  <a:srgbClr val="1A1A1A"/>
                </a:solidFill>
              </a:rPr>
              <a:t>4 cyclical time encodings</a:t>
            </a:r>
          </a:p>
          <a:p>
            <a:pPr algn="l">
              <a:spcAft>
                <a:spcPts val="400"/>
              </a:spcAft>
            </a:pPr>
            <a:r>
              <a:rPr sz="1150" b="1">
                <a:solidFill>
                  <a:srgbClr val="007BFF"/>
                </a:solidFill>
              </a:rPr>
              <a:t>■  </a:t>
            </a:r>
            <a:r>
              <a:rPr sz="1150">
                <a:solidFill>
                  <a:srgbClr val="1A1A1A"/>
                </a:solidFill>
              </a:rPr>
              <a:t>2 flight-phase one-hots</a:t>
            </a:r>
          </a:p>
        </p:txBody>
      </p:sp>
      <p:sp>
        <p:nvSpPr>
          <p:cNvPr id="10" name="Rectangle 9"/>
          <p:cNvSpPr/>
          <p:nvPr/>
        </p:nvSpPr>
        <p:spPr>
          <a:xfrm>
            <a:off x="4434840" y="1188720"/>
            <a:ext cx="2286000" cy="365760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188720"/>
            <a:ext cx="2286000" cy="45720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188720"/>
            <a:ext cx="2286000" cy="457200"/>
          </a:xfrm>
          <a:prstGeom prst="rect">
            <a:avLst/>
          </a:prstGeom>
          <a:noFill/>
        </p:spPr>
        <p:txBody>
          <a:bodyPr wrap="square" anchor="ctr" lIns="45720" rIns="45720" tIns="18288" bIns="18288">
            <a:spAutoFit/>
          </a:bodyPr>
          <a:lstStyle/>
          <a:p>
            <a:pPr algn="ctr"/>
            <a:r>
              <a:rPr sz="1400" b="1" i="0">
                <a:solidFill>
                  <a:srgbClr val="FFFFFF"/>
                </a:solidFill>
                <a:latin typeface="Calibri"/>
              </a:rPr>
              <a:t>BiLSTM (primary)</a:t>
            </a:r>
          </a:p>
        </p:txBody>
      </p:sp>
      <p:sp>
        <p:nvSpPr>
          <p:cNvPr id="13" name="TextBox 12"/>
          <p:cNvSpPr txBox="1"/>
          <p:nvPr/>
        </p:nvSpPr>
        <p:spPr>
          <a:xfrm>
            <a:off x="4572000" y="1737360"/>
            <a:ext cx="2011680" cy="2377440"/>
          </a:xfrm>
          <a:prstGeom prst="rect">
            <a:avLst/>
          </a:prstGeom>
          <a:noFill/>
        </p:spPr>
        <p:txBody>
          <a:bodyPr wrap="square" anchor="t" lIns="45720" rIns="45720" tIns="18288" bIns="18288">
            <a:spAutoFit/>
          </a:bodyPr>
          <a:lstStyle/>
          <a:p>
            <a:pPr algn="l"/>
            <a:r>
              <a:rPr sz="1050" b="0" i="0">
                <a:solidFill>
                  <a:srgbClr val="1A1A1A"/>
                </a:solidFill>
                <a:latin typeface="Consolas"/>
              </a:rPr>
              <a:t>BiLSTM(64, return_seq)
+ Dropout(0.2)
BiLSTM(32, return_seq)
+ Dropout(0.2)
BiLSTM(16)
+ Dropout(0.2)
Dense(32, ReLU)
Dense(1)</a:t>
            </a:r>
          </a:p>
        </p:txBody>
      </p:sp>
      <p:sp>
        <p:nvSpPr>
          <p:cNvPr id="14" name="Rectangle 13"/>
          <p:cNvSpPr/>
          <p:nvPr/>
        </p:nvSpPr>
        <p:spPr>
          <a:xfrm>
            <a:off x="4572000" y="4206240"/>
            <a:ext cx="2011680"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206240"/>
            <a:ext cx="2011680" cy="548640"/>
          </a:xfrm>
          <a:prstGeom prst="rect">
            <a:avLst/>
          </a:prstGeom>
          <a:noFill/>
        </p:spPr>
        <p:txBody>
          <a:bodyPr wrap="square" anchor="ctr" lIns="45720" rIns="45720" tIns="18288" bIns="18288">
            <a:spAutoFit/>
          </a:bodyPr>
          <a:lstStyle/>
          <a:p>
            <a:pPr algn="ctr"/>
            <a:r>
              <a:rPr sz="1000" b="0" i="0">
                <a:solidFill>
                  <a:srgbClr val="F0AD4E"/>
                </a:solidFill>
                <a:latin typeface="Calibri"/>
              </a:rPr>
              <a:t>92K params · best val_loss 0.0024</a:t>
            </a:r>
          </a:p>
        </p:txBody>
      </p:sp>
      <p:sp>
        <p:nvSpPr>
          <p:cNvPr id="16" name="Rectangle 15"/>
          <p:cNvSpPr/>
          <p:nvPr/>
        </p:nvSpPr>
        <p:spPr>
          <a:xfrm>
            <a:off x="6949440" y="1188720"/>
            <a:ext cx="2286000" cy="365760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0" y="1188720"/>
            <a:ext cx="2286000" cy="45720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188720"/>
            <a:ext cx="2286000" cy="457200"/>
          </a:xfrm>
          <a:prstGeom prst="rect">
            <a:avLst/>
          </a:prstGeom>
          <a:noFill/>
        </p:spPr>
        <p:txBody>
          <a:bodyPr wrap="square" anchor="ctr" lIns="45720" rIns="45720" tIns="18288" bIns="18288">
            <a:spAutoFit/>
          </a:bodyPr>
          <a:lstStyle/>
          <a:p>
            <a:pPr algn="ctr"/>
            <a:r>
              <a:rPr sz="1400" b="1" i="0">
                <a:solidFill>
                  <a:srgbClr val="FFFFFF"/>
                </a:solidFill>
                <a:latin typeface="Calibri"/>
              </a:rPr>
              <a:t>GRU</a:t>
            </a:r>
          </a:p>
        </p:txBody>
      </p:sp>
      <p:sp>
        <p:nvSpPr>
          <p:cNvPr id="19" name="TextBox 18"/>
          <p:cNvSpPr txBox="1"/>
          <p:nvPr/>
        </p:nvSpPr>
        <p:spPr>
          <a:xfrm>
            <a:off x="7086600" y="1737360"/>
            <a:ext cx="2011680" cy="2377440"/>
          </a:xfrm>
          <a:prstGeom prst="rect">
            <a:avLst/>
          </a:prstGeom>
          <a:noFill/>
        </p:spPr>
        <p:txBody>
          <a:bodyPr wrap="square" anchor="t" lIns="45720" rIns="45720" tIns="18288" bIns="18288">
            <a:spAutoFit/>
          </a:bodyPr>
          <a:lstStyle/>
          <a:p>
            <a:pPr algn="l"/>
            <a:r>
              <a:rPr sz="1050" b="0" i="0">
                <a:solidFill>
                  <a:srgbClr val="1A1A1A"/>
                </a:solidFill>
                <a:latin typeface="Consolas"/>
              </a:rPr>
              <a:t>GRU(64, return_seq)
+ Dropout(0.2)
GRU(32)
+ Dropout(0.2)
Dense(32, ReLU)
Dense(1)</a:t>
            </a:r>
          </a:p>
        </p:txBody>
      </p:sp>
      <p:sp>
        <p:nvSpPr>
          <p:cNvPr id="20" name="Rectangle 19"/>
          <p:cNvSpPr/>
          <p:nvPr/>
        </p:nvSpPr>
        <p:spPr>
          <a:xfrm>
            <a:off x="7086600" y="4206240"/>
            <a:ext cx="2011680"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86600" y="4206240"/>
            <a:ext cx="2011680" cy="548640"/>
          </a:xfrm>
          <a:prstGeom prst="rect">
            <a:avLst/>
          </a:prstGeom>
          <a:noFill/>
        </p:spPr>
        <p:txBody>
          <a:bodyPr wrap="square" anchor="ctr" lIns="45720" rIns="45720" tIns="18288" bIns="18288">
            <a:spAutoFit/>
          </a:bodyPr>
          <a:lstStyle/>
          <a:p>
            <a:pPr algn="ctr"/>
            <a:r>
              <a:rPr sz="1000" b="0" i="0">
                <a:solidFill>
                  <a:srgbClr val="F0AD4E"/>
                </a:solidFill>
                <a:latin typeface="Calibri"/>
              </a:rPr>
              <a:t>28K params · 3x faster</a:t>
            </a:r>
          </a:p>
        </p:txBody>
      </p:sp>
      <p:sp>
        <p:nvSpPr>
          <p:cNvPr id="22" name="Rectangle 21"/>
          <p:cNvSpPr/>
          <p:nvPr/>
        </p:nvSpPr>
        <p:spPr>
          <a:xfrm>
            <a:off x="9418320" y="1188720"/>
            <a:ext cx="2286000" cy="365760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18320" y="1188720"/>
            <a:ext cx="2286000" cy="45720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188720"/>
            <a:ext cx="2286000" cy="457200"/>
          </a:xfrm>
          <a:prstGeom prst="rect">
            <a:avLst/>
          </a:prstGeom>
          <a:noFill/>
        </p:spPr>
        <p:txBody>
          <a:bodyPr wrap="square" anchor="ctr" lIns="45720" rIns="45720" tIns="18288" bIns="18288">
            <a:spAutoFit/>
          </a:bodyPr>
          <a:lstStyle/>
          <a:p>
            <a:pPr algn="ctr"/>
            <a:r>
              <a:rPr sz="1400" b="1" i="0">
                <a:solidFill>
                  <a:srgbClr val="FFFFFF"/>
                </a:solidFill>
                <a:latin typeface="Calibri"/>
              </a:rPr>
              <a:t>1D CNN</a:t>
            </a:r>
          </a:p>
        </p:txBody>
      </p:sp>
      <p:sp>
        <p:nvSpPr>
          <p:cNvPr id="25" name="TextBox 24"/>
          <p:cNvSpPr txBox="1"/>
          <p:nvPr/>
        </p:nvSpPr>
        <p:spPr>
          <a:xfrm>
            <a:off x="9555480" y="1737360"/>
            <a:ext cx="2011680" cy="2377440"/>
          </a:xfrm>
          <a:prstGeom prst="rect">
            <a:avLst/>
          </a:prstGeom>
          <a:noFill/>
        </p:spPr>
        <p:txBody>
          <a:bodyPr wrap="square" anchor="t" lIns="45720" rIns="45720" tIns="18288" bIns="18288">
            <a:spAutoFit/>
          </a:bodyPr>
          <a:lstStyle/>
          <a:p>
            <a:pPr algn="l"/>
            <a:r>
              <a:rPr sz="1050" b="0" i="0">
                <a:solidFill>
                  <a:srgbClr val="1A1A1A"/>
                </a:solidFill>
                <a:latin typeface="Consolas"/>
              </a:rPr>
              <a:t>Conv1D(64, k=3, ReLU)
+ MaxPool1D
Conv1D(32, k=3, ReLU)
+ GlobalAvgPool
Dense(32, ReLU)
Dense(1)</a:t>
            </a:r>
          </a:p>
        </p:txBody>
      </p:sp>
      <p:sp>
        <p:nvSpPr>
          <p:cNvPr id="26" name="Rectangle 25"/>
          <p:cNvSpPr/>
          <p:nvPr/>
        </p:nvSpPr>
        <p:spPr>
          <a:xfrm>
            <a:off x="9555480" y="4206240"/>
            <a:ext cx="2011680"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55480" y="4206240"/>
            <a:ext cx="2011680" cy="548640"/>
          </a:xfrm>
          <a:prstGeom prst="rect">
            <a:avLst/>
          </a:prstGeom>
          <a:noFill/>
        </p:spPr>
        <p:txBody>
          <a:bodyPr wrap="square" anchor="ctr" lIns="45720" rIns="45720" tIns="18288" bIns="18288">
            <a:spAutoFit/>
          </a:bodyPr>
          <a:lstStyle/>
          <a:p>
            <a:pPr algn="ctr"/>
            <a:r>
              <a:rPr sz="1000" b="0" i="0">
                <a:solidFill>
                  <a:srgbClr val="F0AD4E"/>
                </a:solidFill>
                <a:latin typeface="Calibri"/>
              </a:rPr>
              <a:t>32K params · fastest</a:t>
            </a:r>
          </a:p>
        </p:txBody>
      </p:sp>
      <p:sp>
        <p:nvSpPr>
          <p:cNvPr id="28" name="TextBox 27"/>
          <p:cNvSpPr txBox="1"/>
          <p:nvPr/>
        </p:nvSpPr>
        <p:spPr>
          <a:xfrm>
            <a:off x="457200" y="5120640"/>
            <a:ext cx="11247120" cy="365760"/>
          </a:xfrm>
          <a:prstGeom prst="rect">
            <a:avLst/>
          </a:prstGeom>
          <a:noFill/>
        </p:spPr>
        <p:txBody>
          <a:bodyPr wrap="square" anchor="t" lIns="45720" rIns="45720" tIns="18288" bIns="18288">
            <a:spAutoFit/>
          </a:bodyPr>
          <a:lstStyle/>
          <a:p>
            <a:pPr algn="ctr"/>
            <a:r>
              <a:rPr sz="1150" b="0" i="0">
                <a:solidFill>
                  <a:srgbClr val="555F6B"/>
                </a:solidFill>
                <a:latin typeface="Calibri"/>
              </a:rPr>
              <a:t>Training — Huber(d=0.1) loss, Adam + ExponentialDecay LR, EarlyStopping(patience=10), mixed_float16, batch=256</a:t>
            </a:r>
          </a:p>
        </p:txBody>
      </p:sp>
      <p:sp>
        <p:nvSpPr>
          <p:cNvPr id="29" name="TextBox 28"/>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30" name="TextBox 29"/>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Training Results</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8 / 19</a:t>
            </a:r>
          </a:p>
        </p:txBody>
      </p:sp>
      <p:sp>
        <p:nvSpPr>
          <p:cNvPr id="5" name="Rectangle 4"/>
          <p:cNvSpPr/>
          <p:nvPr/>
        </p:nvSpPr>
        <p:spPr>
          <a:xfrm>
            <a:off x="457200" y="1188720"/>
            <a:ext cx="2743200" cy="137160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2743200" cy="754380"/>
          </a:xfrm>
          <a:prstGeom prst="rect">
            <a:avLst/>
          </a:prstGeom>
          <a:noFill/>
        </p:spPr>
        <p:txBody>
          <a:bodyPr wrap="square" anchor="ctr" lIns="45720" rIns="45720" tIns="18288" bIns="18288">
            <a:spAutoFit/>
          </a:bodyPr>
          <a:lstStyle/>
          <a:p>
            <a:pPr algn="ctr"/>
            <a:r>
              <a:rPr sz="4400" b="1" i="0">
                <a:solidFill>
                  <a:srgbClr val="28A745"/>
                </a:solidFill>
                <a:latin typeface="Calibri"/>
              </a:rPr>
              <a:t>0.960</a:t>
            </a:r>
          </a:p>
        </p:txBody>
      </p:sp>
      <p:sp>
        <p:nvSpPr>
          <p:cNvPr id="7" name="TextBox 6"/>
          <p:cNvSpPr txBox="1"/>
          <p:nvPr/>
        </p:nvSpPr>
        <p:spPr>
          <a:xfrm>
            <a:off x="457200" y="2039112"/>
            <a:ext cx="2743200" cy="480059"/>
          </a:xfrm>
          <a:prstGeom prst="rect">
            <a:avLst/>
          </a:prstGeom>
          <a:noFill/>
        </p:spPr>
        <p:txBody>
          <a:bodyPr wrap="square" anchor="ctr" lIns="45720" rIns="45720" tIns="18288" bIns="18288">
            <a:spAutoFit/>
          </a:bodyPr>
          <a:lstStyle/>
          <a:p>
            <a:pPr algn="ctr"/>
            <a:r>
              <a:rPr sz="1200" b="0" i="0">
                <a:solidFill>
                  <a:srgbClr val="555F6B"/>
                </a:solidFill>
                <a:latin typeface="Calibri"/>
              </a:rPr>
              <a:t>Test R squared</a:t>
            </a:r>
          </a:p>
        </p:txBody>
      </p:sp>
      <p:sp>
        <p:nvSpPr>
          <p:cNvPr id="8" name="Rectangle 7"/>
          <p:cNvSpPr/>
          <p:nvPr/>
        </p:nvSpPr>
        <p:spPr>
          <a:xfrm>
            <a:off x="3383280" y="1188720"/>
            <a:ext cx="2743200" cy="137160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325880"/>
            <a:ext cx="2743200" cy="754380"/>
          </a:xfrm>
          <a:prstGeom prst="rect">
            <a:avLst/>
          </a:prstGeom>
          <a:noFill/>
        </p:spPr>
        <p:txBody>
          <a:bodyPr wrap="square" anchor="ctr" lIns="45720" rIns="45720" tIns="18288" bIns="18288">
            <a:spAutoFit/>
          </a:bodyPr>
          <a:lstStyle/>
          <a:p>
            <a:pPr algn="ctr"/>
            <a:r>
              <a:rPr sz="4400" b="1" i="0">
                <a:solidFill>
                  <a:srgbClr val="28A745"/>
                </a:solidFill>
                <a:latin typeface="Calibri"/>
              </a:rPr>
              <a:t>210</a:t>
            </a:r>
          </a:p>
        </p:txBody>
      </p:sp>
      <p:sp>
        <p:nvSpPr>
          <p:cNvPr id="10" name="TextBox 9"/>
          <p:cNvSpPr txBox="1"/>
          <p:nvPr/>
        </p:nvSpPr>
        <p:spPr>
          <a:xfrm>
            <a:off x="3383280" y="2039112"/>
            <a:ext cx="2743200" cy="480059"/>
          </a:xfrm>
          <a:prstGeom prst="rect">
            <a:avLst/>
          </a:prstGeom>
          <a:noFill/>
        </p:spPr>
        <p:txBody>
          <a:bodyPr wrap="square" anchor="ctr" lIns="45720" rIns="45720" tIns="18288" bIns="18288">
            <a:spAutoFit/>
          </a:bodyPr>
          <a:lstStyle/>
          <a:p>
            <a:pPr algn="ctr"/>
            <a:r>
              <a:rPr sz="1200" b="0" i="0">
                <a:solidFill>
                  <a:srgbClr val="555F6B"/>
                </a:solidFill>
                <a:latin typeface="Calibri"/>
              </a:rPr>
              <a:t>Test MAE (cycles)</a:t>
            </a:r>
          </a:p>
        </p:txBody>
      </p:sp>
      <p:sp>
        <p:nvSpPr>
          <p:cNvPr id="11" name="Rectangle 10"/>
          <p:cNvSpPr/>
          <p:nvPr/>
        </p:nvSpPr>
        <p:spPr>
          <a:xfrm>
            <a:off x="6309360" y="1188720"/>
            <a:ext cx="2743200" cy="137160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325880"/>
            <a:ext cx="2743200" cy="754380"/>
          </a:xfrm>
          <a:prstGeom prst="rect">
            <a:avLst/>
          </a:prstGeom>
          <a:noFill/>
        </p:spPr>
        <p:txBody>
          <a:bodyPr wrap="square" anchor="ctr" lIns="45720" rIns="45720" tIns="18288" bIns="18288">
            <a:spAutoFit/>
          </a:bodyPr>
          <a:lstStyle/>
          <a:p>
            <a:pPr algn="ctr"/>
            <a:r>
              <a:rPr sz="4400" b="1" i="0">
                <a:solidFill>
                  <a:srgbClr val="007BFF"/>
                </a:solidFill>
                <a:latin typeface="Calibri"/>
              </a:rPr>
              <a:t>0.979</a:t>
            </a:r>
          </a:p>
        </p:txBody>
      </p:sp>
      <p:sp>
        <p:nvSpPr>
          <p:cNvPr id="13" name="TextBox 12"/>
          <p:cNvSpPr txBox="1"/>
          <p:nvPr/>
        </p:nvSpPr>
        <p:spPr>
          <a:xfrm>
            <a:off x="6309360" y="2039112"/>
            <a:ext cx="2743200" cy="480059"/>
          </a:xfrm>
          <a:prstGeom prst="rect">
            <a:avLst/>
          </a:prstGeom>
          <a:noFill/>
        </p:spPr>
        <p:txBody>
          <a:bodyPr wrap="square" anchor="ctr" lIns="45720" rIns="45720" tIns="18288" bIns="18288">
            <a:spAutoFit/>
          </a:bodyPr>
          <a:lstStyle/>
          <a:p>
            <a:pPr algn="ctr"/>
            <a:r>
              <a:rPr sz="1200" b="0" i="0">
                <a:solidFill>
                  <a:srgbClr val="555F6B"/>
                </a:solidFill>
                <a:latin typeface="Calibri"/>
              </a:rPr>
              <a:t>Validation R squared</a:t>
            </a:r>
          </a:p>
        </p:txBody>
      </p:sp>
      <p:sp>
        <p:nvSpPr>
          <p:cNvPr id="14" name="Rectangle 13"/>
          <p:cNvSpPr/>
          <p:nvPr/>
        </p:nvSpPr>
        <p:spPr>
          <a:xfrm>
            <a:off x="9235440" y="1188720"/>
            <a:ext cx="2468880" cy="1371600"/>
          </a:xfrm>
          <a:prstGeom prst="rect">
            <a:avLst/>
          </a:prstGeom>
          <a:solidFill>
            <a:srgbClr val="F6F8FB"/>
          </a:solidFill>
          <a:ln w="9525">
            <a:solidFill>
              <a:srgbClr val="F0A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325880"/>
            <a:ext cx="2468880" cy="754380"/>
          </a:xfrm>
          <a:prstGeom prst="rect">
            <a:avLst/>
          </a:prstGeom>
          <a:noFill/>
        </p:spPr>
        <p:txBody>
          <a:bodyPr wrap="square" anchor="ctr" lIns="45720" rIns="45720" tIns="18288" bIns="18288">
            <a:spAutoFit/>
          </a:bodyPr>
          <a:lstStyle/>
          <a:p>
            <a:pPr algn="ctr"/>
            <a:r>
              <a:rPr sz="4400" b="1" i="0">
                <a:solidFill>
                  <a:srgbClr val="F0AD4E"/>
                </a:solidFill>
                <a:latin typeface="Calibri"/>
              </a:rPr>
              <a:t>+93</a:t>
            </a:r>
          </a:p>
        </p:txBody>
      </p:sp>
      <p:sp>
        <p:nvSpPr>
          <p:cNvPr id="16" name="TextBox 15"/>
          <p:cNvSpPr txBox="1"/>
          <p:nvPr/>
        </p:nvSpPr>
        <p:spPr>
          <a:xfrm>
            <a:off x="9235440" y="2039112"/>
            <a:ext cx="2468880" cy="480059"/>
          </a:xfrm>
          <a:prstGeom prst="rect">
            <a:avLst/>
          </a:prstGeom>
          <a:noFill/>
        </p:spPr>
        <p:txBody>
          <a:bodyPr wrap="square" anchor="ctr" lIns="45720" rIns="45720" tIns="18288" bIns="18288">
            <a:spAutoFit/>
          </a:bodyPr>
          <a:lstStyle/>
          <a:p>
            <a:pPr algn="ctr"/>
            <a:r>
              <a:rPr sz="1200" b="0" i="0">
                <a:solidFill>
                  <a:srgbClr val="555F6B"/>
                </a:solidFill>
                <a:latin typeface="Calibri"/>
              </a:rPr>
              <a:t>LSTM lift over baseline</a:t>
            </a:r>
          </a:p>
        </p:txBody>
      </p:sp>
      <p:sp>
        <p:nvSpPr>
          <p:cNvPr id="17" name="TextBox 16"/>
          <p:cNvSpPr txBox="1"/>
          <p:nvPr/>
        </p:nvSpPr>
        <p:spPr>
          <a:xfrm>
            <a:off x="457200" y="2834640"/>
            <a:ext cx="10972800" cy="365760"/>
          </a:xfrm>
          <a:prstGeom prst="rect">
            <a:avLst/>
          </a:prstGeom>
          <a:noFill/>
        </p:spPr>
        <p:txBody>
          <a:bodyPr wrap="square" anchor="t" lIns="45720" rIns="45720" tIns="18288" bIns="18288">
            <a:spAutoFit/>
          </a:bodyPr>
          <a:lstStyle/>
          <a:p>
            <a:pPr algn="l"/>
            <a:r>
              <a:rPr sz="1400" b="1" i="0">
                <a:solidFill>
                  <a:srgbClr val="0B2A4A"/>
                </a:solidFill>
                <a:latin typeface="Calibri"/>
              </a:rPr>
              <a:t>Per-engine breakdown — every held-out engine R squared in [0.94, 0.98]</a:t>
            </a:r>
          </a:p>
        </p:txBody>
      </p:sp>
      <p:sp>
        <p:nvSpPr>
          <p:cNvPr id="18" name="Rectangle 17"/>
          <p:cNvSpPr/>
          <p:nvPr/>
        </p:nvSpPr>
        <p:spPr>
          <a:xfrm>
            <a:off x="457200" y="3291840"/>
            <a:ext cx="91440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291840"/>
            <a:ext cx="914400" cy="292608"/>
          </a:xfrm>
          <a:prstGeom prst="rect">
            <a:avLst/>
          </a:prstGeom>
          <a:noFill/>
        </p:spPr>
        <p:txBody>
          <a:bodyPr wrap="square" anchor="ctr" lIns="45720" rIns="45720" tIns="18288" bIns="18288">
            <a:spAutoFit/>
          </a:bodyPr>
          <a:lstStyle/>
          <a:p>
            <a:pPr algn="ctr"/>
            <a:r>
              <a:rPr sz="1100" b="1" i="0">
                <a:solidFill>
                  <a:srgbClr val="FFFFFF"/>
                </a:solidFill>
                <a:latin typeface="Calibri"/>
              </a:rPr>
              <a:t>Set</a:t>
            </a:r>
          </a:p>
        </p:txBody>
      </p:sp>
      <p:sp>
        <p:nvSpPr>
          <p:cNvPr id="20" name="Rectangle 19"/>
          <p:cNvSpPr/>
          <p:nvPr/>
        </p:nvSpPr>
        <p:spPr>
          <a:xfrm>
            <a:off x="1371600" y="3291840"/>
            <a:ext cx="128016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3291840"/>
            <a:ext cx="1280160" cy="292608"/>
          </a:xfrm>
          <a:prstGeom prst="rect">
            <a:avLst/>
          </a:prstGeom>
          <a:noFill/>
        </p:spPr>
        <p:txBody>
          <a:bodyPr wrap="square" anchor="ctr" lIns="45720" rIns="45720" tIns="18288" bIns="18288">
            <a:spAutoFit/>
          </a:bodyPr>
          <a:lstStyle/>
          <a:p>
            <a:pPr algn="ctr"/>
            <a:r>
              <a:rPr sz="1100" b="1" i="0">
                <a:solidFill>
                  <a:srgbClr val="FFFFFF"/>
                </a:solidFill>
                <a:latin typeface="Calibri"/>
              </a:rPr>
              <a:t>Engine</a:t>
            </a:r>
          </a:p>
        </p:txBody>
      </p:sp>
      <p:sp>
        <p:nvSpPr>
          <p:cNvPr id="22" name="Rectangle 21"/>
          <p:cNvSpPr/>
          <p:nvPr/>
        </p:nvSpPr>
        <p:spPr>
          <a:xfrm>
            <a:off x="2651760" y="3291840"/>
            <a:ext cx="146304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1760" y="3291840"/>
            <a:ext cx="1463040" cy="292608"/>
          </a:xfrm>
          <a:prstGeom prst="rect">
            <a:avLst/>
          </a:prstGeom>
          <a:noFill/>
        </p:spPr>
        <p:txBody>
          <a:bodyPr wrap="square" anchor="ctr" lIns="45720" rIns="45720" tIns="18288" bIns="18288">
            <a:spAutoFit/>
          </a:bodyPr>
          <a:lstStyle/>
          <a:p>
            <a:pPr algn="ctr"/>
            <a:r>
              <a:rPr sz="1100" b="1" i="0">
                <a:solidFill>
                  <a:srgbClr val="FFFFFF"/>
                </a:solidFill>
                <a:latin typeface="Calibri"/>
              </a:rPr>
              <a:t>n_windows</a:t>
            </a:r>
          </a:p>
        </p:txBody>
      </p:sp>
      <p:sp>
        <p:nvSpPr>
          <p:cNvPr id="24" name="Rectangle 23"/>
          <p:cNvSpPr/>
          <p:nvPr/>
        </p:nvSpPr>
        <p:spPr>
          <a:xfrm>
            <a:off x="4114800" y="3291840"/>
            <a:ext cx="182880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0" y="3291840"/>
            <a:ext cx="1828800" cy="292608"/>
          </a:xfrm>
          <a:prstGeom prst="rect">
            <a:avLst/>
          </a:prstGeom>
          <a:noFill/>
        </p:spPr>
        <p:txBody>
          <a:bodyPr wrap="square" anchor="ctr" lIns="45720" rIns="45720" tIns="18288" bIns="18288">
            <a:spAutoFit/>
          </a:bodyPr>
          <a:lstStyle/>
          <a:p>
            <a:pPr algn="ctr"/>
            <a:r>
              <a:rPr sz="1100" b="1" i="0">
                <a:solidFill>
                  <a:srgbClr val="FFFFFF"/>
                </a:solidFill>
                <a:latin typeface="Calibri"/>
              </a:rPr>
              <a:t>MAE (cycles)</a:t>
            </a:r>
          </a:p>
        </p:txBody>
      </p:sp>
      <p:sp>
        <p:nvSpPr>
          <p:cNvPr id="26" name="Rectangle 25"/>
          <p:cNvSpPr/>
          <p:nvPr/>
        </p:nvSpPr>
        <p:spPr>
          <a:xfrm>
            <a:off x="5943600" y="3291840"/>
            <a:ext cx="109728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0" y="3291840"/>
            <a:ext cx="1097280" cy="292608"/>
          </a:xfrm>
          <a:prstGeom prst="rect">
            <a:avLst/>
          </a:prstGeom>
          <a:noFill/>
        </p:spPr>
        <p:txBody>
          <a:bodyPr wrap="square" anchor="ctr" lIns="45720" rIns="45720" tIns="18288" bIns="18288">
            <a:spAutoFit/>
          </a:bodyPr>
          <a:lstStyle/>
          <a:p>
            <a:pPr algn="ctr"/>
            <a:r>
              <a:rPr sz="1100" b="1" i="0">
                <a:solidFill>
                  <a:srgbClr val="FFFFFF"/>
                </a:solidFill>
                <a:latin typeface="Calibri"/>
              </a:rPr>
              <a:t>R squared</a:t>
            </a:r>
          </a:p>
        </p:txBody>
      </p:sp>
      <p:sp>
        <p:nvSpPr>
          <p:cNvPr id="28" name="Rectangle 27"/>
          <p:cNvSpPr/>
          <p:nvPr/>
        </p:nvSpPr>
        <p:spPr>
          <a:xfrm>
            <a:off x="457200" y="3584448"/>
            <a:ext cx="9144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584448"/>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Val</a:t>
            </a:r>
          </a:p>
        </p:txBody>
      </p:sp>
      <p:sp>
        <p:nvSpPr>
          <p:cNvPr id="30" name="Rectangle 29"/>
          <p:cNvSpPr/>
          <p:nvPr/>
        </p:nvSpPr>
        <p:spPr>
          <a:xfrm>
            <a:off x="1371600" y="3584448"/>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71600" y="3584448"/>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ESN15</a:t>
            </a:r>
          </a:p>
        </p:txBody>
      </p:sp>
      <p:sp>
        <p:nvSpPr>
          <p:cNvPr id="32" name="Rectangle 31"/>
          <p:cNvSpPr/>
          <p:nvPr/>
        </p:nvSpPr>
        <p:spPr>
          <a:xfrm>
            <a:off x="2651760" y="3584448"/>
            <a:ext cx="1463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3584448"/>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1,995</a:t>
            </a:r>
          </a:p>
        </p:txBody>
      </p:sp>
      <p:sp>
        <p:nvSpPr>
          <p:cNvPr id="34" name="Rectangle 33"/>
          <p:cNvSpPr/>
          <p:nvPr/>
        </p:nvSpPr>
        <p:spPr>
          <a:xfrm>
            <a:off x="4114800" y="3584448"/>
            <a:ext cx="18288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0" y="3584448"/>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98.6</a:t>
            </a:r>
          </a:p>
        </p:txBody>
      </p:sp>
      <p:sp>
        <p:nvSpPr>
          <p:cNvPr id="36" name="Rectangle 35"/>
          <p:cNvSpPr/>
          <p:nvPr/>
        </p:nvSpPr>
        <p:spPr>
          <a:xfrm>
            <a:off x="5943600" y="3584448"/>
            <a:ext cx="1097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0" y="3584448"/>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0.970</a:t>
            </a:r>
          </a:p>
        </p:txBody>
      </p:sp>
      <p:sp>
        <p:nvSpPr>
          <p:cNvPr id="38" name="Rectangle 37"/>
          <p:cNvSpPr/>
          <p:nvPr/>
        </p:nvSpPr>
        <p:spPr>
          <a:xfrm>
            <a:off x="457200" y="3877056"/>
            <a:ext cx="9144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877056"/>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Val</a:t>
            </a:r>
          </a:p>
        </p:txBody>
      </p:sp>
      <p:sp>
        <p:nvSpPr>
          <p:cNvPr id="40" name="Rectangle 39"/>
          <p:cNvSpPr/>
          <p:nvPr/>
        </p:nvSpPr>
        <p:spPr>
          <a:xfrm>
            <a:off x="1371600" y="3877056"/>
            <a:ext cx="128016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71600" y="3877056"/>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ESN18</a:t>
            </a:r>
          </a:p>
        </p:txBody>
      </p:sp>
      <p:sp>
        <p:nvSpPr>
          <p:cNvPr id="42" name="Rectangle 41"/>
          <p:cNvSpPr/>
          <p:nvPr/>
        </p:nvSpPr>
        <p:spPr>
          <a:xfrm>
            <a:off x="2651760" y="3877056"/>
            <a:ext cx="146304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51760" y="3877056"/>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1,601</a:t>
            </a:r>
          </a:p>
        </p:txBody>
      </p:sp>
      <p:sp>
        <p:nvSpPr>
          <p:cNvPr id="44" name="Rectangle 43"/>
          <p:cNvSpPr/>
          <p:nvPr/>
        </p:nvSpPr>
        <p:spPr>
          <a:xfrm>
            <a:off x="4114800" y="3877056"/>
            <a:ext cx="18288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0" y="3877056"/>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98.6</a:t>
            </a:r>
          </a:p>
        </p:txBody>
      </p:sp>
      <p:sp>
        <p:nvSpPr>
          <p:cNvPr id="46" name="Rectangle 45"/>
          <p:cNvSpPr/>
          <p:nvPr/>
        </p:nvSpPr>
        <p:spPr>
          <a:xfrm>
            <a:off x="5943600" y="3877056"/>
            <a:ext cx="10972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0" y="3877056"/>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0.954</a:t>
            </a:r>
          </a:p>
        </p:txBody>
      </p:sp>
      <p:sp>
        <p:nvSpPr>
          <p:cNvPr id="48" name="Rectangle 47"/>
          <p:cNvSpPr/>
          <p:nvPr/>
        </p:nvSpPr>
        <p:spPr>
          <a:xfrm>
            <a:off x="457200" y="4169664"/>
            <a:ext cx="9144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169664"/>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Val</a:t>
            </a:r>
          </a:p>
        </p:txBody>
      </p:sp>
      <p:sp>
        <p:nvSpPr>
          <p:cNvPr id="50" name="Rectangle 49"/>
          <p:cNvSpPr/>
          <p:nvPr/>
        </p:nvSpPr>
        <p:spPr>
          <a:xfrm>
            <a:off x="1371600" y="4169664"/>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71600" y="4169664"/>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ESN20</a:t>
            </a:r>
          </a:p>
        </p:txBody>
      </p:sp>
      <p:sp>
        <p:nvSpPr>
          <p:cNvPr id="52" name="Rectangle 51"/>
          <p:cNvSpPr/>
          <p:nvPr/>
        </p:nvSpPr>
        <p:spPr>
          <a:xfrm>
            <a:off x="2651760" y="4169664"/>
            <a:ext cx="1463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51760" y="4169664"/>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4,755</a:t>
            </a:r>
          </a:p>
        </p:txBody>
      </p:sp>
      <p:sp>
        <p:nvSpPr>
          <p:cNvPr id="54" name="Rectangle 53"/>
          <p:cNvSpPr/>
          <p:nvPr/>
        </p:nvSpPr>
        <p:spPr>
          <a:xfrm>
            <a:off x="4114800" y="4169664"/>
            <a:ext cx="18288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0" y="4169664"/>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132.6</a:t>
            </a:r>
          </a:p>
        </p:txBody>
      </p:sp>
      <p:sp>
        <p:nvSpPr>
          <p:cNvPr id="56" name="Rectangle 55"/>
          <p:cNvSpPr/>
          <p:nvPr/>
        </p:nvSpPr>
        <p:spPr>
          <a:xfrm>
            <a:off x="5943600" y="4169664"/>
            <a:ext cx="1097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0" y="4169664"/>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0.982</a:t>
            </a:r>
          </a:p>
        </p:txBody>
      </p:sp>
      <p:sp>
        <p:nvSpPr>
          <p:cNvPr id="58" name="Rectangle 57"/>
          <p:cNvSpPr/>
          <p:nvPr/>
        </p:nvSpPr>
        <p:spPr>
          <a:xfrm>
            <a:off x="457200" y="4462272"/>
            <a:ext cx="9144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4462272"/>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Val</a:t>
            </a:r>
          </a:p>
        </p:txBody>
      </p:sp>
      <p:sp>
        <p:nvSpPr>
          <p:cNvPr id="60" name="Rectangle 59"/>
          <p:cNvSpPr/>
          <p:nvPr/>
        </p:nvSpPr>
        <p:spPr>
          <a:xfrm>
            <a:off x="1371600" y="4462272"/>
            <a:ext cx="128016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371600" y="4462272"/>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ESN17</a:t>
            </a:r>
          </a:p>
        </p:txBody>
      </p:sp>
      <p:sp>
        <p:nvSpPr>
          <p:cNvPr id="62" name="Rectangle 61"/>
          <p:cNvSpPr/>
          <p:nvPr/>
        </p:nvSpPr>
        <p:spPr>
          <a:xfrm>
            <a:off x="2651760" y="4462272"/>
            <a:ext cx="146304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651760" y="4462272"/>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7,811</a:t>
            </a:r>
          </a:p>
        </p:txBody>
      </p:sp>
      <p:sp>
        <p:nvSpPr>
          <p:cNvPr id="64" name="Rectangle 63"/>
          <p:cNvSpPr/>
          <p:nvPr/>
        </p:nvSpPr>
        <p:spPr>
          <a:xfrm>
            <a:off x="4114800" y="4462272"/>
            <a:ext cx="18288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14800" y="4462272"/>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140.2</a:t>
            </a:r>
          </a:p>
        </p:txBody>
      </p:sp>
      <p:sp>
        <p:nvSpPr>
          <p:cNvPr id="66" name="Rectangle 65"/>
          <p:cNvSpPr/>
          <p:nvPr/>
        </p:nvSpPr>
        <p:spPr>
          <a:xfrm>
            <a:off x="5943600" y="4462272"/>
            <a:ext cx="10972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0" y="4462272"/>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0.983</a:t>
            </a:r>
          </a:p>
        </p:txBody>
      </p:sp>
      <p:sp>
        <p:nvSpPr>
          <p:cNvPr id="68" name="Rectangle 67"/>
          <p:cNvSpPr/>
          <p:nvPr/>
        </p:nvSpPr>
        <p:spPr>
          <a:xfrm>
            <a:off x="457200" y="4754880"/>
            <a:ext cx="9144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4754880"/>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Val</a:t>
            </a:r>
          </a:p>
        </p:txBody>
      </p:sp>
      <p:sp>
        <p:nvSpPr>
          <p:cNvPr id="70" name="Rectangle 69"/>
          <p:cNvSpPr/>
          <p:nvPr/>
        </p:nvSpPr>
        <p:spPr>
          <a:xfrm>
            <a:off x="1371600" y="4754880"/>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371600" y="4754880"/>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ESN10</a:t>
            </a:r>
          </a:p>
        </p:txBody>
      </p:sp>
      <p:sp>
        <p:nvSpPr>
          <p:cNvPr id="72" name="Rectangle 71"/>
          <p:cNvSpPr/>
          <p:nvPr/>
        </p:nvSpPr>
        <p:spPr>
          <a:xfrm>
            <a:off x="2651760" y="4754880"/>
            <a:ext cx="1463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651760" y="4754880"/>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5,377</a:t>
            </a:r>
          </a:p>
        </p:txBody>
      </p:sp>
      <p:sp>
        <p:nvSpPr>
          <p:cNvPr id="74" name="Rectangle 73"/>
          <p:cNvSpPr/>
          <p:nvPr/>
        </p:nvSpPr>
        <p:spPr>
          <a:xfrm>
            <a:off x="4114800" y="4754880"/>
            <a:ext cx="18288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114800" y="4754880"/>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213.7</a:t>
            </a:r>
          </a:p>
        </p:txBody>
      </p:sp>
      <p:sp>
        <p:nvSpPr>
          <p:cNvPr id="76" name="Rectangle 75"/>
          <p:cNvSpPr/>
          <p:nvPr/>
        </p:nvSpPr>
        <p:spPr>
          <a:xfrm>
            <a:off x="5943600" y="4754880"/>
            <a:ext cx="1097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43600" y="4754880"/>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0.958</a:t>
            </a:r>
          </a:p>
        </p:txBody>
      </p:sp>
      <p:sp>
        <p:nvSpPr>
          <p:cNvPr id="78" name="Rectangle 77"/>
          <p:cNvSpPr/>
          <p:nvPr/>
        </p:nvSpPr>
        <p:spPr>
          <a:xfrm>
            <a:off x="457200" y="5047488"/>
            <a:ext cx="9144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7200" y="5047488"/>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Test</a:t>
            </a:r>
          </a:p>
        </p:txBody>
      </p:sp>
      <p:sp>
        <p:nvSpPr>
          <p:cNvPr id="80" name="Rectangle 79"/>
          <p:cNvSpPr/>
          <p:nvPr/>
        </p:nvSpPr>
        <p:spPr>
          <a:xfrm>
            <a:off x="1371600" y="5047488"/>
            <a:ext cx="128016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371600" y="5047488"/>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ESN21</a:t>
            </a:r>
          </a:p>
        </p:txBody>
      </p:sp>
      <p:sp>
        <p:nvSpPr>
          <p:cNvPr id="82" name="Rectangle 81"/>
          <p:cNvSpPr/>
          <p:nvPr/>
        </p:nvSpPr>
        <p:spPr>
          <a:xfrm>
            <a:off x="2651760" y="5047488"/>
            <a:ext cx="146304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51760" y="5047488"/>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1,601</a:t>
            </a:r>
          </a:p>
        </p:txBody>
      </p:sp>
      <p:sp>
        <p:nvSpPr>
          <p:cNvPr id="84" name="Rectangle 83"/>
          <p:cNvSpPr/>
          <p:nvPr/>
        </p:nvSpPr>
        <p:spPr>
          <a:xfrm>
            <a:off x="4114800" y="5047488"/>
            <a:ext cx="18288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114800" y="5047488"/>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98.6</a:t>
            </a:r>
          </a:p>
        </p:txBody>
      </p:sp>
      <p:sp>
        <p:nvSpPr>
          <p:cNvPr id="86" name="Rectangle 85"/>
          <p:cNvSpPr/>
          <p:nvPr/>
        </p:nvSpPr>
        <p:spPr>
          <a:xfrm>
            <a:off x="5943600" y="5047488"/>
            <a:ext cx="10972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943600" y="5047488"/>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0.954</a:t>
            </a:r>
          </a:p>
        </p:txBody>
      </p:sp>
      <p:sp>
        <p:nvSpPr>
          <p:cNvPr id="88" name="Rectangle 87"/>
          <p:cNvSpPr/>
          <p:nvPr/>
        </p:nvSpPr>
        <p:spPr>
          <a:xfrm>
            <a:off x="457200" y="5340096"/>
            <a:ext cx="9144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57200" y="5340096"/>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Test</a:t>
            </a:r>
          </a:p>
        </p:txBody>
      </p:sp>
      <p:sp>
        <p:nvSpPr>
          <p:cNvPr id="90" name="Rectangle 89"/>
          <p:cNvSpPr/>
          <p:nvPr/>
        </p:nvSpPr>
        <p:spPr>
          <a:xfrm>
            <a:off x="1371600" y="5340096"/>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371600" y="5340096"/>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ESN41</a:t>
            </a:r>
          </a:p>
        </p:txBody>
      </p:sp>
      <p:sp>
        <p:nvSpPr>
          <p:cNvPr id="92" name="Rectangle 91"/>
          <p:cNvSpPr/>
          <p:nvPr/>
        </p:nvSpPr>
        <p:spPr>
          <a:xfrm>
            <a:off x="2651760" y="5340096"/>
            <a:ext cx="1463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651760" y="5340096"/>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2,473</a:t>
            </a:r>
          </a:p>
        </p:txBody>
      </p:sp>
      <p:sp>
        <p:nvSpPr>
          <p:cNvPr id="94" name="Rectangle 93"/>
          <p:cNvSpPr/>
          <p:nvPr/>
        </p:nvSpPr>
        <p:spPr>
          <a:xfrm>
            <a:off x="4114800" y="5340096"/>
            <a:ext cx="18288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114800" y="5340096"/>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98.6</a:t>
            </a:r>
          </a:p>
        </p:txBody>
      </p:sp>
      <p:sp>
        <p:nvSpPr>
          <p:cNvPr id="96" name="Rectangle 95"/>
          <p:cNvSpPr/>
          <p:nvPr/>
        </p:nvSpPr>
        <p:spPr>
          <a:xfrm>
            <a:off x="5943600" y="5340096"/>
            <a:ext cx="1097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943600" y="5340096"/>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0.982</a:t>
            </a:r>
          </a:p>
        </p:txBody>
      </p:sp>
      <p:sp>
        <p:nvSpPr>
          <p:cNvPr id="98" name="Rectangle 97"/>
          <p:cNvSpPr/>
          <p:nvPr/>
        </p:nvSpPr>
        <p:spPr>
          <a:xfrm>
            <a:off x="457200" y="5632704"/>
            <a:ext cx="9144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57200" y="5632704"/>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Test</a:t>
            </a:r>
          </a:p>
        </p:txBody>
      </p:sp>
      <p:sp>
        <p:nvSpPr>
          <p:cNvPr id="100" name="Rectangle 99"/>
          <p:cNvSpPr/>
          <p:nvPr/>
        </p:nvSpPr>
        <p:spPr>
          <a:xfrm>
            <a:off x="1371600" y="5632704"/>
            <a:ext cx="128016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371600" y="5632704"/>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ESN24</a:t>
            </a:r>
          </a:p>
        </p:txBody>
      </p:sp>
      <p:sp>
        <p:nvSpPr>
          <p:cNvPr id="102" name="Rectangle 101"/>
          <p:cNvSpPr/>
          <p:nvPr/>
        </p:nvSpPr>
        <p:spPr>
          <a:xfrm>
            <a:off x="2651760" y="5632704"/>
            <a:ext cx="146304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651760" y="5632704"/>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7,467</a:t>
            </a:r>
          </a:p>
        </p:txBody>
      </p:sp>
      <p:sp>
        <p:nvSpPr>
          <p:cNvPr id="104" name="Rectangle 103"/>
          <p:cNvSpPr/>
          <p:nvPr/>
        </p:nvSpPr>
        <p:spPr>
          <a:xfrm>
            <a:off x="4114800" y="5632704"/>
            <a:ext cx="18288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114800" y="5632704"/>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193.8</a:t>
            </a:r>
          </a:p>
        </p:txBody>
      </p:sp>
      <p:sp>
        <p:nvSpPr>
          <p:cNvPr id="106" name="Rectangle 105"/>
          <p:cNvSpPr/>
          <p:nvPr/>
        </p:nvSpPr>
        <p:spPr>
          <a:xfrm>
            <a:off x="5943600" y="5632704"/>
            <a:ext cx="10972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943600" y="5632704"/>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0.968</a:t>
            </a:r>
          </a:p>
        </p:txBody>
      </p:sp>
      <p:sp>
        <p:nvSpPr>
          <p:cNvPr id="108" name="Rectangle 107"/>
          <p:cNvSpPr/>
          <p:nvPr/>
        </p:nvSpPr>
        <p:spPr>
          <a:xfrm>
            <a:off x="457200" y="5925312"/>
            <a:ext cx="9144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57200" y="5925312"/>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Test</a:t>
            </a:r>
          </a:p>
        </p:txBody>
      </p:sp>
      <p:sp>
        <p:nvSpPr>
          <p:cNvPr id="110" name="Rectangle 109"/>
          <p:cNvSpPr/>
          <p:nvPr/>
        </p:nvSpPr>
        <p:spPr>
          <a:xfrm>
            <a:off x="1371600" y="5925312"/>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371600" y="5925312"/>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ESN14</a:t>
            </a:r>
          </a:p>
        </p:txBody>
      </p:sp>
      <p:sp>
        <p:nvSpPr>
          <p:cNvPr id="112" name="Rectangle 111"/>
          <p:cNvSpPr/>
          <p:nvPr/>
        </p:nvSpPr>
        <p:spPr>
          <a:xfrm>
            <a:off x="2651760" y="5925312"/>
            <a:ext cx="1463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651760" y="5925312"/>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5,327</a:t>
            </a:r>
          </a:p>
        </p:txBody>
      </p:sp>
      <p:sp>
        <p:nvSpPr>
          <p:cNvPr id="114" name="Rectangle 113"/>
          <p:cNvSpPr/>
          <p:nvPr/>
        </p:nvSpPr>
        <p:spPr>
          <a:xfrm>
            <a:off x="4114800" y="5925312"/>
            <a:ext cx="18288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114800" y="5925312"/>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215.3</a:t>
            </a:r>
          </a:p>
        </p:txBody>
      </p:sp>
      <p:sp>
        <p:nvSpPr>
          <p:cNvPr id="116" name="Rectangle 115"/>
          <p:cNvSpPr/>
          <p:nvPr/>
        </p:nvSpPr>
        <p:spPr>
          <a:xfrm>
            <a:off x="5943600" y="5925312"/>
            <a:ext cx="1097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943600" y="5925312"/>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0.936</a:t>
            </a:r>
          </a:p>
        </p:txBody>
      </p:sp>
      <p:sp>
        <p:nvSpPr>
          <p:cNvPr id="118" name="Rectangle 117"/>
          <p:cNvSpPr/>
          <p:nvPr/>
        </p:nvSpPr>
        <p:spPr>
          <a:xfrm>
            <a:off x="457200" y="6217920"/>
            <a:ext cx="9144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57200" y="6217920"/>
            <a:ext cx="9144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Test</a:t>
            </a:r>
          </a:p>
        </p:txBody>
      </p:sp>
      <p:sp>
        <p:nvSpPr>
          <p:cNvPr id="120" name="Rectangle 119"/>
          <p:cNvSpPr/>
          <p:nvPr/>
        </p:nvSpPr>
        <p:spPr>
          <a:xfrm>
            <a:off x="1371600" y="6217920"/>
            <a:ext cx="128016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371600" y="6217920"/>
            <a:ext cx="128016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ESN13</a:t>
            </a:r>
          </a:p>
        </p:txBody>
      </p:sp>
      <p:sp>
        <p:nvSpPr>
          <p:cNvPr id="122" name="Rectangle 121"/>
          <p:cNvSpPr/>
          <p:nvPr/>
        </p:nvSpPr>
        <p:spPr>
          <a:xfrm>
            <a:off x="2651760" y="6217920"/>
            <a:ext cx="146304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651760" y="6217920"/>
            <a:ext cx="146304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4,997</a:t>
            </a:r>
          </a:p>
        </p:txBody>
      </p:sp>
      <p:sp>
        <p:nvSpPr>
          <p:cNvPr id="124" name="Rectangle 123"/>
          <p:cNvSpPr/>
          <p:nvPr/>
        </p:nvSpPr>
        <p:spPr>
          <a:xfrm>
            <a:off x="4114800" y="6217920"/>
            <a:ext cx="18288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114800" y="6217920"/>
            <a:ext cx="182880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322.2</a:t>
            </a:r>
          </a:p>
        </p:txBody>
      </p:sp>
      <p:sp>
        <p:nvSpPr>
          <p:cNvPr id="126" name="Rectangle 125"/>
          <p:cNvSpPr/>
          <p:nvPr/>
        </p:nvSpPr>
        <p:spPr>
          <a:xfrm>
            <a:off x="5943600" y="6217920"/>
            <a:ext cx="10972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943600" y="6217920"/>
            <a:ext cx="1097280" cy="292608"/>
          </a:xfrm>
          <a:prstGeom prst="rect">
            <a:avLst/>
          </a:prstGeom>
          <a:noFill/>
        </p:spPr>
        <p:txBody>
          <a:bodyPr wrap="square" anchor="ctr" lIns="45720" rIns="45720" tIns="18288" bIns="18288">
            <a:spAutoFit/>
          </a:bodyPr>
          <a:lstStyle/>
          <a:p>
            <a:pPr algn="ctr"/>
            <a:r>
              <a:rPr sz="1100" b="0" i="0">
                <a:solidFill>
                  <a:srgbClr val="1A1A1A"/>
                </a:solidFill>
                <a:latin typeface="Calibri"/>
              </a:rPr>
              <a:t>0.945</a:t>
            </a:r>
          </a:p>
        </p:txBody>
      </p:sp>
      <p:sp>
        <p:nvSpPr>
          <p:cNvPr id="128" name="TextBox 127"/>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129" name="TextBox 128"/>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Iteration Journey</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From naive prototype to production ensemble</a:t>
            </a:r>
          </a:p>
        </p:txBody>
      </p:sp>
      <p:sp>
        <p:nvSpPr>
          <p:cNvPr id="5" name="Rectangle 4"/>
          <p:cNvSpPr/>
          <p:nvPr/>
        </p:nvSpPr>
        <p:spPr>
          <a:xfrm>
            <a:off x="457200" y="1188720"/>
            <a:ext cx="365760" cy="1371600"/>
          </a:xfrm>
          <a:prstGeom prst="rect">
            <a:avLst/>
          </a:prstGeom>
          <a:solidFill>
            <a:srgbClr val="DC3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188720"/>
            <a:ext cx="10835640" cy="1371600"/>
          </a:xfrm>
          <a:prstGeom prst="rect">
            <a:avLst/>
          </a:prstGeom>
          <a:solidFill>
            <a:srgbClr val="F6F8FB"/>
          </a:solidFill>
          <a:ln w="9525">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234440"/>
            <a:ext cx="10058400" cy="365760"/>
          </a:xfrm>
          <a:prstGeom prst="rect">
            <a:avLst/>
          </a:prstGeom>
          <a:noFill/>
        </p:spPr>
        <p:txBody>
          <a:bodyPr wrap="square" anchor="t" lIns="45720" rIns="45720" tIns="18288" bIns="18288">
            <a:spAutoFit/>
          </a:bodyPr>
          <a:lstStyle/>
          <a:p>
            <a:pPr algn="l"/>
            <a:r>
              <a:rPr sz="1500" b="1" i="0">
                <a:solidFill>
                  <a:srgbClr val="DC3545"/>
                </a:solidFill>
                <a:latin typeface="Calibri"/>
              </a:rPr>
              <a:t>Iteration 1</a:t>
            </a:r>
          </a:p>
        </p:txBody>
      </p:sp>
      <p:sp>
        <p:nvSpPr>
          <p:cNvPr id="8" name="TextBox 7"/>
          <p:cNvSpPr txBox="1"/>
          <p:nvPr/>
        </p:nvSpPr>
        <p:spPr>
          <a:xfrm>
            <a:off x="1051560" y="1554480"/>
            <a:ext cx="10058400" cy="365760"/>
          </a:xfrm>
          <a:prstGeom prst="rect">
            <a:avLst/>
          </a:prstGeom>
          <a:noFill/>
        </p:spPr>
        <p:txBody>
          <a:bodyPr wrap="square" anchor="t" lIns="45720" rIns="45720" tIns="18288" bIns="18288">
            <a:spAutoFit/>
          </a:bodyPr>
          <a:lstStyle/>
          <a:p>
            <a:pPr algn="l"/>
            <a:r>
              <a:rPr sz="1100" b="0" i="1">
                <a:solidFill>
                  <a:srgbClr val="555F6B"/>
                </a:solidFill>
                <a:latin typeface="Calibri"/>
              </a:rPr>
              <a:t>15-engine fleet · 11/2/1 split · no censoring fix</a:t>
            </a:r>
          </a:p>
        </p:txBody>
      </p:sp>
      <p:sp>
        <p:nvSpPr>
          <p:cNvPr id="9" name="TextBox 8"/>
          <p:cNvSpPr txBox="1"/>
          <p:nvPr/>
        </p:nvSpPr>
        <p:spPr>
          <a:xfrm>
            <a:off x="1051560" y="1874519"/>
            <a:ext cx="10424160" cy="640080"/>
          </a:xfrm>
          <a:prstGeom prst="rect">
            <a:avLst/>
          </a:prstGeom>
          <a:noFill/>
        </p:spPr>
        <p:txBody>
          <a:bodyPr wrap="square" anchor="t" lIns="45720" rIns="45720" tIns="18288" bIns="18288">
            <a:spAutoFit/>
          </a:bodyPr>
          <a:lstStyle/>
          <a:p>
            <a:pPr algn="l"/>
            <a:r>
              <a:rPr sz="1150" b="0" i="0">
                <a:solidFill>
                  <a:srgbClr val="1A1A1A"/>
                </a:solidFill>
                <a:latin typeface="Calibri"/>
              </a:rPr>
              <a:t>Aggregate R squared 0.96 looked great — but per-engine breakdown contradicted it. Diagnosis: bug in cell 12, comparing scaled residual against absolute RCL.</a:t>
            </a:r>
          </a:p>
        </p:txBody>
      </p:sp>
      <p:sp>
        <p:nvSpPr>
          <p:cNvPr id="10" name="Rectangle 9"/>
          <p:cNvSpPr/>
          <p:nvPr/>
        </p:nvSpPr>
        <p:spPr>
          <a:xfrm>
            <a:off x="457200" y="2697480"/>
            <a:ext cx="365760" cy="137160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697480"/>
            <a:ext cx="10835640" cy="1371600"/>
          </a:xfrm>
          <a:prstGeom prst="rect">
            <a:avLst/>
          </a:prstGeom>
          <a:solidFill>
            <a:srgbClr val="F6F8FB"/>
          </a:solidFill>
          <a:ln w="9525">
            <a:solidFill>
              <a:srgbClr val="F0A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743200"/>
            <a:ext cx="10058400" cy="365760"/>
          </a:xfrm>
          <a:prstGeom prst="rect">
            <a:avLst/>
          </a:prstGeom>
          <a:noFill/>
        </p:spPr>
        <p:txBody>
          <a:bodyPr wrap="square" anchor="t" lIns="45720" rIns="45720" tIns="18288" bIns="18288">
            <a:spAutoFit/>
          </a:bodyPr>
          <a:lstStyle/>
          <a:p>
            <a:pPr algn="l"/>
            <a:r>
              <a:rPr sz="1500" b="1" i="0">
                <a:solidFill>
                  <a:srgbClr val="F0AD4E"/>
                </a:solidFill>
                <a:latin typeface="Calibri"/>
              </a:rPr>
              <a:t>Iteration 2</a:t>
            </a:r>
          </a:p>
        </p:txBody>
      </p:sp>
      <p:sp>
        <p:nvSpPr>
          <p:cNvPr id="13" name="TextBox 12"/>
          <p:cNvSpPr txBox="1"/>
          <p:nvPr/>
        </p:nvSpPr>
        <p:spPr>
          <a:xfrm>
            <a:off x="1051560" y="3063240"/>
            <a:ext cx="10058400" cy="365760"/>
          </a:xfrm>
          <a:prstGeom prst="rect">
            <a:avLst/>
          </a:prstGeom>
          <a:noFill/>
        </p:spPr>
        <p:txBody>
          <a:bodyPr wrap="square" anchor="t" lIns="45720" rIns="45720" tIns="18288" bIns="18288">
            <a:spAutoFit/>
          </a:bodyPr>
          <a:lstStyle/>
          <a:p>
            <a:pPr algn="l"/>
            <a:r>
              <a:rPr sz="1100" b="0" i="1">
                <a:solidFill>
                  <a:srgbClr val="555F6B"/>
                </a:solidFill>
                <a:latin typeface="Calibri"/>
              </a:rPr>
              <a:t>48-engine fleet · stratified 5/5/38 split · cell 12 bug fixed</a:t>
            </a:r>
          </a:p>
        </p:txBody>
      </p:sp>
      <p:sp>
        <p:nvSpPr>
          <p:cNvPr id="14" name="TextBox 13"/>
          <p:cNvSpPr txBox="1"/>
          <p:nvPr/>
        </p:nvSpPr>
        <p:spPr>
          <a:xfrm>
            <a:off x="1051560" y="3383280"/>
            <a:ext cx="10424160" cy="640080"/>
          </a:xfrm>
          <a:prstGeom prst="rect">
            <a:avLst/>
          </a:prstGeom>
          <a:noFill/>
        </p:spPr>
        <p:txBody>
          <a:bodyPr wrap="square" anchor="t" lIns="45720" rIns="45720" tIns="18288" bIns="18288">
            <a:spAutoFit/>
          </a:bodyPr>
          <a:lstStyle/>
          <a:p>
            <a:pPr algn="l"/>
            <a:r>
              <a:rPr sz="1150" b="0" i="0">
                <a:solidFill>
                  <a:srgbClr val="1A1A1A"/>
                </a:solidFill>
                <a:latin typeface="Calibri"/>
              </a:rPr>
              <a:t>Per-engine MAE 99-1,433 cycles. Short-life engines failed catastrophically (R squared -1.5 to -6.9). Diagnosis: their max_cycle was censored, not retirement.</a:t>
            </a:r>
          </a:p>
        </p:txBody>
      </p:sp>
      <p:sp>
        <p:nvSpPr>
          <p:cNvPr id="15" name="Rectangle 14"/>
          <p:cNvSpPr/>
          <p:nvPr/>
        </p:nvSpPr>
        <p:spPr>
          <a:xfrm>
            <a:off x="457200" y="4206240"/>
            <a:ext cx="365760" cy="1371600"/>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8680" y="4206240"/>
            <a:ext cx="10835640" cy="137160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251959"/>
            <a:ext cx="10058400" cy="365760"/>
          </a:xfrm>
          <a:prstGeom prst="rect">
            <a:avLst/>
          </a:prstGeom>
          <a:noFill/>
        </p:spPr>
        <p:txBody>
          <a:bodyPr wrap="square" anchor="t" lIns="45720" rIns="45720" tIns="18288" bIns="18288">
            <a:spAutoFit/>
          </a:bodyPr>
          <a:lstStyle/>
          <a:p>
            <a:pPr algn="l"/>
            <a:r>
              <a:rPr sz="1500" b="1" i="0">
                <a:solidFill>
                  <a:srgbClr val="28A745"/>
                </a:solidFill>
                <a:latin typeface="Calibri"/>
              </a:rPr>
              <a:t>Iteration 3</a:t>
            </a:r>
          </a:p>
        </p:txBody>
      </p:sp>
      <p:sp>
        <p:nvSpPr>
          <p:cNvPr id="18" name="TextBox 17"/>
          <p:cNvSpPr txBox="1"/>
          <p:nvPr/>
        </p:nvSpPr>
        <p:spPr>
          <a:xfrm>
            <a:off x="1051560" y="4572000"/>
            <a:ext cx="10058400" cy="365760"/>
          </a:xfrm>
          <a:prstGeom prst="rect">
            <a:avLst/>
          </a:prstGeom>
          <a:noFill/>
        </p:spPr>
        <p:txBody>
          <a:bodyPr wrap="square" anchor="t" lIns="45720" rIns="45720" tIns="18288" bIns="18288">
            <a:spAutoFit/>
          </a:bodyPr>
          <a:lstStyle/>
          <a:p>
            <a:pPr algn="l"/>
            <a:r>
              <a:rPr sz="1100" b="0" i="1">
                <a:solidFill>
                  <a:srgbClr val="555F6B"/>
                </a:solidFill>
                <a:latin typeface="Calibri"/>
              </a:rPr>
              <a:t>Censoring-aware RCL labels via empirical fleet prior</a:t>
            </a:r>
          </a:p>
        </p:txBody>
      </p:sp>
      <p:sp>
        <p:nvSpPr>
          <p:cNvPr id="19" name="TextBox 18"/>
          <p:cNvSpPr txBox="1"/>
          <p:nvPr/>
        </p:nvSpPr>
        <p:spPr>
          <a:xfrm>
            <a:off x="1051560" y="4892040"/>
            <a:ext cx="10424160" cy="640080"/>
          </a:xfrm>
          <a:prstGeom prst="rect">
            <a:avLst/>
          </a:prstGeom>
          <a:noFill/>
        </p:spPr>
        <p:txBody>
          <a:bodyPr wrap="square" anchor="t" lIns="45720" rIns="45720" tIns="18288" bIns="18288">
            <a:spAutoFit/>
          </a:bodyPr>
          <a:lstStyle/>
          <a:p>
            <a:pPr algn="l"/>
            <a:r>
              <a:rPr sz="1150" b="0" i="0">
                <a:solidFill>
                  <a:srgbClr val="1A1A1A"/>
                </a:solidFill>
                <a:latin typeface="Calibri"/>
              </a:rPr>
              <a:t>Per-engine MAE 99-322 cycles. Every engine R squared in [0.936, 0.983]. Failure mode eliminated. This is the version deployed today.</a:t>
            </a:r>
          </a:p>
        </p:txBody>
      </p:sp>
      <p:sp>
        <p:nvSpPr>
          <p:cNvPr id="20" name="TextBox 19"/>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21" name="TextBox 20"/>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System Architecture</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From sensor data to deployed inference</a:t>
            </a:r>
          </a:p>
        </p:txBody>
      </p:sp>
      <p:sp>
        <p:nvSpPr>
          <p:cNvPr id="5" name="Rectangle 4"/>
          <p:cNvSpPr/>
          <p:nvPr/>
        </p:nvSpPr>
        <p:spPr>
          <a:xfrm>
            <a:off x="914400" y="1188720"/>
            <a:ext cx="2011680" cy="64008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188720"/>
            <a:ext cx="2011680" cy="640080"/>
          </a:xfrm>
          <a:prstGeom prst="rect">
            <a:avLst/>
          </a:prstGeom>
          <a:noFill/>
        </p:spPr>
        <p:txBody>
          <a:bodyPr wrap="square" anchor="ctr" lIns="45720" rIns="45720" tIns="18288" bIns="18288">
            <a:spAutoFit/>
          </a:bodyPr>
          <a:lstStyle/>
          <a:p>
            <a:pPr algn="ctr"/>
            <a:r>
              <a:rPr sz="1100" b="1" i="0">
                <a:solidFill>
                  <a:srgbClr val="FFFFFF"/>
                </a:solidFill>
                <a:latin typeface="Calibri"/>
              </a:rPr>
              <a:t>Raw sensor CSV</a:t>
            </a:r>
          </a:p>
        </p:txBody>
      </p:sp>
      <p:sp>
        <p:nvSpPr>
          <p:cNvPr id="7" name="Rectangle 6"/>
          <p:cNvSpPr/>
          <p:nvPr/>
        </p:nvSpPr>
        <p:spPr>
          <a:xfrm>
            <a:off x="914400" y="2011680"/>
            <a:ext cx="2011680" cy="64008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2011680" cy="640080"/>
          </a:xfrm>
          <a:prstGeom prst="rect">
            <a:avLst/>
          </a:prstGeom>
          <a:noFill/>
        </p:spPr>
        <p:txBody>
          <a:bodyPr wrap="square" anchor="ctr" lIns="45720" rIns="45720" tIns="18288" bIns="18288">
            <a:spAutoFit/>
          </a:bodyPr>
          <a:lstStyle/>
          <a:p>
            <a:pPr algn="ctr"/>
            <a:r>
              <a:rPr sz="1100" b="1" i="0">
                <a:solidFill>
                  <a:srgbClr val="FFFFFF"/>
                </a:solidFill>
                <a:latin typeface="Calibri"/>
              </a:rPr>
              <a:t>Cleaning notebook</a:t>
            </a:r>
          </a:p>
        </p:txBody>
      </p:sp>
      <p:sp>
        <p:nvSpPr>
          <p:cNvPr id="9" name="Rectangle 8"/>
          <p:cNvSpPr/>
          <p:nvPr/>
        </p:nvSpPr>
        <p:spPr>
          <a:xfrm>
            <a:off x="914400" y="2834640"/>
            <a:ext cx="2011680" cy="640080"/>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34640"/>
            <a:ext cx="2011680" cy="640080"/>
          </a:xfrm>
          <a:prstGeom prst="rect">
            <a:avLst/>
          </a:prstGeom>
          <a:noFill/>
        </p:spPr>
        <p:txBody>
          <a:bodyPr wrap="square" anchor="ctr" lIns="45720" rIns="45720" tIns="18288" bIns="18288">
            <a:spAutoFit/>
          </a:bodyPr>
          <a:lstStyle/>
          <a:p>
            <a:pPr algn="ctr"/>
            <a:r>
              <a:rPr sz="1100" b="1" i="0">
                <a:solidFill>
                  <a:srgbClr val="FFFFFF"/>
                </a:solidFill>
                <a:latin typeface="Calibri"/>
              </a:rPr>
              <a:t>Cleaned CSV (49 engines)</a:t>
            </a:r>
          </a:p>
        </p:txBody>
      </p:sp>
      <p:sp>
        <p:nvSpPr>
          <p:cNvPr id="11" name="Rectangle 10"/>
          <p:cNvSpPr/>
          <p:nvPr/>
        </p:nvSpPr>
        <p:spPr>
          <a:xfrm>
            <a:off x="914400" y="3657600"/>
            <a:ext cx="2011680" cy="64008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57600"/>
            <a:ext cx="2011680" cy="640080"/>
          </a:xfrm>
          <a:prstGeom prst="rect">
            <a:avLst/>
          </a:prstGeom>
          <a:noFill/>
        </p:spPr>
        <p:txBody>
          <a:bodyPr wrap="square" anchor="ctr" lIns="45720" rIns="45720" tIns="18288" bIns="18288">
            <a:spAutoFit/>
          </a:bodyPr>
          <a:lstStyle/>
          <a:p>
            <a:pPr algn="ctr"/>
            <a:r>
              <a:rPr sz="1100" b="1" i="0">
                <a:solidFill>
                  <a:srgbClr val="FFFFFF"/>
                </a:solidFill>
                <a:latin typeface="Calibri"/>
              </a:rPr>
              <a:t>Lstm_PM_py.ipynb</a:t>
            </a:r>
          </a:p>
        </p:txBody>
      </p:sp>
      <p:sp>
        <p:nvSpPr>
          <p:cNvPr id="13" name="Rectangle 12"/>
          <p:cNvSpPr/>
          <p:nvPr/>
        </p:nvSpPr>
        <p:spPr>
          <a:xfrm>
            <a:off x="914400" y="4480560"/>
            <a:ext cx="2011680" cy="64008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80560"/>
            <a:ext cx="2011680" cy="640080"/>
          </a:xfrm>
          <a:prstGeom prst="rect">
            <a:avLst/>
          </a:prstGeom>
          <a:noFill/>
        </p:spPr>
        <p:txBody>
          <a:bodyPr wrap="square" anchor="ctr" lIns="45720" rIns="45720" tIns="18288" bIns="18288">
            <a:spAutoFit/>
          </a:bodyPr>
          <a:lstStyle/>
          <a:p>
            <a:pPr algn="ctr"/>
            <a:r>
              <a:rPr sz="1100" b="1" i="0">
                <a:solidFill>
                  <a:srgbClr val="FFFFFF"/>
                </a:solidFill>
                <a:latin typeface="Calibri"/>
              </a:rPr>
              <a:t>3 .keras artifacts</a:t>
            </a:r>
          </a:p>
        </p:txBody>
      </p:sp>
      <p:sp>
        <p:nvSpPr>
          <p:cNvPr id="15" name="Rectangle 14"/>
          <p:cNvSpPr/>
          <p:nvPr/>
        </p:nvSpPr>
        <p:spPr>
          <a:xfrm>
            <a:off x="914400" y="5303520"/>
            <a:ext cx="2011680" cy="640080"/>
          </a:xfrm>
          <a:prstGeom prst="rect">
            <a:avLst/>
          </a:prstGeom>
          <a:solidFill>
            <a:srgbClr val="DC3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03520"/>
            <a:ext cx="2011680" cy="640080"/>
          </a:xfrm>
          <a:prstGeom prst="rect">
            <a:avLst/>
          </a:prstGeom>
          <a:noFill/>
        </p:spPr>
        <p:txBody>
          <a:bodyPr wrap="square" anchor="ctr" lIns="45720" rIns="45720" tIns="18288" bIns="18288">
            <a:spAutoFit/>
          </a:bodyPr>
          <a:lstStyle/>
          <a:p>
            <a:pPr algn="ctr"/>
            <a:r>
              <a:rPr sz="1100" b="1" i="0">
                <a:solidFill>
                  <a:srgbClr val="FFFFFF"/>
                </a:solidFill>
                <a:latin typeface="Calibri"/>
              </a:rPr>
              <a:t>FastAPI :8001</a:t>
            </a:r>
          </a:p>
        </p:txBody>
      </p:sp>
      <p:sp>
        <p:nvSpPr>
          <p:cNvPr id="17" name="Down Arrow 16"/>
          <p:cNvSpPr/>
          <p:nvPr/>
        </p:nvSpPr>
        <p:spPr>
          <a:xfrm>
            <a:off x="1828800" y="1828800"/>
            <a:ext cx="182880" cy="182880"/>
          </a:xfrm>
          <a:prstGeom prst="down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1828800" y="2651760"/>
            <a:ext cx="182880" cy="182880"/>
          </a:xfrm>
          <a:prstGeom prst="down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1828800" y="3474720"/>
            <a:ext cx="182880" cy="182880"/>
          </a:xfrm>
          <a:prstGeom prst="down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1828800" y="4297680"/>
            <a:ext cx="182880" cy="182880"/>
          </a:xfrm>
          <a:prstGeom prst="down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1828800" y="5120640"/>
            <a:ext cx="182880" cy="182880"/>
          </a:xfrm>
          <a:prstGeom prst="down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0" y="1188720"/>
            <a:ext cx="7680960" cy="365760"/>
          </a:xfrm>
          <a:prstGeom prst="rect">
            <a:avLst/>
          </a:prstGeom>
          <a:noFill/>
        </p:spPr>
        <p:txBody>
          <a:bodyPr wrap="square" anchor="t" lIns="45720" rIns="45720" tIns="18288" bIns="18288">
            <a:spAutoFit/>
          </a:bodyPr>
          <a:lstStyle/>
          <a:p>
            <a:pPr algn="l"/>
            <a:r>
              <a:rPr sz="1500" b="1" i="0">
                <a:solidFill>
                  <a:srgbClr val="0B2A4A"/>
                </a:solidFill>
                <a:latin typeface="Calibri"/>
              </a:rPr>
              <a:t>Production Serving</a:t>
            </a:r>
          </a:p>
        </p:txBody>
      </p:sp>
      <p:sp>
        <p:nvSpPr>
          <p:cNvPr id="23" name="TextBox 22"/>
          <p:cNvSpPr txBox="1"/>
          <p:nvPr/>
        </p:nvSpPr>
        <p:spPr>
          <a:xfrm>
            <a:off x="4297680" y="1554480"/>
            <a:ext cx="7315200" cy="2194560"/>
          </a:xfrm>
          <a:prstGeom prst="rect">
            <a:avLst/>
          </a:prstGeom>
          <a:noFill/>
        </p:spPr>
        <p:txBody>
          <a:bodyPr wrap="square">
            <a:spAutoFit/>
          </a:bodyPr>
          <a:lstStyle/>
          <a:p>
            <a:pPr algn="l">
              <a:spcAft>
                <a:spcPts val="400"/>
              </a:spcAft>
            </a:pPr>
            <a:r>
              <a:rPr sz="1150" b="1">
                <a:solidFill>
                  <a:srgbClr val="007BFF"/>
                </a:solidFill>
              </a:rPr>
              <a:t>■  </a:t>
            </a:r>
            <a:r>
              <a:rPr sz="1150">
                <a:solidFill>
                  <a:srgbClr val="1A1A1A"/>
                </a:solidFill>
              </a:rPr>
              <a:t>FastAPI on :8001 — POST /predict, GET /health, /schema, /metrics</a:t>
            </a:r>
          </a:p>
          <a:p>
            <a:pPr algn="l">
              <a:spcAft>
                <a:spcPts val="400"/>
              </a:spcAft>
            </a:pPr>
            <a:r>
              <a:rPr sz="1150" b="1">
                <a:solidFill>
                  <a:srgbClr val="007BFF"/>
                </a:solidFill>
              </a:rPr>
              <a:t>■  </a:t>
            </a:r>
            <a:r>
              <a:rPr sz="1150">
                <a:solidFill>
                  <a:srgbClr val="1A1A1A"/>
                </a:solidFill>
              </a:rPr>
              <a:t>CSV-upload frontend (index.html) — auto-derives time + one-hot features</a:t>
            </a:r>
          </a:p>
          <a:p>
            <a:pPr algn="l">
              <a:spcAft>
                <a:spcPts val="400"/>
              </a:spcAft>
            </a:pPr>
            <a:r>
              <a:rPr sz="1150" b="1">
                <a:solidFill>
                  <a:srgbClr val="007BFF"/>
                </a:solidFill>
              </a:rPr>
              <a:t>■  </a:t>
            </a:r>
            <a:r>
              <a:rPr sz="1150">
                <a:solidFill>
                  <a:srgbClr val="1A1A1A"/>
                </a:solidFill>
              </a:rPr>
              <a:t>Sequence input: 40 consecutive flights — (1, 40, 20) tensor</a:t>
            </a:r>
          </a:p>
          <a:p>
            <a:pPr algn="l">
              <a:spcAft>
                <a:spcPts val="400"/>
              </a:spcAft>
            </a:pPr>
            <a:r>
              <a:rPr sz="1150" b="1">
                <a:solidFill>
                  <a:srgbClr val="007BFF"/>
                </a:solidFill>
              </a:rPr>
              <a:t>■  </a:t>
            </a:r>
            <a:r>
              <a:rPr sz="1150">
                <a:solidFill>
                  <a:srgbClr val="1A1A1A"/>
                </a:solidFill>
              </a:rPr>
              <a:t>Output: ensemble RCL + per-model breakdown + warnings</a:t>
            </a:r>
          </a:p>
          <a:p>
            <a:pPr algn="l">
              <a:spcAft>
                <a:spcPts val="400"/>
              </a:spcAft>
            </a:pPr>
            <a:r>
              <a:rPr sz="1150" b="1">
                <a:solidFill>
                  <a:srgbClr val="007BFF"/>
                </a:solidFill>
              </a:rPr>
              <a:t>■  </a:t>
            </a:r>
            <a:r>
              <a:rPr sz="1150">
                <a:solidFill>
                  <a:srgbClr val="1A1A1A"/>
                </a:solidFill>
              </a:rPr>
              <a:t>Containerised: Dockerfile + .dockerignore (~200 MB image)</a:t>
            </a:r>
          </a:p>
        </p:txBody>
      </p:sp>
      <p:sp>
        <p:nvSpPr>
          <p:cNvPr id="24" name="TextBox 23"/>
          <p:cNvSpPr txBox="1"/>
          <p:nvPr/>
        </p:nvSpPr>
        <p:spPr>
          <a:xfrm>
            <a:off x="4114800" y="3749039"/>
            <a:ext cx="7680960" cy="365760"/>
          </a:xfrm>
          <a:prstGeom prst="rect">
            <a:avLst/>
          </a:prstGeom>
          <a:noFill/>
        </p:spPr>
        <p:txBody>
          <a:bodyPr wrap="square" anchor="t" lIns="45720" rIns="45720" tIns="18288" bIns="18288">
            <a:spAutoFit/>
          </a:bodyPr>
          <a:lstStyle/>
          <a:p>
            <a:pPr algn="l"/>
            <a:r>
              <a:rPr sz="1500" b="1" i="0">
                <a:solidFill>
                  <a:srgbClr val="0B2A4A"/>
                </a:solidFill>
                <a:latin typeface="Calibri"/>
              </a:rPr>
              <a:t>MLOps Stack</a:t>
            </a:r>
          </a:p>
        </p:txBody>
      </p:sp>
      <p:sp>
        <p:nvSpPr>
          <p:cNvPr id="25" name="TextBox 24"/>
          <p:cNvSpPr txBox="1"/>
          <p:nvPr/>
        </p:nvSpPr>
        <p:spPr>
          <a:xfrm>
            <a:off x="4297680" y="4114800"/>
            <a:ext cx="7315200" cy="2194560"/>
          </a:xfrm>
          <a:prstGeom prst="rect">
            <a:avLst/>
          </a:prstGeom>
          <a:noFill/>
        </p:spPr>
        <p:txBody>
          <a:bodyPr wrap="square">
            <a:spAutoFit/>
          </a:bodyPr>
          <a:lstStyle/>
          <a:p>
            <a:pPr algn="l">
              <a:spcAft>
                <a:spcPts val="400"/>
              </a:spcAft>
            </a:pPr>
            <a:r>
              <a:rPr sz="1150" b="1">
                <a:solidFill>
                  <a:srgbClr val="28A745"/>
                </a:solidFill>
              </a:rPr>
              <a:t>■  </a:t>
            </a:r>
            <a:r>
              <a:rPr sz="1150">
                <a:solidFill>
                  <a:srgbClr val="1A1A1A"/>
                </a:solidFill>
              </a:rPr>
              <a:t>MLflow tracking — every retrain logs metrics, curves, artifacts</a:t>
            </a:r>
          </a:p>
          <a:p>
            <a:pPr algn="l">
              <a:spcAft>
                <a:spcPts val="400"/>
              </a:spcAft>
            </a:pPr>
            <a:r>
              <a:rPr sz="1150" b="1">
                <a:solidFill>
                  <a:srgbClr val="28A745"/>
                </a:solidFill>
              </a:rPr>
              <a:t>■  </a:t>
            </a:r>
            <a:r>
              <a:rPr sz="1150">
                <a:solidFill>
                  <a:srgbClr val="1A1A1A"/>
                </a:solidFill>
              </a:rPr>
              <a:t>Airflow weekly DAG — drift gate, retrain, register, notify</a:t>
            </a:r>
          </a:p>
          <a:p>
            <a:pPr algn="l">
              <a:spcAft>
                <a:spcPts val="400"/>
              </a:spcAft>
            </a:pPr>
            <a:r>
              <a:rPr sz="1150" b="1">
                <a:solidFill>
                  <a:srgbClr val="28A745"/>
                </a:solidFill>
              </a:rPr>
              <a:t>■  </a:t>
            </a:r>
            <a:r>
              <a:rPr sz="1150">
                <a:solidFill>
                  <a:srgbClr val="1A1A1A"/>
                </a:solidFill>
              </a:rPr>
              <a:t>Evidently 0.7 drift detection (Kolmogorov-Smirnov, 50% threshold)</a:t>
            </a:r>
          </a:p>
          <a:p>
            <a:pPr algn="l">
              <a:spcAft>
                <a:spcPts val="400"/>
              </a:spcAft>
            </a:pPr>
            <a:r>
              <a:rPr sz="1150" b="1">
                <a:solidFill>
                  <a:srgbClr val="28A745"/>
                </a:solidFill>
              </a:rPr>
              <a:t>■  </a:t>
            </a:r>
            <a:r>
              <a:rPr sz="1150">
                <a:solidFill>
                  <a:srgbClr val="1A1A1A"/>
                </a:solidFill>
              </a:rPr>
              <a:t>Prometheus /metrics — request rate, latency, error rate per route</a:t>
            </a:r>
          </a:p>
          <a:p>
            <a:pPr algn="l">
              <a:spcAft>
                <a:spcPts val="400"/>
              </a:spcAft>
            </a:pPr>
            <a:r>
              <a:rPr sz="1150" b="1">
                <a:solidFill>
                  <a:srgbClr val="28A745"/>
                </a:solidFill>
              </a:rPr>
              <a:t>■  </a:t>
            </a:r>
            <a:r>
              <a:rPr sz="1150">
                <a:solidFill>
                  <a:srgbClr val="1A1A1A"/>
                </a:solidFill>
              </a:rPr>
              <a:t>29 automated tests across 4 layers, full suite ~50s</a:t>
            </a:r>
          </a:p>
        </p:txBody>
      </p:sp>
      <p:sp>
        <p:nvSpPr>
          <p:cNvPr id="26" name="TextBox 25"/>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27" name="TextBox 26"/>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Live Demo</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What a maintenance engineer sees</a:t>
            </a:r>
          </a:p>
        </p:txBody>
      </p:sp>
      <p:sp>
        <p:nvSpPr>
          <p:cNvPr id="5" name="TextBox 4"/>
          <p:cNvSpPr txBox="1"/>
          <p:nvPr/>
        </p:nvSpPr>
        <p:spPr>
          <a:xfrm>
            <a:off x="457200" y="1097280"/>
            <a:ext cx="10972800" cy="365760"/>
          </a:xfrm>
          <a:prstGeom prst="rect">
            <a:avLst/>
          </a:prstGeom>
          <a:noFill/>
        </p:spPr>
        <p:txBody>
          <a:bodyPr wrap="square" anchor="t" lIns="45720" rIns="45720" tIns="18288" bIns="18288">
            <a:spAutoFit/>
          </a:bodyPr>
          <a:lstStyle/>
          <a:p>
            <a:pPr algn="l"/>
            <a:r>
              <a:rPr sz="1500" b="1" i="0">
                <a:solidFill>
                  <a:srgbClr val="0B2A4A"/>
                </a:solidFill>
                <a:latin typeface="Calibri"/>
              </a:rPr>
              <a:t>Steps in the demo flow</a:t>
            </a:r>
          </a:p>
        </p:txBody>
      </p:sp>
      <p:sp>
        <p:nvSpPr>
          <p:cNvPr id="6" name="TextBox 5"/>
          <p:cNvSpPr txBox="1"/>
          <p:nvPr/>
        </p:nvSpPr>
        <p:spPr>
          <a:xfrm>
            <a:off x="640080" y="1554480"/>
            <a:ext cx="10972800" cy="4114800"/>
          </a:xfrm>
          <a:prstGeom prst="rect">
            <a:avLst/>
          </a:prstGeom>
          <a:noFill/>
        </p:spPr>
        <p:txBody>
          <a:bodyPr wrap="square">
            <a:spAutoFit/>
          </a:bodyPr>
          <a:lstStyle/>
          <a:p>
            <a:pPr algn="l">
              <a:spcAft>
                <a:spcPts val="400"/>
              </a:spcAft>
            </a:pPr>
            <a:r>
              <a:rPr sz="1300" b="1">
                <a:solidFill>
                  <a:srgbClr val="007BFF"/>
                </a:solidFill>
              </a:rPr>
              <a:t>■  </a:t>
            </a:r>
            <a:r>
              <a:rPr sz="1300">
                <a:solidFill>
                  <a:srgbClr val="1A1A1A"/>
                </a:solidFill>
              </a:rPr>
              <a:t>Run python start_servers.py — FastAPI on :8001, static frontend on :8000</a:t>
            </a:r>
          </a:p>
          <a:p>
            <a:pPr algn="l">
              <a:spcAft>
                <a:spcPts val="400"/>
              </a:spcAft>
            </a:pPr>
            <a:r>
              <a:rPr sz="1300" b="1">
                <a:solidFill>
                  <a:srgbClr val="007BFF"/>
                </a:solidFill>
              </a:rPr>
              <a:t>■  </a:t>
            </a:r>
            <a:r>
              <a:rPr sz="1300">
                <a:solidFill>
                  <a:srgbClr val="1A1A1A"/>
                </a:solidFill>
              </a:rPr>
              <a:t>Open http://127.0.0.1:8000/index.html — page polls /health and /schema on load</a:t>
            </a:r>
          </a:p>
          <a:p>
            <a:pPr algn="l">
              <a:spcAft>
                <a:spcPts val="400"/>
              </a:spcAft>
            </a:pPr>
            <a:r>
              <a:rPr sz="1300" b="1">
                <a:solidFill>
                  <a:srgbClr val="007BFF"/>
                </a:solidFill>
              </a:rPr>
              <a:t>■  </a:t>
            </a:r>
            <a:r>
              <a:rPr sz="1300">
                <a:solidFill>
                  <a:srgbClr val="1A1A1A"/>
                </a:solidFill>
              </a:rPr>
              <a:t>Green 'healthy' pill confirms all three models match the schema</a:t>
            </a:r>
          </a:p>
          <a:p>
            <a:pPr algn="l">
              <a:spcAft>
                <a:spcPts val="400"/>
              </a:spcAft>
            </a:pPr>
            <a:r>
              <a:rPr sz="1300" b="1">
                <a:solidFill>
                  <a:srgbClr val="007BFF"/>
                </a:solidFill>
              </a:rPr>
              <a:t>■  </a:t>
            </a:r>
            <a:r>
              <a:rPr sz="1300">
                <a:solidFill>
                  <a:srgbClr val="1A1A1A"/>
                </a:solidFill>
              </a:rPr>
              <a:t>Upload sample_input_40_flights.csv (last 40 flights of one engine)</a:t>
            </a:r>
          </a:p>
          <a:p>
            <a:pPr algn="l">
              <a:spcAft>
                <a:spcPts val="400"/>
              </a:spcAft>
            </a:pPr>
            <a:r>
              <a:rPr sz="1300" b="1">
                <a:solidFill>
                  <a:srgbClr val="007BFF"/>
                </a:solidFill>
              </a:rPr>
              <a:t>■  </a:t>
            </a:r>
            <a:r>
              <a:rPr sz="1300">
                <a:solidFill>
                  <a:srgbClr val="1A1A1A"/>
                </a:solidFill>
              </a:rPr>
              <a:t>Frontend parses CSV, auto-derives sin/cos time encodings + one-hots</a:t>
            </a:r>
          </a:p>
          <a:p>
            <a:pPr algn="l">
              <a:spcAft>
                <a:spcPts val="400"/>
              </a:spcAft>
            </a:pPr>
            <a:r>
              <a:rPr sz="1300" b="1">
                <a:solidFill>
                  <a:srgbClr val="007BFF"/>
                </a:solidFill>
              </a:rPr>
              <a:t>■  </a:t>
            </a:r>
            <a:r>
              <a:rPr sz="1300">
                <a:solidFill>
                  <a:srgbClr val="1A1A1A"/>
                </a:solidFill>
              </a:rPr>
              <a:t>POST /predict returns: RCL_prediction, baseline_rcl, residual, per_model_residuals, warnings</a:t>
            </a:r>
          </a:p>
          <a:p>
            <a:pPr algn="l">
              <a:spcAft>
                <a:spcPts val="400"/>
              </a:spcAft>
            </a:pPr>
            <a:r>
              <a:rPr sz="1300" b="1">
                <a:solidFill>
                  <a:srgbClr val="007BFF"/>
                </a:solidFill>
              </a:rPr>
              <a:t>■  </a:t>
            </a:r>
            <a:r>
              <a:rPr sz="1300">
                <a:solidFill>
                  <a:srgbClr val="1A1A1A"/>
                </a:solidFill>
              </a:rPr>
              <a:t>Result card shows the prediction, the breakdown, and a green/yellow/red health bar</a:t>
            </a:r>
          </a:p>
          <a:p>
            <a:pPr algn="l">
              <a:spcAft>
                <a:spcPts val="400"/>
              </a:spcAft>
            </a:pPr>
            <a:r>
              <a:rPr sz="1300" b="1">
                <a:solidFill>
                  <a:srgbClr val="007BFF"/>
                </a:solidFill>
              </a:rPr>
              <a:t>■  </a:t>
            </a:r>
            <a:r>
              <a:rPr sz="1300">
                <a:solidFill>
                  <a:srgbClr val="1A1A1A"/>
                </a:solidFill>
              </a:rPr>
              <a:t>Optional: select 'LSTM only' / 'GRU only' / 'CNN only' to see per-architecture predictions</a:t>
            </a:r>
          </a:p>
        </p:txBody>
      </p:sp>
      <p:sp>
        <p:nvSpPr>
          <p:cNvPr id="7" name="Rectangle 6"/>
          <p:cNvSpPr/>
          <p:nvPr/>
        </p:nvSpPr>
        <p:spPr>
          <a:xfrm>
            <a:off x="457200" y="5852160"/>
            <a:ext cx="11247120" cy="64008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897880"/>
            <a:ext cx="10972800" cy="548640"/>
          </a:xfrm>
          <a:prstGeom prst="rect">
            <a:avLst/>
          </a:prstGeom>
          <a:noFill/>
        </p:spPr>
        <p:txBody>
          <a:bodyPr wrap="square" anchor="ctr" lIns="45720" rIns="45720" tIns="18288" bIns="18288">
            <a:spAutoFit/>
          </a:bodyPr>
          <a:lstStyle/>
          <a:p>
            <a:pPr algn="l"/>
            <a:r>
              <a:rPr sz="1200" b="0" i="0">
                <a:solidFill>
                  <a:srgbClr val="0B2A4A"/>
                </a:solidFill>
                <a:latin typeface="Calibri"/>
              </a:rPr>
              <a:t>Tip: the per-model spread is itself a signal — wide disagreement = lower confidence; tight agreement = high confidence.</a:t>
            </a:r>
          </a:p>
        </p:txBody>
      </p:sp>
      <p:sp>
        <p:nvSpPr>
          <p:cNvPr id="9" name="TextBox 8"/>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10" name="TextBox 9"/>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Demo — Sample Output</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Prediction on ESN1, latest flight_cycle = 2602</a:t>
            </a:r>
          </a:p>
        </p:txBody>
      </p:sp>
      <p:sp>
        <p:nvSpPr>
          <p:cNvPr id="5" name="Rectangle 4"/>
          <p:cNvSpPr/>
          <p:nvPr/>
        </p:nvSpPr>
        <p:spPr>
          <a:xfrm>
            <a:off x="640080" y="1188720"/>
            <a:ext cx="5943600" cy="521208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5394960" cy="365760"/>
          </a:xfrm>
          <a:prstGeom prst="rect">
            <a:avLst/>
          </a:prstGeom>
          <a:noFill/>
        </p:spPr>
        <p:txBody>
          <a:bodyPr wrap="square" anchor="t" lIns="45720" rIns="45720" tIns="18288" bIns="18288">
            <a:spAutoFit/>
          </a:bodyPr>
          <a:lstStyle/>
          <a:p>
            <a:pPr algn="l"/>
            <a:r>
              <a:rPr sz="1800" b="1" i="0">
                <a:solidFill>
                  <a:srgbClr val="0B2A4A"/>
                </a:solidFill>
                <a:latin typeface="Calibri"/>
              </a:rPr>
              <a:t>Predicted Remaining Cycle Life</a:t>
            </a:r>
          </a:p>
        </p:txBody>
      </p:sp>
      <p:sp>
        <p:nvSpPr>
          <p:cNvPr id="7" name="TextBox 6"/>
          <p:cNvSpPr txBox="1"/>
          <p:nvPr/>
        </p:nvSpPr>
        <p:spPr>
          <a:xfrm>
            <a:off x="914400" y="1965960"/>
            <a:ext cx="5394960" cy="914400"/>
          </a:xfrm>
          <a:prstGeom prst="rect">
            <a:avLst/>
          </a:prstGeom>
          <a:noFill/>
        </p:spPr>
        <p:txBody>
          <a:bodyPr wrap="square" anchor="t" lIns="45720" rIns="45720" tIns="18288" bIns="18288">
            <a:spAutoFit/>
          </a:bodyPr>
          <a:lstStyle/>
          <a:p>
            <a:pPr algn="l"/>
            <a:r>
              <a:rPr sz="4800" b="1" i="0">
                <a:solidFill>
                  <a:srgbClr val="007BFF"/>
                </a:solidFill>
                <a:latin typeface="Calibri"/>
              </a:rPr>
              <a:t>1974 cycles</a:t>
            </a:r>
          </a:p>
        </p:txBody>
      </p:sp>
      <p:sp>
        <p:nvSpPr>
          <p:cNvPr id="8" name="TextBox 7"/>
          <p:cNvSpPr txBox="1"/>
          <p:nvPr/>
        </p:nvSpPr>
        <p:spPr>
          <a:xfrm>
            <a:off x="914400" y="3108960"/>
            <a:ext cx="5394960" cy="365760"/>
          </a:xfrm>
          <a:prstGeom prst="rect">
            <a:avLst/>
          </a:prstGeom>
          <a:noFill/>
        </p:spPr>
        <p:txBody>
          <a:bodyPr wrap="square" anchor="t" lIns="45720" rIns="45720" tIns="18288" bIns="18288">
            <a:spAutoFit/>
          </a:bodyPr>
          <a:lstStyle/>
          <a:p>
            <a:pPr algn="l"/>
            <a:r>
              <a:rPr sz="1300" b="0" i="0">
                <a:solidFill>
                  <a:srgbClr val="1A1A1A"/>
                </a:solidFill>
                <a:latin typeface="Calibri"/>
              </a:rPr>
              <a:t>Model: average</a:t>
            </a:r>
          </a:p>
        </p:txBody>
      </p:sp>
      <p:sp>
        <p:nvSpPr>
          <p:cNvPr id="9" name="TextBox 8"/>
          <p:cNvSpPr txBox="1"/>
          <p:nvPr/>
        </p:nvSpPr>
        <p:spPr>
          <a:xfrm>
            <a:off x="914400" y="3474720"/>
            <a:ext cx="5394960" cy="365760"/>
          </a:xfrm>
          <a:prstGeom prst="rect">
            <a:avLst/>
          </a:prstGeom>
          <a:noFill/>
        </p:spPr>
        <p:txBody>
          <a:bodyPr wrap="square" anchor="t" lIns="45720" rIns="45720" tIns="18288" bIns="18288">
            <a:spAutoFit/>
          </a:bodyPr>
          <a:lstStyle/>
          <a:p>
            <a:pPr algn="l"/>
            <a:r>
              <a:rPr sz="1300" b="0" i="0">
                <a:solidFill>
                  <a:srgbClr val="1A1A1A"/>
                </a:solidFill>
                <a:latin typeface="Calibri"/>
              </a:rPr>
              <a:t>Baseline RCL: 1472 cycles  (= fleet_max_life - latest flight_cycle)</a:t>
            </a:r>
          </a:p>
        </p:txBody>
      </p:sp>
      <p:sp>
        <p:nvSpPr>
          <p:cNvPr id="10" name="TextBox 9"/>
          <p:cNvSpPr txBox="1"/>
          <p:nvPr/>
        </p:nvSpPr>
        <p:spPr>
          <a:xfrm>
            <a:off x="914400" y="3840480"/>
            <a:ext cx="5394960" cy="365760"/>
          </a:xfrm>
          <a:prstGeom prst="rect">
            <a:avLst/>
          </a:prstGeom>
          <a:noFill/>
        </p:spPr>
        <p:txBody>
          <a:bodyPr wrap="square" anchor="t" lIns="45720" rIns="45720" tIns="18288" bIns="18288">
            <a:spAutoFit/>
          </a:bodyPr>
          <a:lstStyle/>
          <a:p>
            <a:pPr algn="l"/>
            <a:r>
              <a:rPr sz="1300" b="0" i="0">
                <a:solidFill>
                  <a:srgbClr val="1A1A1A"/>
                </a:solidFill>
                <a:latin typeface="Calibri"/>
              </a:rPr>
              <a:t>Model residual: +502 cycles</a:t>
            </a:r>
          </a:p>
        </p:txBody>
      </p:sp>
      <p:sp>
        <p:nvSpPr>
          <p:cNvPr id="11" name="TextBox 10"/>
          <p:cNvSpPr txBox="1"/>
          <p:nvPr/>
        </p:nvSpPr>
        <p:spPr>
          <a:xfrm>
            <a:off x="914400" y="4206240"/>
            <a:ext cx="5394960" cy="365760"/>
          </a:xfrm>
          <a:prstGeom prst="rect">
            <a:avLst/>
          </a:prstGeom>
          <a:noFill/>
        </p:spPr>
        <p:txBody>
          <a:bodyPr wrap="square" anchor="t" lIns="45720" rIns="45720" tIns="18288" bIns="18288">
            <a:spAutoFit/>
          </a:bodyPr>
          <a:lstStyle/>
          <a:p>
            <a:pPr algn="l"/>
            <a:r>
              <a:rPr sz="1300" b="0" i="0">
                <a:solidFill>
                  <a:srgbClr val="555F6B"/>
                </a:solidFill>
                <a:latin typeface="Consolas"/>
              </a:rPr>
              <a:t>Per-model residuals:  lstm=+166   gru=+618   cnn=+723</a:t>
            </a:r>
          </a:p>
        </p:txBody>
      </p:sp>
      <p:sp>
        <p:nvSpPr>
          <p:cNvPr id="12" name="Rectangle 11"/>
          <p:cNvSpPr/>
          <p:nvPr/>
        </p:nvSpPr>
        <p:spPr>
          <a:xfrm>
            <a:off x="914400" y="5029200"/>
            <a:ext cx="5394960" cy="32004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029200"/>
            <a:ext cx="2662412" cy="320040"/>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59"/>
            <a:ext cx="1828800" cy="274320"/>
          </a:xfrm>
          <a:prstGeom prst="rect">
            <a:avLst/>
          </a:prstGeom>
          <a:noFill/>
        </p:spPr>
        <p:txBody>
          <a:bodyPr wrap="square" anchor="t" lIns="45720" rIns="45720" tIns="18288" bIns="18288">
            <a:spAutoFit/>
          </a:bodyPr>
          <a:lstStyle/>
          <a:p>
            <a:pPr algn="l"/>
            <a:r>
              <a:rPr sz="1000" b="0" i="0">
                <a:solidFill>
                  <a:srgbClr val="555F6B"/>
                </a:solidFill>
                <a:latin typeface="Calibri"/>
              </a:rPr>
              <a:t>0 cycles</a:t>
            </a:r>
          </a:p>
        </p:txBody>
      </p:sp>
      <p:sp>
        <p:nvSpPr>
          <p:cNvPr id="15" name="TextBox 14"/>
          <p:cNvSpPr txBox="1"/>
          <p:nvPr/>
        </p:nvSpPr>
        <p:spPr>
          <a:xfrm>
            <a:off x="4480560" y="5394959"/>
            <a:ext cx="1828800" cy="274320"/>
          </a:xfrm>
          <a:prstGeom prst="rect">
            <a:avLst/>
          </a:prstGeom>
          <a:noFill/>
        </p:spPr>
        <p:txBody>
          <a:bodyPr wrap="square" anchor="t" lIns="45720" rIns="45720" tIns="18288" bIns="18288">
            <a:spAutoFit/>
          </a:bodyPr>
          <a:lstStyle/>
          <a:p>
            <a:pPr algn="r"/>
            <a:r>
              <a:rPr sz="1000" b="0" i="0">
                <a:solidFill>
                  <a:srgbClr val="555F6B"/>
                </a:solidFill>
                <a:latin typeface="Calibri"/>
              </a:rPr>
              <a:t>/ 4000 cycles</a:t>
            </a:r>
          </a:p>
        </p:txBody>
      </p:sp>
      <p:sp>
        <p:nvSpPr>
          <p:cNvPr id="16" name="TextBox 15"/>
          <p:cNvSpPr txBox="1"/>
          <p:nvPr/>
        </p:nvSpPr>
        <p:spPr>
          <a:xfrm>
            <a:off x="6858000" y="1188720"/>
            <a:ext cx="4937760" cy="365760"/>
          </a:xfrm>
          <a:prstGeom prst="rect">
            <a:avLst/>
          </a:prstGeom>
          <a:noFill/>
        </p:spPr>
        <p:txBody>
          <a:bodyPr wrap="square" anchor="t" lIns="45720" rIns="45720" tIns="18288" bIns="18288">
            <a:spAutoFit/>
          </a:bodyPr>
          <a:lstStyle/>
          <a:p>
            <a:pPr algn="l"/>
            <a:r>
              <a:rPr sz="1500" b="1" i="0">
                <a:solidFill>
                  <a:srgbClr val="0B2A4A"/>
                </a:solidFill>
                <a:latin typeface="Calibri"/>
              </a:rPr>
              <a:t>Interpretation</a:t>
            </a:r>
          </a:p>
        </p:txBody>
      </p:sp>
      <p:sp>
        <p:nvSpPr>
          <p:cNvPr id="17" name="TextBox 16"/>
          <p:cNvSpPr txBox="1"/>
          <p:nvPr/>
        </p:nvSpPr>
        <p:spPr>
          <a:xfrm>
            <a:off x="7040880" y="1554480"/>
            <a:ext cx="4754880" cy="3657600"/>
          </a:xfrm>
          <a:prstGeom prst="rect">
            <a:avLst/>
          </a:prstGeom>
          <a:noFill/>
        </p:spPr>
        <p:txBody>
          <a:bodyPr wrap="square">
            <a:spAutoFit/>
          </a:bodyPr>
          <a:lstStyle/>
          <a:p>
            <a:pPr algn="l">
              <a:spcAft>
                <a:spcPts val="400"/>
              </a:spcAft>
            </a:pPr>
            <a:r>
              <a:rPr sz="1200" b="1">
                <a:solidFill>
                  <a:srgbClr val="007BFF"/>
                </a:solidFill>
              </a:rPr>
              <a:t>■  </a:t>
            </a:r>
            <a:r>
              <a:rPr sz="1200">
                <a:solidFill>
                  <a:srgbClr val="1A1A1A"/>
                </a:solidFill>
              </a:rPr>
              <a:t>Engine has flown 2,602 cycles; predicted to fly 1,974 more before next removal</a:t>
            </a:r>
          </a:p>
          <a:p>
            <a:pPr algn="l">
              <a:spcAft>
                <a:spcPts val="400"/>
              </a:spcAft>
            </a:pPr>
            <a:r>
              <a:rPr sz="1200" b="1">
                <a:solidFill>
                  <a:srgbClr val="007BFF"/>
                </a:solidFill>
              </a:rPr>
              <a:t>■  </a:t>
            </a:r>
            <a:r>
              <a:rPr sz="1200">
                <a:solidFill>
                  <a:srgbClr val="1A1A1A"/>
                </a:solidFill>
              </a:rPr>
              <a:t>Calendar-only baseline says 1,472 — the model adds 502 cycles of insight</a:t>
            </a:r>
          </a:p>
          <a:p>
            <a:pPr algn="l">
              <a:spcAft>
                <a:spcPts val="400"/>
              </a:spcAft>
            </a:pPr>
            <a:r>
              <a:rPr sz="1200" b="1">
                <a:solidFill>
                  <a:srgbClr val="007BFF"/>
                </a:solidFill>
              </a:rPr>
              <a:t>■  </a:t>
            </a:r>
            <a:r>
              <a:rPr sz="1200">
                <a:solidFill>
                  <a:srgbClr val="1A1A1A"/>
                </a:solidFill>
              </a:rPr>
              <a:t>Model is optimistic: this engine looks healthier than fleet average</a:t>
            </a:r>
          </a:p>
          <a:p>
            <a:pPr algn="l">
              <a:spcAft>
                <a:spcPts val="400"/>
              </a:spcAft>
            </a:pPr>
            <a:r>
              <a:rPr sz="1200" b="1">
                <a:solidFill>
                  <a:srgbClr val="007BFF"/>
                </a:solidFill>
              </a:rPr>
              <a:t>■  </a:t>
            </a:r>
            <a:r>
              <a:rPr sz="1200">
                <a:solidFill>
                  <a:srgbClr val="1A1A1A"/>
                </a:solidFill>
              </a:rPr>
              <a:t>Spread (LSTM 1638 to CNN 2195) signals model uncertainty; engineer treats as range</a:t>
            </a:r>
          </a:p>
          <a:p>
            <a:pPr algn="l">
              <a:spcAft>
                <a:spcPts val="400"/>
              </a:spcAft>
            </a:pPr>
            <a:r>
              <a:rPr sz="1200" b="1">
                <a:solidFill>
                  <a:srgbClr val="007BFF"/>
                </a:solidFill>
              </a:rPr>
              <a:t>■  </a:t>
            </a:r>
            <a:r>
              <a:rPr sz="1200">
                <a:solidFill>
                  <a:srgbClr val="1A1A1A"/>
                </a:solidFill>
              </a:rPr>
              <a:t>No clipping warnings — prediction is in normal envelope</a:t>
            </a:r>
          </a:p>
        </p:txBody>
      </p:sp>
      <p:sp>
        <p:nvSpPr>
          <p:cNvPr id="18" name="Rectangle 17"/>
          <p:cNvSpPr/>
          <p:nvPr/>
        </p:nvSpPr>
        <p:spPr>
          <a:xfrm>
            <a:off x="6858000" y="5394960"/>
            <a:ext cx="4937760" cy="91440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5440680"/>
            <a:ext cx="4572000" cy="868680"/>
          </a:xfrm>
          <a:prstGeom prst="rect">
            <a:avLst/>
          </a:prstGeom>
          <a:noFill/>
        </p:spPr>
        <p:txBody>
          <a:bodyPr wrap="square" anchor="ctr" lIns="45720" rIns="45720" tIns="18288" bIns="18288">
            <a:spAutoFit/>
          </a:bodyPr>
          <a:lstStyle/>
          <a:p>
            <a:pPr algn="l"/>
            <a:r>
              <a:rPr sz="1100" b="0" i="0">
                <a:solidFill>
                  <a:srgbClr val="0B2A4A"/>
                </a:solidFill>
                <a:latin typeface="Calibri"/>
              </a:rPr>
              <a:t>Operational read: 'Schedule next inspection no later than ~1,638 cycles from now (LSTM, conservative). Re-check at half that horizon.'</a:t>
            </a:r>
          </a:p>
        </p:txBody>
      </p:sp>
      <p:sp>
        <p:nvSpPr>
          <p:cNvPr id="20" name="TextBox 19"/>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21" name="TextBox 20"/>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Validation &amp; Test Coverage</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29 automated tests, full suite passes in ~50 seconds</a:t>
            </a:r>
          </a:p>
        </p:txBody>
      </p:sp>
      <p:sp>
        <p:nvSpPr>
          <p:cNvPr id="5" name="Rectangle 4"/>
          <p:cNvSpPr/>
          <p:nvPr/>
        </p:nvSpPr>
        <p:spPr>
          <a:xfrm>
            <a:off x="457200" y="1188720"/>
            <a:ext cx="2468880" cy="128016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2468880" cy="704088"/>
          </a:xfrm>
          <a:prstGeom prst="rect">
            <a:avLst/>
          </a:prstGeom>
          <a:noFill/>
        </p:spPr>
        <p:txBody>
          <a:bodyPr wrap="square" anchor="ctr" lIns="45720" rIns="45720" tIns="18288" bIns="18288">
            <a:spAutoFit/>
          </a:bodyPr>
          <a:lstStyle/>
          <a:p>
            <a:pPr algn="ctr"/>
            <a:r>
              <a:rPr sz="4400" b="1" i="0">
                <a:solidFill>
                  <a:srgbClr val="28A745"/>
                </a:solidFill>
                <a:latin typeface="Calibri"/>
              </a:rPr>
              <a:t>29</a:t>
            </a:r>
          </a:p>
        </p:txBody>
      </p:sp>
      <p:sp>
        <p:nvSpPr>
          <p:cNvPr id="7" name="TextBox 6"/>
          <p:cNvSpPr txBox="1"/>
          <p:nvPr/>
        </p:nvSpPr>
        <p:spPr>
          <a:xfrm>
            <a:off x="457200" y="1982419"/>
            <a:ext cx="246888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Tests</a:t>
            </a:r>
          </a:p>
        </p:txBody>
      </p:sp>
      <p:sp>
        <p:nvSpPr>
          <p:cNvPr id="8" name="Rectangle 7"/>
          <p:cNvSpPr/>
          <p:nvPr/>
        </p:nvSpPr>
        <p:spPr>
          <a:xfrm>
            <a:off x="3108960" y="1188720"/>
            <a:ext cx="2468880" cy="128016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325880"/>
            <a:ext cx="2468880" cy="704088"/>
          </a:xfrm>
          <a:prstGeom prst="rect">
            <a:avLst/>
          </a:prstGeom>
          <a:noFill/>
        </p:spPr>
        <p:txBody>
          <a:bodyPr wrap="square" anchor="ctr" lIns="45720" rIns="45720" tIns="18288" bIns="18288">
            <a:spAutoFit/>
          </a:bodyPr>
          <a:lstStyle/>
          <a:p>
            <a:pPr algn="ctr"/>
            <a:r>
              <a:rPr sz="4400" b="1" i="0">
                <a:solidFill>
                  <a:srgbClr val="28A745"/>
                </a:solidFill>
                <a:latin typeface="Calibri"/>
              </a:rPr>
              <a:t>100%</a:t>
            </a:r>
          </a:p>
        </p:txBody>
      </p:sp>
      <p:sp>
        <p:nvSpPr>
          <p:cNvPr id="10" name="TextBox 9"/>
          <p:cNvSpPr txBox="1"/>
          <p:nvPr/>
        </p:nvSpPr>
        <p:spPr>
          <a:xfrm>
            <a:off x="3108960" y="1982419"/>
            <a:ext cx="246888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Pass rate</a:t>
            </a:r>
          </a:p>
        </p:txBody>
      </p:sp>
      <p:sp>
        <p:nvSpPr>
          <p:cNvPr id="11" name="Rectangle 10"/>
          <p:cNvSpPr/>
          <p:nvPr/>
        </p:nvSpPr>
        <p:spPr>
          <a:xfrm>
            <a:off x="5760720" y="1188720"/>
            <a:ext cx="2468880" cy="128016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325880"/>
            <a:ext cx="2468880" cy="704088"/>
          </a:xfrm>
          <a:prstGeom prst="rect">
            <a:avLst/>
          </a:prstGeom>
          <a:noFill/>
        </p:spPr>
        <p:txBody>
          <a:bodyPr wrap="square" anchor="ctr" lIns="45720" rIns="45720" tIns="18288" bIns="18288">
            <a:spAutoFit/>
          </a:bodyPr>
          <a:lstStyle/>
          <a:p>
            <a:pPr algn="ctr"/>
            <a:r>
              <a:rPr sz="4400" b="1" i="0">
                <a:solidFill>
                  <a:srgbClr val="28A745"/>
                </a:solidFill>
                <a:latin typeface="Calibri"/>
              </a:rPr>
              <a:t>50s</a:t>
            </a:r>
          </a:p>
        </p:txBody>
      </p:sp>
      <p:sp>
        <p:nvSpPr>
          <p:cNvPr id="13" name="TextBox 12"/>
          <p:cNvSpPr txBox="1"/>
          <p:nvPr/>
        </p:nvSpPr>
        <p:spPr>
          <a:xfrm>
            <a:off x="5760720" y="1982419"/>
            <a:ext cx="246888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Wall time</a:t>
            </a:r>
          </a:p>
        </p:txBody>
      </p:sp>
      <p:sp>
        <p:nvSpPr>
          <p:cNvPr id="14" name="Rectangle 13"/>
          <p:cNvSpPr/>
          <p:nvPr/>
        </p:nvSpPr>
        <p:spPr>
          <a:xfrm>
            <a:off x="8412480" y="1188720"/>
            <a:ext cx="3200400" cy="128016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325880"/>
            <a:ext cx="3200400" cy="704088"/>
          </a:xfrm>
          <a:prstGeom prst="rect">
            <a:avLst/>
          </a:prstGeom>
          <a:noFill/>
        </p:spPr>
        <p:txBody>
          <a:bodyPr wrap="square" anchor="ctr" lIns="45720" rIns="45720" tIns="18288" bIns="18288">
            <a:spAutoFit/>
          </a:bodyPr>
          <a:lstStyle/>
          <a:p>
            <a:pPr algn="ctr"/>
            <a:r>
              <a:rPr sz="4400" b="1" i="0">
                <a:solidFill>
                  <a:srgbClr val="28A745"/>
                </a:solidFill>
                <a:latin typeface="Calibri"/>
              </a:rPr>
              <a:t>4 layers</a:t>
            </a:r>
          </a:p>
        </p:txBody>
      </p:sp>
      <p:sp>
        <p:nvSpPr>
          <p:cNvPr id="16" name="TextBox 15"/>
          <p:cNvSpPr txBox="1"/>
          <p:nvPr/>
        </p:nvSpPr>
        <p:spPr>
          <a:xfrm>
            <a:off x="8412480" y="1982419"/>
            <a:ext cx="3200400" cy="448055"/>
          </a:xfrm>
          <a:prstGeom prst="rect">
            <a:avLst/>
          </a:prstGeom>
          <a:noFill/>
        </p:spPr>
        <p:txBody>
          <a:bodyPr wrap="square" anchor="ctr" lIns="45720" rIns="45720" tIns="18288" bIns="18288">
            <a:spAutoFit/>
          </a:bodyPr>
          <a:lstStyle/>
          <a:p>
            <a:pPr algn="ctr"/>
            <a:r>
              <a:rPr sz="1200" b="0" i="0">
                <a:solidFill>
                  <a:srgbClr val="555F6B"/>
                </a:solidFill>
                <a:latin typeface="Calibri"/>
              </a:rPr>
              <a:t>Coverage</a:t>
            </a:r>
          </a:p>
        </p:txBody>
      </p:sp>
      <p:sp>
        <p:nvSpPr>
          <p:cNvPr id="17" name="Rectangle 16"/>
          <p:cNvSpPr/>
          <p:nvPr/>
        </p:nvSpPr>
        <p:spPr>
          <a:xfrm>
            <a:off x="457200" y="2926080"/>
            <a:ext cx="3200400" cy="4114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26080"/>
            <a:ext cx="3017520" cy="411480"/>
          </a:xfrm>
          <a:prstGeom prst="rect">
            <a:avLst/>
          </a:prstGeom>
          <a:noFill/>
        </p:spPr>
        <p:txBody>
          <a:bodyPr wrap="square" anchor="ctr" lIns="45720" rIns="45720" tIns="18288" bIns="18288">
            <a:spAutoFit/>
          </a:bodyPr>
          <a:lstStyle/>
          <a:p>
            <a:pPr algn="l"/>
            <a:r>
              <a:rPr sz="1200" b="1" i="0">
                <a:solidFill>
                  <a:srgbClr val="FFFFFF"/>
                </a:solidFill>
                <a:latin typeface="Calibri"/>
              </a:rPr>
              <a:t>Test file</a:t>
            </a:r>
          </a:p>
        </p:txBody>
      </p:sp>
      <p:sp>
        <p:nvSpPr>
          <p:cNvPr id="19" name="Rectangle 18"/>
          <p:cNvSpPr/>
          <p:nvPr/>
        </p:nvSpPr>
        <p:spPr>
          <a:xfrm>
            <a:off x="3657600" y="2926080"/>
            <a:ext cx="6858000" cy="4114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39" y="2926080"/>
            <a:ext cx="6675120" cy="411480"/>
          </a:xfrm>
          <a:prstGeom prst="rect">
            <a:avLst/>
          </a:prstGeom>
          <a:noFill/>
        </p:spPr>
        <p:txBody>
          <a:bodyPr wrap="square" anchor="ctr" lIns="45720" rIns="45720" tIns="18288" bIns="18288">
            <a:spAutoFit/>
          </a:bodyPr>
          <a:lstStyle/>
          <a:p>
            <a:pPr algn="l"/>
            <a:r>
              <a:rPr sz="1200" b="1" i="0">
                <a:solidFill>
                  <a:srgbClr val="FFFFFF"/>
                </a:solidFill>
                <a:latin typeface="Calibri"/>
              </a:rPr>
              <a:t>Layer covered</a:t>
            </a:r>
          </a:p>
        </p:txBody>
      </p:sp>
      <p:sp>
        <p:nvSpPr>
          <p:cNvPr id="21" name="Rectangle 20"/>
          <p:cNvSpPr/>
          <p:nvPr/>
        </p:nvSpPr>
        <p:spPr>
          <a:xfrm>
            <a:off x="10515600" y="2926080"/>
            <a:ext cx="1188720" cy="4114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0" y="2926080"/>
            <a:ext cx="1005840" cy="411480"/>
          </a:xfrm>
          <a:prstGeom prst="rect">
            <a:avLst/>
          </a:prstGeom>
          <a:noFill/>
        </p:spPr>
        <p:txBody>
          <a:bodyPr wrap="square" anchor="ctr" lIns="45720" rIns="45720" tIns="18288" bIns="18288">
            <a:spAutoFit/>
          </a:bodyPr>
          <a:lstStyle/>
          <a:p>
            <a:pPr algn="ctr"/>
            <a:r>
              <a:rPr sz="1200" b="1" i="0">
                <a:solidFill>
                  <a:srgbClr val="FFFFFF"/>
                </a:solidFill>
                <a:latin typeface="Calibri"/>
              </a:rPr>
              <a:t>Tests</a:t>
            </a:r>
          </a:p>
        </p:txBody>
      </p:sp>
      <p:sp>
        <p:nvSpPr>
          <p:cNvPr id="23" name="Rectangle 22"/>
          <p:cNvSpPr/>
          <p:nvPr/>
        </p:nvSpPr>
        <p:spPr>
          <a:xfrm>
            <a:off x="457200" y="3337560"/>
            <a:ext cx="32004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337560"/>
            <a:ext cx="30175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test_api_inference.py</a:t>
            </a:r>
          </a:p>
        </p:txBody>
      </p:sp>
      <p:sp>
        <p:nvSpPr>
          <p:cNvPr id="25" name="Rectangle 24"/>
          <p:cNvSpPr/>
          <p:nvPr/>
        </p:nvSpPr>
        <p:spPr>
          <a:xfrm>
            <a:off x="3657600" y="3337560"/>
            <a:ext cx="68580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49039" y="3337560"/>
            <a:ext cx="66751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/health, /schema, /predict x 4 models, validation</a:t>
            </a:r>
          </a:p>
        </p:txBody>
      </p:sp>
      <p:sp>
        <p:nvSpPr>
          <p:cNvPr id="27" name="Rectangle 26"/>
          <p:cNvSpPr/>
          <p:nvPr/>
        </p:nvSpPr>
        <p:spPr>
          <a:xfrm>
            <a:off x="10515600" y="3337560"/>
            <a:ext cx="11887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0" y="3337560"/>
            <a:ext cx="1005840" cy="411480"/>
          </a:xfrm>
          <a:prstGeom prst="rect">
            <a:avLst/>
          </a:prstGeom>
          <a:noFill/>
        </p:spPr>
        <p:txBody>
          <a:bodyPr wrap="square" anchor="ctr" lIns="45720" rIns="45720" tIns="18288" bIns="18288">
            <a:spAutoFit/>
          </a:bodyPr>
          <a:lstStyle/>
          <a:p>
            <a:pPr algn="ctr"/>
            <a:r>
              <a:rPr sz="1200" b="0" i="0">
                <a:solidFill>
                  <a:srgbClr val="1A1A1A"/>
                </a:solidFill>
                <a:latin typeface="Calibri"/>
              </a:rPr>
              <a:t>13</a:t>
            </a:r>
          </a:p>
        </p:txBody>
      </p:sp>
      <p:sp>
        <p:nvSpPr>
          <p:cNvPr id="29" name="Rectangle 28"/>
          <p:cNvSpPr/>
          <p:nvPr/>
        </p:nvSpPr>
        <p:spPr>
          <a:xfrm>
            <a:off x="457200" y="3749040"/>
            <a:ext cx="3200400" cy="4114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749040"/>
            <a:ext cx="30175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test_data_drift.py</a:t>
            </a:r>
          </a:p>
        </p:txBody>
      </p:sp>
      <p:sp>
        <p:nvSpPr>
          <p:cNvPr id="31" name="Rectangle 30"/>
          <p:cNvSpPr/>
          <p:nvPr/>
        </p:nvSpPr>
        <p:spPr>
          <a:xfrm>
            <a:off x="3657600" y="3749040"/>
            <a:ext cx="6858000" cy="4114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49039" y="3749040"/>
            <a:ext cx="66751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Evidently 0.7 K-S detector, edge cases, env-driven path</a:t>
            </a:r>
          </a:p>
        </p:txBody>
      </p:sp>
      <p:sp>
        <p:nvSpPr>
          <p:cNvPr id="33" name="Rectangle 32"/>
          <p:cNvSpPr/>
          <p:nvPr/>
        </p:nvSpPr>
        <p:spPr>
          <a:xfrm>
            <a:off x="10515600" y="3749040"/>
            <a:ext cx="1188720" cy="4114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07040" y="3749040"/>
            <a:ext cx="1005840" cy="411480"/>
          </a:xfrm>
          <a:prstGeom prst="rect">
            <a:avLst/>
          </a:prstGeom>
          <a:noFill/>
        </p:spPr>
        <p:txBody>
          <a:bodyPr wrap="square" anchor="ctr" lIns="45720" rIns="45720" tIns="18288" bIns="18288">
            <a:spAutoFit/>
          </a:bodyPr>
          <a:lstStyle/>
          <a:p>
            <a:pPr algn="ctr"/>
            <a:r>
              <a:rPr sz="1200" b="0" i="0">
                <a:solidFill>
                  <a:srgbClr val="1A1A1A"/>
                </a:solidFill>
                <a:latin typeface="Calibri"/>
              </a:rPr>
              <a:t>6</a:t>
            </a:r>
          </a:p>
        </p:txBody>
      </p:sp>
      <p:sp>
        <p:nvSpPr>
          <p:cNvPr id="35" name="Rectangle 34"/>
          <p:cNvSpPr/>
          <p:nvPr/>
        </p:nvSpPr>
        <p:spPr>
          <a:xfrm>
            <a:off x="457200" y="4160520"/>
            <a:ext cx="32004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160520"/>
            <a:ext cx="30175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test_train_pipeline.py</a:t>
            </a:r>
          </a:p>
        </p:txBody>
      </p:sp>
      <p:sp>
        <p:nvSpPr>
          <p:cNvPr id="37" name="Rectangle 36"/>
          <p:cNvSpPr/>
          <p:nvPr/>
        </p:nvSpPr>
        <p:spPr>
          <a:xfrm>
            <a:off x="3657600" y="4160520"/>
            <a:ext cx="68580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39" y="4160520"/>
            <a:ext cx="66751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Module imports, SKIP_TRAINING=1 path, MLflow logging</a:t>
            </a:r>
          </a:p>
        </p:txBody>
      </p:sp>
      <p:sp>
        <p:nvSpPr>
          <p:cNvPr id="39" name="Rectangle 38"/>
          <p:cNvSpPr/>
          <p:nvPr/>
        </p:nvSpPr>
        <p:spPr>
          <a:xfrm>
            <a:off x="10515600" y="4160520"/>
            <a:ext cx="11887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07040" y="4160520"/>
            <a:ext cx="1005840" cy="411480"/>
          </a:xfrm>
          <a:prstGeom prst="rect">
            <a:avLst/>
          </a:prstGeom>
          <a:noFill/>
        </p:spPr>
        <p:txBody>
          <a:bodyPr wrap="square" anchor="ctr" lIns="45720" rIns="45720" tIns="18288" bIns="18288">
            <a:spAutoFit/>
          </a:bodyPr>
          <a:lstStyle/>
          <a:p>
            <a:pPr algn="ctr"/>
            <a:r>
              <a:rPr sz="1200" b="0" i="0">
                <a:solidFill>
                  <a:srgbClr val="1A1A1A"/>
                </a:solidFill>
                <a:latin typeface="Calibri"/>
              </a:rPr>
              <a:t>4</a:t>
            </a:r>
          </a:p>
        </p:txBody>
      </p:sp>
      <p:sp>
        <p:nvSpPr>
          <p:cNvPr id="41" name="Rectangle 40"/>
          <p:cNvSpPr/>
          <p:nvPr/>
        </p:nvSpPr>
        <p:spPr>
          <a:xfrm>
            <a:off x="457200" y="4572000"/>
            <a:ext cx="3200400" cy="4114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572000"/>
            <a:ext cx="30175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test_infrastructure.py</a:t>
            </a:r>
          </a:p>
        </p:txBody>
      </p:sp>
      <p:sp>
        <p:nvSpPr>
          <p:cNvPr id="43" name="Rectangle 42"/>
          <p:cNvSpPr/>
          <p:nvPr/>
        </p:nvSpPr>
        <p:spPr>
          <a:xfrm>
            <a:off x="3657600" y="4572000"/>
            <a:ext cx="6858000" cy="4114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749039" y="4572000"/>
            <a:ext cx="6675120" cy="411480"/>
          </a:xfrm>
          <a:prstGeom prst="rect">
            <a:avLst/>
          </a:prstGeom>
          <a:noFill/>
        </p:spPr>
        <p:txBody>
          <a:bodyPr wrap="square" anchor="ctr" lIns="45720" rIns="45720" tIns="18288" bIns="18288">
            <a:spAutoFit/>
          </a:bodyPr>
          <a:lstStyle/>
          <a:p>
            <a:pPr algn="l"/>
            <a:r>
              <a:rPr sz="1200" b="0" i="0">
                <a:solidFill>
                  <a:srgbClr val="1A1A1A"/>
                </a:solidFill>
                <a:latin typeface="Calibri"/>
              </a:rPr>
              <a:t>Dockerfile, .dockerignore, prometheus.yml, /metrics</a:t>
            </a:r>
          </a:p>
        </p:txBody>
      </p:sp>
      <p:sp>
        <p:nvSpPr>
          <p:cNvPr id="45" name="Rectangle 44"/>
          <p:cNvSpPr/>
          <p:nvPr/>
        </p:nvSpPr>
        <p:spPr>
          <a:xfrm>
            <a:off x="10515600" y="4572000"/>
            <a:ext cx="1188720" cy="4114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607040" y="4572000"/>
            <a:ext cx="1005840" cy="411480"/>
          </a:xfrm>
          <a:prstGeom prst="rect">
            <a:avLst/>
          </a:prstGeom>
          <a:noFill/>
        </p:spPr>
        <p:txBody>
          <a:bodyPr wrap="square" anchor="ctr" lIns="45720" rIns="45720" tIns="18288" bIns="18288">
            <a:spAutoFit/>
          </a:bodyPr>
          <a:lstStyle/>
          <a:p>
            <a:pPr algn="ctr"/>
            <a:r>
              <a:rPr sz="1200" b="0" i="0">
                <a:solidFill>
                  <a:srgbClr val="1A1A1A"/>
                </a:solidFill>
                <a:latin typeface="Calibri"/>
              </a:rPr>
              <a:t>6</a:t>
            </a:r>
          </a:p>
        </p:txBody>
      </p:sp>
      <p:sp>
        <p:nvSpPr>
          <p:cNvPr id="47" name="TextBox 46"/>
          <p:cNvSpPr txBox="1"/>
          <p:nvPr/>
        </p:nvSpPr>
        <p:spPr>
          <a:xfrm>
            <a:off x="457200" y="5212080"/>
            <a:ext cx="10972800" cy="365760"/>
          </a:xfrm>
          <a:prstGeom prst="rect">
            <a:avLst/>
          </a:prstGeom>
          <a:noFill/>
        </p:spPr>
        <p:txBody>
          <a:bodyPr wrap="square" anchor="t" lIns="45720" rIns="45720" tIns="18288" bIns="18288">
            <a:spAutoFit/>
          </a:bodyPr>
          <a:lstStyle/>
          <a:p>
            <a:pPr algn="l"/>
            <a:r>
              <a:rPr sz="1400" b="1" i="0">
                <a:solidFill>
                  <a:srgbClr val="0B2A4A"/>
                </a:solidFill>
                <a:latin typeface="Calibri"/>
              </a:rPr>
              <a:t>Plus end-to-end manual verification</a:t>
            </a:r>
          </a:p>
        </p:txBody>
      </p:sp>
      <p:sp>
        <p:nvSpPr>
          <p:cNvPr id="48" name="TextBox 47"/>
          <p:cNvSpPr txBox="1"/>
          <p:nvPr/>
        </p:nvSpPr>
        <p:spPr>
          <a:xfrm>
            <a:off x="640080" y="5577840"/>
            <a:ext cx="10972800" cy="914400"/>
          </a:xfrm>
          <a:prstGeom prst="rect">
            <a:avLst/>
          </a:prstGeom>
          <a:noFill/>
        </p:spPr>
        <p:txBody>
          <a:bodyPr wrap="square">
            <a:spAutoFit/>
          </a:bodyPr>
          <a:lstStyle/>
          <a:p>
            <a:pPr algn="l">
              <a:spcAft>
                <a:spcPts val="400"/>
              </a:spcAft>
            </a:pPr>
            <a:r>
              <a:rPr sz="1150" b="1">
                <a:solidFill>
                  <a:srgbClr val="007BFF"/>
                </a:solidFill>
              </a:rPr>
              <a:t>■  </a:t>
            </a:r>
            <a:r>
              <a:rPr sz="1150">
                <a:solidFill>
                  <a:srgbClr val="1A1A1A"/>
                </a:solidFill>
              </a:rPr>
              <a:t>13 / 19</a:t>
            </a:r>
          </a:p>
          <a:p>
            <a:pPr algn="l">
              <a:spcAft>
                <a:spcPts val="400"/>
              </a:spcAft>
            </a:pPr>
            <a:r>
              <a:rPr sz="1150" b="1">
                <a:solidFill>
                  <a:srgbClr val="007BFF"/>
                </a:solidFill>
              </a:rPr>
              <a:t>■  </a:t>
            </a:r>
            <a:r>
              <a:rPr sz="1150">
                <a:solidFill>
                  <a:srgbClr val="1A1A1A"/>
                </a:solidFill>
              </a:rPr>
              <a:t>Per-model variation confirmed: LSTM=1638, GRU=2090, CNN=2195 (~600-cycle spread, real signal)</a:t>
            </a:r>
          </a:p>
        </p:txBody>
      </p:sp>
      <p:sp>
        <p:nvSpPr>
          <p:cNvPr id="49" name="TextBox 48"/>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50" name="TextBox 49"/>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Diagnostic: Three Architectures, Three Failure Modes</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Permutation importance + sensitivity sweep across LSTM / GRU / CNN</a:t>
            </a:r>
          </a:p>
        </p:txBody>
      </p:sp>
      <p:sp>
        <p:nvSpPr>
          <p:cNvPr id="5" name="Rectangle 4"/>
          <p:cNvSpPr/>
          <p:nvPr/>
        </p:nvSpPr>
        <p:spPr>
          <a:xfrm>
            <a:off x="228600" y="1051560"/>
            <a:ext cx="3886200" cy="3291840"/>
          </a:xfrm>
          <a:prstGeom prst="rect">
            <a:avLst/>
          </a:prstGeom>
          <a:solidFill>
            <a:srgbClr val="F6F8FB"/>
          </a:solidFill>
          <a:ln w="12700">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051560"/>
            <a:ext cx="3886200" cy="548640"/>
          </a:xfrm>
          <a:prstGeom prst="rect">
            <a:avLst/>
          </a:prstGeom>
          <a:solidFill>
            <a:srgbClr val="DC3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051560"/>
            <a:ext cx="3886200" cy="548640"/>
          </a:xfrm>
          <a:prstGeom prst="rect">
            <a:avLst/>
          </a:prstGeom>
          <a:noFill/>
        </p:spPr>
        <p:txBody>
          <a:bodyPr wrap="square" anchor="ctr" lIns="45720" rIns="45720" tIns="18288" bIns="18288">
            <a:spAutoFit/>
          </a:bodyPr>
          <a:lstStyle/>
          <a:p>
            <a:pPr algn="ctr"/>
            <a:r>
              <a:rPr sz="1800" b="1" i="0">
                <a:solidFill>
                  <a:srgbClr val="FFFFFF"/>
                </a:solidFill>
                <a:latin typeface="Calibri"/>
              </a:rPr>
              <a:t>LSTM</a:t>
            </a:r>
          </a:p>
        </p:txBody>
      </p:sp>
      <p:sp>
        <p:nvSpPr>
          <p:cNvPr id="8" name="TextBox 7"/>
          <p:cNvSpPr txBox="1"/>
          <p:nvPr/>
        </p:nvSpPr>
        <p:spPr>
          <a:xfrm>
            <a:off x="320040" y="1645919"/>
            <a:ext cx="3703320" cy="274320"/>
          </a:xfrm>
          <a:prstGeom prst="rect">
            <a:avLst/>
          </a:prstGeom>
          <a:noFill/>
        </p:spPr>
        <p:txBody>
          <a:bodyPr wrap="square" anchor="t" lIns="45720" rIns="45720" tIns="18288" bIns="18288">
            <a:spAutoFit/>
          </a:bodyPr>
          <a:lstStyle/>
          <a:p>
            <a:pPr algn="ctr"/>
            <a:r>
              <a:rPr sz="1000" b="1" i="0">
                <a:solidFill>
                  <a:srgbClr val="DC3545"/>
                </a:solidFill>
                <a:latin typeface="Calibri"/>
              </a:rPr>
              <a:t>TOTAL COLLAPSE</a:t>
            </a:r>
          </a:p>
        </p:txBody>
      </p:sp>
      <p:sp>
        <p:nvSpPr>
          <p:cNvPr id="9" name="TextBox 8"/>
          <p:cNvSpPr txBox="1"/>
          <p:nvPr/>
        </p:nvSpPr>
        <p:spPr>
          <a:xfrm>
            <a:off x="320040" y="1965960"/>
            <a:ext cx="3703320" cy="502920"/>
          </a:xfrm>
          <a:prstGeom prst="rect">
            <a:avLst/>
          </a:prstGeom>
          <a:noFill/>
        </p:spPr>
        <p:txBody>
          <a:bodyPr wrap="square" anchor="ctr" lIns="45720" rIns="45720" tIns="18288" bIns="18288">
            <a:spAutoFit/>
          </a:bodyPr>
          <a:lstStyle/>
          <a:p>
            <a:pPr algn="ctr"/>
            <a:r>
              <a:rPr sz="3200" b="1" i="0">
                <a:solidFill>
                  <a:srgbClr val="0B2A4A"/>
                </a:solidFill>
                <a:latin typeface="Calibri"/>
              </a:rPr>
              <a:t>210</a:t>
            </a:r>
          </a:p>
        </p:txBody>
      </p:sp>
      <p:sp>
        <p:nvSpPr>
          <p:cNvPr id="10" name="TextBox 9"/>
          <p:cNvSpPr txBox="1"/>
          <p:nvPr/>
        </p:nvSpPr>
        <p:spPr>
          <a:xfrm>
            <a:off x="320040" y="2468880"/>
            <a:ext cx="3703320" cy="274320"/>
          </a:xfrm>
          <a:prstGeom prst="rect">
            <a:avLst/>
          </a:prstGeom>
          <a:noFill/>
        </p:spPr>
        <p:txBody>
          <a:bodyPr wrap="square" anchor="t" lIns="45720" rIns="45720" tIns="18288" bIns="18288">
            <a:spAutoFit/>
          </a:bodyPr>
          <a:lstStyle/>
          <a:p>
            <a:pPr algn="ctr"/>
            <a:r>
              <a:rPr sz="900" b="0" i="0">
                <a:solidFill>
                  <a:srgbClr val="555F6B"/>
                </a:solidFill>
                <a:latin typeface="Calibri"/>
              </a:rPr>
              <a:t>Test MAE (deceptively good)</a:t>
            </a:r>
          </a:p>
        </p:txBody>
      </p:sp>
      <p:sp>
        <p:nvSpPr>
          <p:cNvPr id="11" name="TextBox 10"/>
          <p:cNvSpPr txBox="1"/>
          <p:nvPr/>
        </p:nvSpPr>
        <p:spPr>
          <a:xfrm>
            <a:off x="365760" y="2834639"/>
            <a:ext cx="3611880" cy="228600"/>
          </a:xfrm>
          <a:prstGeom prst="rect">
            <a:avLst/>
          </a:prstGeom>
          <a:noFill/>
        </p:spPr>
        <p:txBody>
          <a:bodyPr wrap="square" anchor="t" lIns="45720" rIns="45720" tIns="18288" bIns="18288">
            <a:spAutoFit/>
          </a:bodyPr>
          <a:lstStyle/>
          <a:p>
            <a:pPr algn="l"/>
            <a:r>
              <a:rPr sz="1000" b="1" i="0">
                <a:solidFill>
                  <a:srgbClr val="0B2A4A"/>
                </a:solidFill>
                <a:latin typeface="Calibri"/>
              </a:rPr>
              <a:t>Output diversity</a:t>
            </a:r>
          </a:p>
        </p:txBody>
      </p:sp>
      <p:sp>
        <p:nvSpPr>
          <p:cNvPr id="12" name="TextBox 11"/>
          <p:cNvSpPr txBox="1"/>
          <p:nvPr/>
        </p:nvSpPr>
        <p:spPr>
          <a:xfrm>
            <a:off x="365760" y="3063240"/>
            <a:ext cx="3611880" cy="274320"/>
          </a:xfrm>
          <a:prstGeom prst="rect">
            <a:avLst/>
          </a:prstGeom>
          <a:noFill/>
        </p:spPr>
        <p:txBody>
          <a:bodyPr wrap="square" anchor="t" lIns="45720" rIns="45720" tIns="18288" bIns="18288">
            <a:spAutoFit/>
          </a:bodyPr>
          <a:lstStyle/>
          <a:p>
            <a:pPr algn="l"/>
            <a:r>
              <a:rPr sz="1400" b="1" i="0">
                <a:solidFill>
                  <a:srgbClr val="DC3545"/>
                </a:solidFill>
                <a:latin typeface="Calibri"/>
              </a:rPr>
              <a:t>1 unique value</a:t>
            </a:r>
          </a:p>
        </p:txBody>
      </p:sp>
      <p:sp>
        <p:nvSpPr>
          <p:cNvPr id="13" name="TextBox 12"/>
          <p:cNvSpPr txBox="1"/>
          <p:nvPr/>
        </p:nvSpPr>
        <p:spPr>
          <a:xfrm>
            <a:off x="365760" y="3337560"/>
            <a:ext cx="3611880" cy="274320"/>
          </a:xfrm>
          <a:prstGeom prst="rect">
            <a:avLst/>
          </a:prstGeom>
          <a:noFill/>
        </p:spPr>
        <p:txBody>
          <a:bodyPr wrap="square" anchor="t" lIns="45720" rIns="45720" tIns="18288" bIns="18288">
            <a:spAutoFit/>
          </a:bodyPr>
          <a:lstStyle/>
          <a:p>
            <a:pPr algn="l"/>
            <a:r>
              <a:rPr sz="900" b="0" i="0">
                <a:solidFill>
                  <a:srgbClr val="555F6B"/>
                </a:solidFill>
                <a:latin typeface="Calibri"/>
              </a:rPr>
              <a:t>across 21,865 samples · std = 0.0</a:t>
            </a:r>
          </a:p>
        </p:txBody>
      </p:sp>
      <p:sp>
        <p:nvSpPr>
          <p:cNvPr id="14" name="TextBox 13"/>
          <p:cNvSpPr txBox="1"/>
          <p:nvPr/>
        </p:nvSpPr>
        <p:spPr>
          <a:xfrm>
            <a:off x="365760" y="3657600"/>
            <a:ext cx="3611880" cy="320040"/>
          </a:xfrm>
          <a:prstGeom prst="rect">
            <a:avLst/>
          </a:prstGeom>
          <a:noFill/>
        </p:spPr>
        <p:txBody>
          <a:bodyPr wrap="square" anchor="t" lIns="45720" rIns="45720" tIns="18288" bIns="18288">
            <a:spAutoFit/>
          </a:bodyPr>
          <a:lstStyle/>
          <a:p>
            <a:pPr algn="l"/>
            <a:r>
              <a:rPr sz="1000" b="1" i="0">
                <a:solidFill>
                  <a:srgbClr val="0B2A4A"/>
                </a:solidFill>
                <a:latin typeface="Calibri"/>
              </a:rPr>
              <a:t>Diagnosis</a:t>
            </a:r>
          </a:p>
        </p:txBody>
      </p:sp>
      <p:sp>
        <p:nvSpPr>
          <p:cNvPr id="15" name="TextBox 14"/>
          <p:cNvSpPr txBox="1"/>
          <p:nvPr/>
        </p:nvSpPr>
        <p:spPr>
          <a:xfrm>
            <a:off x="365760" y="3840479"/>
            <a:ext cx="3611880" cy="457200"/>
          </a:xfrm>
          <a:prstGeom prst="rect">
            <a:avLst/>
          </a:prstGeom>
          <a:noFill/>
        </p:spPr>
        <p:txBody>
          <a:bodyPr wrap="square" anchor="t" lIns="45720" rIns="45720" tIns="18288" bIns="18288">
            <a:spAutoFit/>
          </a:bodyPr>
          <a:lstStyle/>
          <a:p>
            <a:pPr algn="l"/>
            <a:r>
              <a:rPr sz="900" b="0" i="0">
                <a:solidFill>
                  <a:srgbClr val="1A1A1A"/>
                </a:solidFill>
                <a:latin typeface="Calibri"/>
              </a:rPr>
              <a:t>Predicts a constant +166-cycle offset on top of baseline. Sensitivity sweep: 0 cycles change for ANY feature.</a:t>
            </a:r>
          </a:p>
        </p:txBody>
      </p:sp>
      <p:sp>
        <p:nvSpPr>
          <p:cNvPr id="16" name="Rectangle 15"/>
          <p:cNvSpPr/>
          <p:nvPr/>
        </p:nvSpPr>
        <p:spPr>
          <a:xfrm>
            <a:off x="4251960" y="1051560"/>
            <a:ext cx="3886200" cy="3291840"/>
          </a:xfrm>
          <a:prstGeom prst="rect">
            <a:avLst/>
          </a:prstGeom>
          <a:solidFill>
            <a:srgbClr val="F6F8FB"/>
          </a:solidFill>
          <a:ln w="12700">
            <a:solidFill>
              <a:srgbClr val="F0A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51960" y="1051560"/>
            <a:ext cx="3886200" cy="54864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1051560"/>
            <a:ext cx="3886200" cy="548640"/>
          </a:xfrm>
          <a:prstGeom prst="rect">
            <a:avLst/>
          </a:prstGeom>
          <a:noFill/>
        </p:spPr>
        <p:txBody>
          <a:bodyPr wrap="square" anchor="ctr" lIns="45720" rIns="45720" tIns="18288" bIns="18288">
            <a:spAutoFit/>
          </a:bodyPr>
          <a:lstStyle/>
          <a:p>
            <a:pPr algn="ctr"/>
            <a:r>
              <a:rPr sz="1800" b="1" i="0">
                <a:solidFill>
                  <a:srgbClr val="FFFFFF"/>
                </a:solidFill>
                <a:latin typeface="Calibri"/>
              </a:rPr>
              <a:t>GRU</a:t>
            </a:r>
          </a:p>
        </p:txBody>
      </p:sp>
      <p:sp>
        <p:nvSpPr>
          <p:cNvPr id="19" name="TextBox 18"/>
          <p:cNvSpPr txBox="1"/>
          <p:nvPr/>
        </p:nvSpPr>
        <p:spPr>
          <a:xfrm>
            <a:off x="4343400" y="1645919"/>
            <a:ext cx="3703320" cy="274320"/>
          </a:xfrm>
          <a:prstGeom prst="rect">
            <a:avLst/>
          </a:prstGeom>
          <a:noFill/>
        </p:spPr>
        <p:txBody>
          <a:bodyPr wrap="square" anchor="t" lIns="45720" rIns="45720" tIns="18288" bIns="18288">
            <a:spAutoFit/>
          </a:bodyPr>
          <a:lstStyle/>
          <a:p>
            <a:pPr algn="ctr"/>
            <a:r>
              <a:rPr sz="1000" b="1" i="0">
                <a:solidFill>
                  <a:srgbClr val="F0AD4E"/>
                </a:solidFill>
                <a:latin typeface="Calibri"/>
              </a:rPr>
              <a:t>OVERFITS TRAIN</a:t>
            </a:r>
          </a:p>
        </p:txBody>
      </p:sp>
      <p:sp>
        <p:nvSpPr>
          <p:cNvPr id="20" name="TextBox 19"/>
          <p:cNvSpPr txBox="1"/>
          <p:nvPr/>
        </p:nvSpPr>
        <p:spPr>
          <a:xfrm>
            <a:off x="4343400" y="1965960"/>
            <a:ext cx="3703320" cy="502920"/>
          </a:xfrm>
          <a:prstGeom prst="rect">
            <a:avLst/>
          </a:prstGeom>
          <a:noFill/>
        </p:spPr>
        <p:txBody>
          <a:bodyPr wrap="square" anchor="ctr" lIns="45720" rIns="45720" tIns="18288" bIns="18288">
            <a:spAutoFit/>
          </a:bodyPr>
          <a:lstStyle/>
          <a:p>
            <a:pPr algn="ctr"/>
            <a:r>
              <a:rPr sz="3200" b="1" i="0">
                <a:solidFill>
                  <a:srgbClr val="0B2A4A"/>
                </a:solidFill>
                <a:latin typeface="Calibri"/>
              </a:rPr>
              <a:t>844</a:t>
            </a:r>
          </a:p>
        </p:txBody>
      </p:sp>
      <p:sp>
        <p:nvSpPr>
          <p:cNvPr id="21" name="TextBox 20"/>
          <p:cNvSpPr txBox="1"/>
          <p:nvPr/>
        </p:nvSpPr>
        <p:spPr>
          <a:xfrm>
            <a:off x="4343400" y="2468880"/>
            <a:ext cx="3703320" cy="274320"/>
          </a:xfrm>
          <a:prstGeom prst="rect">
            <a:avLst/>
          </a:prstGeom>
          <a:noFill/>
        </p:spPr>
        <p:txBody>
          <a:bodyPr wrap="square" anchor="t" lIns="45720" rIns="45720" tIns="18288" bIns="18288">
            <a:spAutoFit/>
          </a:bodyPr>
          <a:lstStyle/>
          <a:p>
            <a:pPr algn="ctr"/>
            <a:r>
              <a:rPr sz="900" b="0" i="0">
                <a:solidFill>
                  <a:srgbClr val="555F6B"/>
                </a:solidFill>
                <a:latin typeface="Calibri"/>
              </a:rPr>
              <a:t>Test MAE (worse than baseline)</a:t>
            </a:r>
          </a:p>
        </p:txBody>
      </p:sp>
      <p:sp>
        <p:nvSpPr>
          <p:cNvPr id="22" name="TextBox 21"/>
          <p:cNvSpPr txBox="1"/>
          <p:nvPr/>
        </p:nvSpPr>
        <p:spPr>
          <a:xfrm>
            <a:off x="4389120" y="2834639"/>
            <a:ext cx="3611880" cy="228600"/>
          </a:xfrm>
          <a:prstGeom prst="rect">
            <a:avLst/>
          </a:prstGeom>
          <a:noFill/>
        </p:spPr>
        <p:txBody>
          <a:bodyPr wrap="square" anchor="t" lIns="45720" rIns="45720" tIns="18288" bIns="18288">
            <a:spAutoFit/>
          </a:bodyPr>
          <a:lstStyle/>
          <a:p>
            <a:pPr algn="l"/>
            <a:r>
              <a:rPr sz="1000" b="1" i="0">
                <a:solidFill>
                  <a:srgbClr val="0B2A4A"/>
                </a:solidFill>
                <a:latin typeface="Calibri"/>
              </a:rPr>
              <a:t>Output diversity</a:t>
            </a:r>
          </a:p>
        </p:txBody>
      </p:sp>
      <p:sp>
        <p:nvSpPr>
          <p:cNvPr id="23" name="TextBox 22"/>
          <p:cNvSpPr txBox="1"/>
          <p:nvPr/>
        </p:nvSpPr>
        <p:spPr>
          <a:xfrm>
            <a:off x="4389120" y="3063240"/>
            <a:ext cx="3611880" cy="274320"/>
          </a:xfrm>
          <a:prstGeom prst="rect">
            <a:avLst/>
          </a:prstGeom>
          <a:noFill/>
        </p:spPr>
        <p:txBody>
          <a:bodyPr wrap="square" anchor="t" lIns="45720" rIns="45720" tIns="18288" bIns="18288">
            <a:spAutoFit/>
          </a:bodyPr>
          <a:lstStyle/>
          <a:p>
            <a:pPr algn="l"/>
            <a:r>
              <a:rPr sz="1400" b="1" i="0">
                <a:solidFill>
                  <a:srgbClr val="F0AD4E"/>
                </a:solidFill>
                <a:latin typeface="Calibri"/>
              </a:rPr>
              <a:t>4,122 unique values</a:t>
            </a:r>
          </a:p>
        </p:txBody>
      </p:sp>
      <p:sp>
        <p:nvSpPr>
          <p:cNvPr id="24" name="TextBox 23"/>
          <p:cNvSpPr txBox="1"/>
          <p:nvPr/>
        </p:nvSpPr>
        <p:spPr>
          <a:xfrm>
            <a:off x="4389120" y="3337560"/>
            <a:ext cx="3611880" cy="274320"/>
          </a:xfrm>
          <a:prstGeom prst="rect">
            <a:avLst/>
          </a:prstGeom>
          <a:noFill/>
        </p:spPr>
        <p:txBody>
          <a:bodyPr wrap="square" anchor="t" lIns="45720" rIns="45720" tIns="18288" bIns="18288">
            <a:spAutoFit/>
          </a:bodyPr>
          <a:lstStyle/>
          <a:p>
            <a:pPr algn="l"/>
            <a:r>
              <a:rPr sz="900" b="0" i="0">
                <a:solidFill>
                  <a:srgbClr val="555F6B"/>
                </a:solidFill>
                <a:latin typeface="Calibri"/>
              </a:rPr>
              <a:t>std = 0.125 · uses inputs</a:t>
            </a:r>
          </a:p>
        </p:txBody>
      </p:sp>
      <p:sp>
        <p:nvSpPr>
          <p:cNvPr id="25" name="TextBox 24"/>
          <p:cNvSpPr txBox="1"/>
          <p:nvPr/>
        </p:nvSpPr>
        <p:spPr>
          <a:xfrm>
            <a:off x="4389120" y="3657600"/>
            <a:ext cx="3611880" cy="320040"/>
          </a:xfrm>
          <a:prstGeom prst="rect">
            <a:avLst/>
          </a:prstGeom>
          <a:noFill/>
        </p:spPr>
        <p:txBody>
          <a:bodyPr wrap="square" anchor="t" lIns="45720" rIns="45720" tIns="18288" bIns="18288">
            <a:spAutoFit/>
          </a:bodyPr>
          <a:lstStyle/>
          <a:p>
            <a:pPr algn="l"/>
            <a:r>
              <a:rPr sz="1000" b="1" i="0">
                <a:solidFill>
                  <a:srgbClr val="0B2A4A"/>
                </a:solidFill>
                <a:latin typeface="Calibri"/>
              </a:rPr>
              <a:t>Diagnosis</a:t>
            </a:r>
          </a:p>
        </p:txBody>
      </p:sp>
      <p:sp>
        <p:nvSpPr>
          <p:cNvPr id="26" name="TextBox 25"/>
          <p:cNvSpPr txBox="1"/>
          <p:nvPr/>
        </p:nvSpPr>
        <p:spPr>
          <a:xfrm>
            <a:off x="4389120" y="3840479"/>
            <a:ext cx="3611880" cy="457200"/>
          </a:xfrm>
          <a:prstGeom prst="rect">
            <a:avLst/>
          </a:prstGeom>
          <a:noFill/>
        </p:spPr>
        <p:txBody>
          <a:bodyPr wrap="square" anchor="t" lIns="45720" rIns="45720" tIns="18288" bIns="18288">
            <a:spAutoFit/>
          </a:bodyPr>
          <a:lstStyle/>
          <a:p>
            <a:pPr algn="l"/>
            <a:r>
              <a:rPr sz="900" b="0" i="0">
                <a:solidFill>
                  <a:srgbClr val="1A1A1A"/>
                </a:solidFill>
                <a:latin typeface="Calibri"/>
              </a:rPr>
              <a:t>Sensitivity sweep: 1,100+ cycle range when sweeping core_spd, pt2_norm, oil_pres_norm.</a:t>
            </a:r>
          </a:p>
        </p:txBody>
      </p:sp>
      <p:sp>
        <p:nvSpPr>
          <p:cNvPr id="27" name="Rectangle 26"/>
          <p:cNvSpPr/>
          <p:nvPr/>
        </p:nvSpPr>
        <p:spPr>
          <a:xfrm>
            <a:off x="8275320" y="1051560"/>
            <a:ext cx="3886200" cy="3291840"/>
          </a:xfrm>
          <a:prstGeom prst="rect">
            <a:avLst/>
          </a:prstGeom>
          <a:solidFill>
            <a:srgbClr val="F6F8FB"/>
          </a:solidFill>
          <a:ln w="12700">
            <a:solidFill>
              <a:srgbClr val="F0A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75320" y="1051560"/>
            <a:ext cx="3886200" cy="54864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1051560"/>
            <a:ext cx="3886200" cy="548640"/>
          </a:xfrm>
          <a:prstGeom prst="rect">
            <a:avLst/>
          </a:prstGeom>
          <a:noFill/>
        </p:spPr>
        <p:txBody>
          <a:bodyPr wrap="square" anchor="ctr" lIns="45720" rIns="45720" tIns="18288" bIns="18288">
            <a:spAutoFit/>
          </a:bodyPr>
          <a:lstStyle/>
          <a:p>
            <a:pPr algn="ctr"/>
            <a:r>
              <a:rPr sz="1800" b="1" i="0">
                <a:solidFill>
                  <a:srgbClr val="FFFFFF"/>
                </a:solidFill>
                <a:latin typeface="Calibri"/>
              </a:rPr>
              <a:t>1D CNN</a:t>
            </a:r>
          </a:p>
        </p:txBody>
      </p:sp>
      <p:sp>
        <p:nvSpPr>
          <p:cNvPr id="30" name="TextBox 29"/>
          <p:cNvSpPr txBox="1"/>
          <p:nvPr/>
        </p:nvSpPr>
        <p:spPr>
          <a:xfrm>
            <a:off x="8366760" y="1645919"/>
            <a:ext cx="3703320" cy="274320"/>
          </a:xfrm>
          <a:prstGeom prst="rect">
            <a:avLst/>
          </a:prstGeom>
          <a:noFill/>
        </p:spPr>
        <p:txBody>
          <a:bodyPr wrap="square" anchor="t" lIns="45720" rIns="45720" tIns="18288" bIns="18288">
            <a:spAutoFit/>
          </a:bodyPr>
          <a:lstStyle/>
          <a:p>
            <a:pPr algn="ctr"/>
            <a:r>
              <a:rPr sz="1000" b="1" i="0">
                <a:solidFill>
                  <a:srgbClr val="F0AD4E"/>
                </a:solidFill>
                <a:latin typeface="Calibri"/>
              </a:rPr>
              <a:t>OVERFITS TRAIN</a:t>
            </a:r>
          </a:p>
        </p:txBody>
      </p:sp>
      <p:sp>
        <p:nvSpPr>
          <p:cNvPr id="31" name="TextBox 30"/>
          <p:cNvSpPr txBox="1"/>
          <p:nvPr/>
        </p:nvSpPr>
        <p:spPr>
          <a:xfrm>
            <a:off x="8366760" y="1965960"/>
            <a:ext cx="3703320" cy="502920"/>
          </a:xfrm>
          <a:prstGeom prst="rect">
            <a:avLst/>
          </a:prstGeom>
          <a:noFill/>
        </p:spPr>
        <p:txBody>
          <a:bodyPr wrap="square" anchor="ctr" lIns="45720" rIns="45720" tIns="18288" bIns="18288">
            <a:spAutoFit/>
          </a:bodyPr>
          <a:lstStyle/>
          <a:p>
            <a:pPr algn="ctr"/>
            <a:r>
              <a:rPr sz="3200" b="1" i="0">
                <a:solidFill>
                  <a:srgbClr val="0B2A4A"/>
                </a:solidFill>
                <a:latin typeface="Calibri"/>
              </a:rPr>
              <a:t>875</a:t>
            </a:r>
          </a:p>
        </p:txBody>
      </p:sp>
      <p:sp>
        <p:nvSpPr>
          <p:cNvPr id="32" name="TextBox 31"/>
          <p:cNvSpPr txBox="1"/>
          <p:nvPr/>
        </p:nvSpPr>
        <p:spPr>
          <a:xfrm>
            <a:off x="8366760" y="2468880"/>
            <a:ext cx="3703320" cy="274320"/>
          </a:xfrm>
          <a:prstGeom prst="rect">
            <a:avLst/>
          </a:prstGeom>
          <a:noFill/>
        </p:spPr>
        <p:txBody>
          <a:bodyPr wrap="square" anchor="t" lIns="45720" rIns="45720" tIns="18288" bIns="18288">
            <a:spAutoFit/>
          </a:bodyPr>
          <a:lstStyle/>
          <a:p>
            <a:pPr algn="ctr"/>
            <a:r>
              <a:rPr sz="900" b="0" i="0">
                <a:solidFill>
                  <a:srgbClr val="555F6B"/>
                </a:solidFill>
                <a:latin typeface="Calibri"/>
              </a:rPr>
              <a:t>Test MAE (worst of three)</a:t>
            </a:r>
          </a:p>
        </p:txBody>
      </p:sp>
      <p:sp>
        <p:nvSpPr>
          <p:cNvPr id="33" name="TextBox 32"/>
          <p:cNvSpPr txBox="1"/>
          <p:nvPr/>
        </p:nvSpPr>
        <p:spPr>
          <a:xfrm>
            <a:off x="8412480" y="2834639"/>
            <a:ext cx="3611880" cy="228600"/>
          </a:xfrm>
          <a:prstGeom prst="rect">
            <a:avLst/>
          </a:prstGeom>
          <a:noFill/>
        </p:spPr>
        <p:txBody>
          <a:bodyPr wrap="square" anchor="t" lIns="45720" rIns="45720" tIns="18288" bIns="18288">
            <a:spAutoFit/>
          </a:bodyPr>
          <a:lstStyle/>
          <a:p>
            <a:pPr algn="l"/>
            <a:r>
              <a:rPr sz="1000" b="1" i="0">
                <a:solidFill>
                  <a:srgbClr val="0B2A4A"/>
                </a:solidFill>
                <a:latin typeface="Calibri"/>
              </a:rPr>
              <a:t>Output diversity</a:t>
            </a:r>
          </a:p>
        </p:txBody>
      </p:sp>
      <p:sp>
        <p:nvSpPr>
          <p:cNvPr id="34" name="TextBox 33"/>
          <p:cNvSpPr txBox="1"/>
          <p:nvPr/>
        </p:nvSpPr>
        <p:spPr>
          <a:xfrm>
            <a:off x="8412480" y="3063240"/>
            <a:ext cx="3611880" cy="274320"/>
          </a:xfrm>
          <a:prstGeom prst="rect">
            <a:avLst/>
          </a:prstGeom>
          <a:noFill/>
        </p:spPr>
        <p:txBody>
          <a:bodyPr wrap="square" anchor="t" lIns="45720" rIns="45720" tIns="18288" bIns="18288">
            <a:spAutoFit/>
          </a:bodyPr>
          <a:lstStyle/>
          <a:p>
            <a:pPr algn="l"/>
            <a:r>
              <a:rPr sz="1400" b="1" i="0">
                <a:solidFill>
                  <a:srgbClr val="F0AD4E"/>
                </a:solidFill>
                <a:latin typeface="Calibri"/>
              </a:rPr>
              <a:t>1,693 unique values</a:t>
            </a:r>
          </a:p>
        </p:txBody>
      </p:sp>
      <p:sp>
        <p:nvSpPr>
          <p:cNvPr id="35" name="TextBox 34"/>
          <p:cNvSpPr txBox="1"/>
          <p:nvPr/>
        </p:nvSpPr>
        <p:spPr>
          <a:xfrm>
            <a:off x="8412480" y="3337560"/>
            <a:ext cx="3611880" cy="274320"/>
          </a:xfrm>
          <a:prstGeom prst="rect">
            <a:avLst/>
          </a:prstGeom>
          <a:noFill/>
        </p:spPr>
        <p:txBody>
          <a:bodyPr wrap="square" anchor="t" lIns="45720" rIns="45720" tIns="18288" bIns="18288">
            <a:spAutoFit/>
          </a:bodyPr>
          <a:lstStyle/>
          <a:p>
            <a:pPr algn="l"/>
            <a:r>
              <a:rPr sz="900" b="0" i="0">
                <a:solidFill>
                  <a:srgbClr val="555F6B"/>
                </a:solidFill>
                <a:latin typeface="Calibri"/>
              </a:rPr>
              <a:t>std = 0.108 · uses inputs</a:t>
            </a:r>
          </a:p>
        </p:txBody>
      </p:sp>
      <p:sp>
        <p:nvSpPr>
          <p:cNvPr id="36" name="TextBox 35"/>
          <p:cNvSpPr txBox="1"/>
          <p:nvPr/>
        </p:nvSpPr>
        <p:spPr>
          <a:xfrm>
            <a:off x="8412480" y="3657600"/>
            <a:ext cx="3611880" cy="320040"/>
          </a:xfrm>
          <a:prstGeom prst="rect">
            <a:avLst/>
          </a:prstGeom>
          <a:noFill/>
        </p:spPr>
        <p:txBody>
          <a:bodyPr wrap="square" anchor="t" lIns="45720" rIns="45720" tIns="18288" bIns="18288">
            <a:spAutoFit/>
          </a:bodyPr>
          <a:lstStyle/>
          <a:p>
            <a:pPr algn="l"/>
            <a:r>
              <a:rPr sz="1000" b="1" i="0">
                <a:solidFill>
                  <a:srgbClr val="0B2A4A"/>
                </a:solidFill>
                <a:latin typeface="Calibri"/>
              </a:rPr>
              <a:t>Diagnosis</a:t>
            </a:r>
          </a:p>
        </p:txBody>
      </p:sp>
      <p:sp>
        <p:nvSpPr>
          <p:cNvPr id="37" name="TextBox 36"/>
          <p:cNvSpPr txBox="1"/>
          <p:nvPr/>
        </p:nvSpPr>
        <p:spPr>
          <a:xfrm>
            <a:off x="8412480" y="3840479"/>
            <a:ext cx="3611880" cy="457200"/>
          </a:xfrm>
          <a:prstGeom prst="rect">
            <a:avLst/>
          </a:prstGeom>
          <a:noFill/>
        </p:spPr>
        <p:txBody>
          <a:bodyPr wrap="square" anchor="t" lIns="45720" rIns="45720" tIns="18288" bIns="18288">
            <a:spAutoFit/>
          </a:bodyPr>
          <a:lstStyle/>
          <a:p>
            <a:pPr algn="l"/>
            <a:r>
              <a:rPr sz="900" b="0" i="0">
                <a:solidFill>
                  <a:srgbClr val="1A1A1A"/>
                </a:solidFill>
                <a:latin typeface="Calibri"/>
              </a:rPr>
              <a:t>Sensitivity 90-200 cycles; top features pt2, egt_avg, egt_avg_norm — all physically meaningful.</a:t>
            </a:r>
          </a:p>
        </p:txBody>
      </p:sp>
      <p:sp>
        <p:nvSpPr>
          <p:cNvPr id="38" name="Rectangle 37"/>
          <p:cNvSpPr/>
          <p:nvPr/>
        </p:nvSpPr>
        <p:spPr>
          <a:xfrm>
            <a:off x="228600" y="4572000"/>
            <a:ext cx="11731752" cy="1691640"/>
          </a:xfrm>
          <a:prstGeom prst="rect">
            <a:avLst/>
          </a:prstGeom>
          <a:solidFill>
            <a:srgbClr val="F6F8FB"/>
          </a:solidFill>
          <a:ln w="1270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28600" y="4572000"/>
            <a:ext cx="11731752" cy="411480"/>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572000"/>
            <a:ext cx="11430000" cy="411480"/>
          </a:xfrm>
          <a:prstGeom prst="rect">
            <a:avLst/>
          </a:prstGeom>
          <a:noFill/>
        </p:spPr>
        <p:txBody>
          <a:bodyPr wrap="square" anchor="ctr" lIns="45720" rIns="45720" tIns="18288" bIns="18288">
            <a:spAutoFit/>
          </a:bodyPr>
          <a:lstStyle/>
          <a:p>
            <a:pPr algn="l"/>
            <a:r>
              <a:rPr sz="1300" b="1" i="0">
                <a:solidFill>
                  <a:srgbClr val="FFFFFF"/>
                </a:solidFill>
                <a:latin typeface="Calibri"/>
              </a:rPr>
              <a:t>Silver lining — the GRU's most-sensitive features are physically correct engine-degradation indicators</a:t>
            </a:r>
          </a:p>
        </p:txBody>
      </p:sp>
      <p:sp>
        <p:nvSpPr>
          <p:cNvPr id="41" name="TextBox 40"/>
          <p:cNvSpPr txBox="1"/>
          <p:nvPr/>
        </p:nvSpPr>
        <p:spPr>
          <a:xfrm>
            <a:off x="320040" y="5120640"/>
            <a:ext cx="1772412" cy="274320"/>
          </a:xfrm>
          <a:prstGeom prst="rect">
            <a:avLst/>
          </a:prstGeom>
          <a:noFill/>
        </p:spPr>
        <p:txBody>
          <a:bodyPr wrap="square" anchor="t" lIns="45720" rIns="45720" tIns="18288" bIns="18288">
            <a:spAutoFit/>
          </a:bodyPr>
          <a:lstStyle/>
          <a:p>
            <a:pPr algn="ctr"/>
            <a:r>
              <a:rPr sz="1500" b="1" i="0">
                <a:solidFill>
                  <a:srgbClr val="0B2A4A"/>
                </a:solidFill>
                <a:latin typeface="Calibri"/>
              </a:rPr>
              <a:t>1,155</a:t>
            </a:r>
          </a:p>
        </p:txBody>
      </p:sp>
      <p:sp>
        <p:nvSpPr>
          <p:cNvPr id="42" name="TextBox 41"/>
          <p:cNvSpPr txBox="1"/>
          <p:nvPr/>
        </p:nvSpPr>
        <p:spPr>
          <a:xfrm>
            <a:off x="320040" y="5440679"/>
            <a:ext cx="1772412" cy="548640"/>
          </a:xfrm>
          <a:prstGeom prst="rect">
            <a:avLst/>
          </a:prstGeom>
          <a:noFill/>
        </p:spPr>
        <p:txBody>
          <a:bodyPr wrap="square" anchor="t" lIns="45720" rIns="45720" tIns="18288" bIns="18288">
            <a:spAutoFit/>
          </a:bodyPr>
          <a:lstStyle/>
          <a:p>
            <a:pPr algn="ctr"/>
            <a:r>
              <a:rPr sz="900" b="0" i="0">
                <a:solidFill>
                  <a:srgbClr val="1A1A1A"/>
                </a:solidFill>
                <a:latin typeface="Calibri"/>
              </a:rPr>
              <a:t>core_spd</a:t>
            </a:r>
          </a:p>
        </p:txBody>
      </p:sp>
      <p:sp>
        <p:nvSpPr>
          <p:cNvPr id="43" name="TextBox 42"/>
          <p:cNvSpPr txBox="1"/>
          <p:nvPr/>
        </p:nvSpPr>
        <p:spPr>
          <a:xfrm>
            <a:off x="320040" y="5989320"/>
            <a:ext cx="1772412" cy="228600"/>
          </a:xfrm>
          <a:prstGeom prst="rect">
            <a:avLst/>
          </a:prstGeom>
          <a:noFill/>
        </p:spPr>
        <p:txBody>
          <a:bodyPr wrap="square" anchor="t" lIns="45720" rIns="45720" tIns="18288" bIns="18288">
            <a:spAutoFit/>
          </a:bodyPr>
          <a:lstStyle/>
          <a:p>
            <a:pPr algn="ctr"/>
            <a:r>
              <a:rPr sz="800" b="0" i="0">
                <a:solidFill>
                  <a:srgbClr val="555F6B"/>
                </a:solidFill>
                <a:latin typeface="Calibri"/>
              </a:rPr>
              <a:t>output range (cycles)</a:t>
            </a:r>
          </a:p>
        </p:txBody>
      </p:sp>
      <p:sp>
        <p:nvSpPr>
          <p:cNvPr id="44" name="TextBox 43"/>
          <p:cNvSpPr txBox="1"/>
          <p:nvPr/>
        </p:nvSpPr>
        <p:spPr>
          <a:xfrm>
            <a:off x="2275331" y="5120640"/>
            <a:ext cx="1772412" cy="274320"/>
          </a:xfrm>
          <a:prstGeom prst="rect">
            <a:avLst/>
          </a:prstGeom>
          <a:noFill/>
        </p:spPr>
        <p:txBody>
          <a:bodyPr wrap="square" anchor="t" lIns="45720" rIns="45720" tIns="18288" bIns="18288">
            <a:spAutoFit/>
          </a:bodyPr>
          <a:lstStyle/>
          <a:p>
            <a:pPr algn="ctr"/>
            <a:r>
              <a:rPr sz="1500" b="1" i="0">
                <a:solidFill>
                  <a:srgbClr val="0B2A4A"/>
                </a:solidFill>
                <a:latin typeface="Calibri"/>
              </a:rPr>
              <a:t>1,153</a:t>
            </a:r>
          </a:p>
        </p:txBody>
      </p:sp>
      <p:sp>
        <p:nvSpPr>
          <p:cNvPr id="45" name="TextBox 44"/>
          <p:cNvSpPr txBox="1"/>
          <p:nvPr/>
        </p:nvSpPr>
        <p:spPr>
          <a:xfrm>
            <a:off x="2275331" y="5440679"/>
            <a:ext cx="1772412" cy="548640"/>
          </a:xfrm>
          <a:prstGeom prst="rect">
            <a:avLst/>
          </a:prstGeom>
          <a:noFill/>
        </p:spPr>
        <p:txBody>
          <a:bodyPr wrap="square" anchor="t" lIns="45720" rIns="45720" tIns="18288" bIns="18288">
            <a:spAutoFit/>
          </a:bodyPr>
          <a:lstStyle/>
          <a:p>
            <a:pPr algn="ctr"/>
            <a:r>
              <a:rPr sz="900" b="0" i="0">
                <a:solidFill>
                  <a:srgbClr val="1A1A1A"/>
                </a:solidFill>
                <a:latin typeface="Calibri"/>
              </a:rPr>
              <a:t>pt2_(fan_inlet_tot_pres)_norm</a:t>
            </a:r>
          </a:p>
        </p:txBody>
      </p:sp>
      <p:sp>
        <p:nvSpPr>
          <p:cNvPr id="46" name="TextBox 45"/>
          <p:cNvSpPr txBox="1"/>
          <p:nvPr/>
        </p:nvSpPr>
        <p:spPr>
          <a:xfrm>
            <a:off x="2275331" y="5989320"/>
            <a:ext cx="1772412" cy="228600"/>
          </a:xfrm>
          <a:prstGeom prst="rect">
            <a:avLst/>
          </a:prstGeom>
          <a:noFill/>
        </p:spPr>
        <p:txBody>
          <a:bodyPr wrap="square" anchor="t" lIns="45720" rIns="45720" tIns="18288" bIns="18288">
            <a:spAutoFit/>
          </a:bodyPr>
          <a:lstStyle/>
          <a:p>
            <a:pPr algn="ctr"/>
            <a:r>
              <a:rPr sz="800" b="0" i="0">
                <a:solidFill>
                  <a:srgbClr val="555F6B"/>
                </a:solidFill>
                <a:latin typeface="Calibri"/>
              </a:rPr>
              <a:t>output range (cycles)</a:t>
            </a:r>
          </a:p>
        </p:txBody>
      </p:sp>
      <p:sp>
        <p:nvSpPr>
          <p:cNvPr id="47" name="TextBox 46"/>
          <p:cNvSpPr txBox="1"/>
          <p:nvPr/>
        </p:nvSpPr>
        <p:spPr>
          <a:xfrm>
            <a:off x="4230623" y="5120640"/>
            <a:ext cx="1772412" cy="274320"/>
          </a:xfrm>
          <a:prstGeom prst="rect">
            <a:avLst/>
          </a:prstGeom>
          <a:noFill/>
        </p:spPr>
        <p:txBody>
          <a:bodyPr wrap="square" anchor="t" lIns="45720" rIns="45720" tIns="18288" bIns="18288">
            <a:spAutoFit/>
          </a:bodyPr>
          <a:lstStyle/>
          <a:p>
            <a:pPr algn="ctr"/>
            <a:r>
              <a:rPr sz="1500" b="1" i="0">
                <a:solidFill>
                  <a:srgbClr val="0B2A4A"/>
                </a:solidFill>
                <a:latin typeface="Calibri"/>
              </a:rPr>
              <a:t>1,146</a:t>
            </a:r>
          </a:p>
        </p:txBody>
      </p:sp>
      <p:sp>
        <p:nvSpPr>
          <p:cNvPr id="48" name="TextBox 47"/>
          <p:cNvSpPr txBox="1"/>
          <p:nvPr/>
        </p:nvSpPr>
        <p:spPr>
          <a:xfrm>
            <a:off x="4230623" y="5440679"/>
            <a:ext cx="1772412" cy="548640"/>
          </a:xfrm>
          <a:prstGeom prst="rect">
            <a:avLst/>
          </a:prstGeom>
          <a:noFill/>
        </p:spPr>
        <p:txBody>
          <a:bodyPr wrap="square" anchor="t" lIns="45720" rIns="45720" tIns="18288" bIns="18288">
            <a:spAutoFit/>
          </a:bodyPr>
          <a:lstStyle/>
          <a:p>
            <a:pPr algn="ctr"/>
            <a:r>
              <a:rPr sz="900" b="0" i="0">
                <a:solidFill>
                  <a:srgbClr val="1A1A1A"/>
                </a:solidFill>
                <a:latin typeface="Calibri"/>
              </a:rPr>
              <a:t>oil_pres_norm</a:t>
            </a:r>
          </a:p>
        </p:txBody>
      </p:sp>
      <p:sp>
        <p:nvSpPr>
          <p:cNvPr id="49" name="TextBox 48"/>
          <p:cNvSpPr txBox="1"/>
          <p:nvPr/>
        </p:nvSpPr>
        <p:spPr>
          <a:xfrm>
            <a:off x="4230623" y="5989320"/>
            <a:ext cx="1772412" cy="228600"/>
          </a:xfrm>
          <a:prstGeom prst="rect">
            <a:avLst/>
          </a:prstGeom>
          <a:noFill/>
        </p:spPr>
        <p:txBody>
          <a:bodyPr wrap="square" anchor="t" lIns="45720" rIns="45720" tIns="18288" bIns="18288">
            <a:spAutoFit/>
          </a:bodyPr>
          <a:lstStyle/>
          <a:p>
            <a:pPr algn="ctr"/>
            <a:r>
              <a:rPr sz="800" b="0" i="0">
                <a:solidFill>
                  <a:srgbClr val="555F6B"/>
                </a:solidFill>
                <a:latin typeface="Calibri"/>
              </a:rPr>
              <a:t>output range (cycles)</a:t>
            </a:r>
          </a:p>
        </p:txBody>
      </p:sp>
      <p:sp>
        <p:nvSpPr>
          <p:cNvPr id="50" name="TextBox 49"/>
          <p:cNvSpPr txBox="1"/>
          <p:nvPr/>
        </p:nvSpPr>
        <p:spPr>
          <a:xfrm>
            <a:off x="6185915" y="5120640"/>
            <a:ext cx="1772412" cy="274320"/>
          </a:xfrm>
          <a:prstGeom prst="rect">
            <a:avLst/>
          </a:prstGeom>
          <a:noFill/>
        </p:spPr>
        <p:txBody>
          <a:bodyPr wrap="square" anchor="t" lIns="45720" rIns="45720" tIns="18288" bIns="18288">
            <a:spAutoFit/>
          </a:bodyPr>
          <a:lstStyle/>
          <a:p>
            <a:pPr algn="ctr"/>
            <a:r>
              <a:rPr sz="1500" b="1" i="0">
                <a:solidFill>
                  <a:srgbClr val="0B2A4A"/>
                </a:solidFill>
                <a:latin typeface="Calibri"/>
              </a:rPr>
              <a:t>1,144</a:t>
            </a:r>
          </a:p>
        </p:txBody>
      </p:sp>
      <p:sp>
        <p:nvSpPr>
          <p:cNvPr id="51" name="TextBox 50"/>
          <p:cNvSpPr txBox="1"/>
          <p:nvPr/>
        </p:nvSpPr>
        <p:spPr>
          <a:xfrm>
            <a:off x="6185915" y="5440679"/>
            <a:ext cx="1772412" cy="548640"/>
          </a:xfrm>
          <a:prstGeom prst="rect">
            <a:avLst/>
          </a:prstGeom>
          <a:noFill/>
        </p:spPr>
        <p:txBody>
          <a:bodyPr wrap="square" anchor="t" lIns="45720" rIns="45720" tIns="18288" bIns="18288">
            <a:spAutoFit/>
          </a:bodyPr>
          <a:lstStyle/>
          <a:p>
            <a:pPr algn="ctr"/>
            <a:r>
              <a:rPr sz="900" b="0" i="0">
                <a:solidFill>
                  <a:srgbClr val="1A1A1A"/>
                </a:solidFill>
                <a:latin typeface="Calibri"/>
              </a:rPr>
              <a:t>oil_pres</a:t>
            </a:r>
          </a:p>
        </p:txBody>
      </p:sp>
      <p:sp>
        <p:nvSpPr>
          <p:cNvPr id="52" name="TextBox 51"/>
          <p:cNvSpPr txBox="1"/>
          <p:nvPr/>
        </p:nvSpPr>
        <p:spPr>
          <a:xfrm>
            <a:off x="6185915" y="5989320"/>
            <a:ext cx="1772412" cy="228600"/>
          </a:xfrm>
          <a:prstGeom prst="rect">
            <a:avLst/>
          </a:prstGeom>
          <a:noFill/>
        </p:spPr>
        <p:txBody>
          <a:bodyPr wrap="square" anchor="t" lIns="45720" rIns="45720" tIns="18288" bIns="18288">
            <a:spAutoFit/>
          </a:bodyPr>
          <a:lstStyle/>
          <a:p>
            <a:pPr algn="ctr"/>
            <a:r>
              <a:rPr sz="800" b="0" i="0">
                <a:solidFill>
                  <a:srgbClr val="555F6B"/>
                </a:solidFill>
                <a:latin typeface="Calibri"/>
              </a:rPr>
              <a:t>output range (cycles)</a:t>
            </a:r>
          </a:p>
        </p:txBody>
      </p:sp>
      <p:sp>
        <p:nvSpPr>
          <p:cNvPr id="53" name="TextBox 52"/>
          <p:cNvSpPr txBox="1"/>
          <p:nvPr/>
        </p:nvSpPr>
        <p:spPr>
          <a:xfrm>
            <a:off x="8141207" y="5120640"/>
            <a:ext cx="1772412" cy="274320"/>
          </a:xfrm>
          <a:prstGeom prst="rect">
            <a:avLst/>
          </a:prstGeom>
          <a:noFill/>
        </p:spPr>
        <p:txBody>
          <a:bodyPr wrap="square" anchor="t" lIns="45720" rIns="45720" tIns="18288" bIns="18288">
            <a:spAutoFit/>
          </a:bodyPr>
          <a:lstStyle/>
          <a:p>
            <a:pPr algn="ctr"/>
            <a:r>
              <a:rPr sz="1500" b="1" i="0">
                <a:solidFill>
                  <a:srgbClr val="0B2A4A"/>
                </a:solidFill>
                <a:latin typeface="Calibri"/>
              </a:rPr>
              <a:t>1,143</a:t>
            </a:r>
          </a:p>
        </p:txBody>
      </p:sp>
      <p:sp>
        <p:nvSpPr>
          <p:cNvPr id="54" name="TextBox 53"/>
          <p:cNvSpPr txBox="1"/>
          <p:nvPr/>
        </p:nvSpPr>
        <p:spPr>
          <a:xfrm>
            <a:off x="8141207" y="5440679"/>
            <a:ext cx="1772412" cy="548640"/>
          </a:xfrm>
          <a:prstGeom prst="rect">
            <a:avLst/>
          </a:prstGeom>
          <a:noFill/>
        </p:spPr>
        <p:txBody>
          <a:bodyPr wrap="square" anchor="t" lIns="45720" rIns="45720" tIns="18288" bIns="18288">
            <a:spAutoFit/>
          </a:bodyPr>
          <a:lstStyle/>
          <a:p>
            <a:pPr algn="ctr"/>
            <a:r>
              <a:rPr sz="900" b="0" i="0">
                <a:solidFill>
                  <a:srgbClr val="1A1A1A"/>
                </a:solidFill>
                <a:latin typeface="Calibri"/>
              </a:rPr>
              <a:t>fuel_flw_norm</a:t>
            </a:r>
          </a:p>
        </p:txBody>
      </p:sp>
      <p:sp>
        <p:nvSpPr>
          <p:cNvPr id="55" name="TextBox 54"/>
          <p:cNvSpPr txBox="1"/>
          <p:nvPr/>
        </p:nvSpPr>
        <p:spPr>
          <a:xfrm>
            <a:off x="8141207" y="5989320"/>
            <a:ext cx="1772412" cy="228600"/>
          </a:xfrm>
          <a:prstGeom prst="rect">
            <a:avLst/>
          </a:prstGeom>
          <a:noFill/>
        </p:spPr>
        <p:txBody>
          <a:bodyPr wrap="square" anchor="t" lIns="45720" rIns="45720" tIns="18288" bIns="18288">
            <a:spAutoFit/>
          </a:bodyPr>
          <a:lstStyle/>
          <a:p>
            <a:pPr algn="ctr"/>
            <a:r>
              <a:rPr sz="800" b="0" i="0">
                <a:solidFill>
                  <a:srgbClr val="555F6B"/>
                </a:solidFill>
                <a:latin typeface="Calibri"/>
              </a:rPr>
              <a:t>output range (cycles)</a:t>
            </a:r>
          </a:p>
        </p:txBody>
      </p:sp>
      <p:sp>
        <p:nvSpPr>
          <p:cNvPr id="56" name="TextBox 55"/>
          <p:cNvSpPr txBox="1"/>
          <p:nvPr/>
        </p:nvSpPr>
        <p:spPr>
          <a:xfrm>
            <a:off x="10096500" y="5120640"/>
            <a:ext cx="1772412" cy="274320"/>
          </a:xfrm>
          <a:prstGeom prst="rect">
            <a:avLst/>
          </a:prstGeom>
          <a:noFill/>
        </p:spPr>
        <p:txBody>
          <a:bodyPr wrap="square" anchor="t" lIns="45720" rIns="45720" tIns="18288" bIns="18288">
            <a:spAutoFit/>
          </a:bodyPr>
          <a:lstStyle/>
          <a:p>
            <a:pPr algn="ctr"/>
            <a:r>
              <a:rPr sz="1500" b="1" i="0">
                <a:solidFill>
                  <a:srgbClr val="0B2A4A"/>
                </a:solidFill>
                <a:latin typeface="Calibri"/>
              </a:rPr>
              <a:t>1,135</a:t>
            </a:r>
          </a:p>
        </p:txBody>
      </p:sp>
      <p:sp>
        <p:nvSpPr>
          <p:cNvPr id="57" name="TextBox 56"/>
          <p:cNvSpPr txBox="1"/>
          <p:nvPr/>
        </p:nvSpPr>
        <p:spPr>
          <a:xfrm>
            <a:off x="10096500" y="5440679"/>
            <a:ext cx="1772412" cy="548640"/>
          </a:xfrm>
          <a:prstGeom prst="rect">
            <a:avLst/>
          </a:prstGeom>
          <a:noFill/>
        </p:spPr>
        <p:txBody>
          <a:bodyPr wrap="square" anchor="t" lIns="45720" rIns="45720" tIns="18288" bIns="18288">
            <a:spAutoFit/>
          </a:bodyPr>
          <a:lstStyle/>
          <a:p>
            <a:pPr algn="ctr"/>
            <a:r>
              <a:rPr sz="900" b="0" i="0">
                <a:solidFill>
                  <a:srgbClr val="1A1A1A"/>
                </a:solidFill>
                <a:latin typeface="Calibri"/>
              </a:rPr>
              <a:t>egt_probe_average</a:t>
            </a:r>
          </a:p>
        </p:txBody>
      </p:sp>
      <p:sp>
        <p:nvSpPr>
          <p:cNvPr id="58" name="TextBox 57"/>
          <p:cNvSpPr txBox="1"/>
          <p:nvPr/>
        </p:nvSpPr>
        <p:spPr>
          <a:xfrm>
            <a:off x="10096500" y="5989320"/>
            <a:ext cx="1772412" cy="228600"/>
          </a:xfrm>
          <a:prstGeom prst="rect">
            <a:avLst/>
          </a:prstGeom>
          <a:noFill/>
        </p:spPr>
        <p:txBody>
          <a:bodyPr wrap="square" anchor="t" lIns="45720" rIns="45720" tIns="18288" bIns="18288">
            <a:spAutoFit/>
          </a:bodyPr>
          <a:lstStyle/>
          <a:p>
            <a:pPr algn="ctr"/>
            <a:r>
              <a:rPr sz="800" b="0" i="0">
                <a:solidFill>
                  <a:srgbClr val="555F6B"/>
                </a:solidFill>
                <a:latin typeface="Calibri"/>
              </a:rPr>
              <a:t>output range (cycles)</a:t>
            </a:r>
          </a:p>
        </p:txBody>
      </p:sp>
      <p:sp>
        <p:nvSpPr>
          <p:cNvPr id="59" name="TextBox 58"/>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60" name="TextBox 59"/>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a:solidFill>
                  <a:srgbClr val="FFFFFF"/>
                </a:solidFill>
                <a:latin typeface="Calibri"/>
              </a:rPr>
              <a:t>Quick Win: Sensor-Driven Degradation Index</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a:solidFill>
                  <a:srgbClr val="C0CBDE"/>
                </a:solidFill>
                <a:latin typeface="Calibri"/>
              </a:rPr>
              <a:t>A second prediction served alongside RCL — directly observable from sensors, no ML collapse</a:t>
            </a:r>
          </a:p>
        </p:txBody>
      </p:sp>
      <p:sp>
        <p:nvSpPr>
          <p:cNvPr id="5" name="Rectangle 4"/>
          <p:cNvSpPr/>
          <p:nvPr/>
        </p:nvSpPr>
        <p:spPr>
          <a:xfrm>
            <a:off x="365760" y="1005840"/>
            <a:ext cx="5486400" cy="2468880"/>
          </a:xfrm>
          <a:prstGeom prst="rect">
            <a:avLst/>
          </a:prstGeom>
          <a:solidFill>
            <a:srgbClr val="F6F8FB"/>
          </a:solidFill>
          <a:ln w="1270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97280"/>
            <a:ext cx="5212080" cy="365760"/>
          </a:xfrm>
          <a:prstGeom prst="rect">
            <a:avLst/>
          </a:prstGeom>
          <a:noFill/>
        </p:spPr>
        <p:txBody>
          <a:bodyPr wrap="square" anchor="t" lIns="45720" rIns="45720" tIns="18288" bIns="18288">
            <a:spAutoFit/>
          </a:bodyPr>
          <a:lstStyle/>
          <a:p>
            <a:pPr algn="l"/>
            <a:r>
              <a:rPr sz="1500" b="1">
                <a:solidFill>
                  <a:srgbClr val="28A745"/>
                </a:solidFill>
                <a:latin typeface="Calibri"/>
              </a:rPr>
              <a:t>Why this exists</a:t>
            </a:r>
          </a:p>
        </p:txBody>
      </p:sp>
      <p:sp>
        <p:nvSpPr>
          <p:cNvPr id="7" name="TextBox 6"/>
          <p:cNvSpPr txBox="1"/>
          <p:nvPr/>
        </p:nvSpPr>
        <p:spPr>
          <a:xfrm>
            <a:off x="640080" y="1463040"/>
            <a:ext cx="5120640" cy="1920240"/>
          </a:xfrm>
          <a:prstGeom prst="rect">
            <a:avLst/>
          </a:prstGeom>
          <a:noFill/>
        </p:spPr>
        <p:txBody>
          <a:bodyPr wrap="square">
            <a:spAutoFit/>
          </a:bodyPr>
          <a:lstStyle/>
          <a:p>
            <a:pPr algn="l">
              <a:spcAft>
                <a:spcPts val="400"/>
              </a:spcAft>
            </a:pPr>
            <a:r>
              <a:rPr sz="1150" b="1">
                <a:solidFill>
                  <a:srgbClr val="28A745"/>
                </a:solidFill>
              </a:rPr>
              <a:t>■  </a:t>
            </a:r>
            <a:r>
              <a:rPr sz="1150">
                <a:solidFill>
                  <a:srgbClr val="1A1A1A"/>
                </a:solidFill>
              </a:rPr>
              <a:t>RCL ensemble collapsed because the residual target is too easy</a:t>
            </a:r>
          </a:p>
          <a:p>
            <a:pPr algn="l">
              <a:spcAft>
                <a:spcPts val="400"/>
              </a:spcAft>
            </a:pPr>
            <a:r>
              <a:rPr sz="1150" b="1">
                <a:solidFill>
                  <a:srgbClr val="28A745"/>
                </a:solidFill>
              </a:rPr>
              <a:t>■  </a:t>
            </a:r>
            <a:r>
              <a:rPr sz="1150">
                <a:solidFill>
                  <a:srgbClr val="1A1A1A"/>
                </a:solidFill>
              </a:rPr>
              <a:t>Sensor slopes ARE genuinely sensor-driven — no formula leakage</a:t>
            </a:r>
          </a:p>
          <a:p>
            <a:pPr algn="l">
              <a:spcAft>
                <a:spcPts val="400"/>
              </a:spcAft>
            </a:pPr>
            <a:r>
              <a:rPr sz="1150" b="1">
                <a:solidFill>
                  <a:srgbClr val="28A745"/>
                </a:solidFill>
              </a:rPr>
              <a:t>■  </a:t>
            </a:r>
            <a:r>
              <a:rPr sz="1150">
                <a:solidFill>
                  <a:srgbClr val="1A1A1A"/>
                </a:solidFill>
              </a:rPr>
              <a:t>Physically interpretable: rising EGT + rising fuel flow = degrading engine</a:t>
            </a:r>
          </a:p>
          <a:p>
            <a:pPr algn="l">
              <a:spcAft>
                <a:spcPts val="400"/>
              </a:spcAft>
            </a:pPr>
            <a:r>
              <a:rPr sz="1150" b="1">
                <a:solidFill>
                  <a:srgbClr val="28A745"/>
                </a:solidFill>
              </a:rPr>
              <a:t>■  </a:t>
            </a:r>
            <a:r>
              <a:rPr sz="1150">
                <a:solidFill>
                  <a:srgbClr val="1A1A1A"/>
                </a:solidFill>
              </a:rPr>
              <a:t>What real maintenance teams already track in their on-wing analytics</a:t>
            </a:r>
          </a:p>
        </p:txBody>
      </p:sp>
      <p:sp>
        <p:nvSpPr>
          <p:cNvPr id="8" name="Rectangle 7"/>
          <p:cNvSpPr/>
          <p:nvPr/>
        </p:nvSpPr>
        <p:spPr>
          <a:xfrm>
            <a:off x="5989320" y="1005840"/>
            <a:ext cx="5852160" cy="2468880"/>
          </a:xfrm>
          <a:prstGeom prst="rect">
            <a:avLst/>
          </a:prstGeom>
          <a:solidFill>
            <a:srgbClr val="F6F8FB"/>
          </a:solidFill>
          <a:ln w="12700">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097280"/>
            <a:ext cx="5577840" cy="365760"/>
          </a:xfrm>
          <a:prstGeom prst="rect">
            <a:avLst/>
          </a:prstGeom>
          <a:noFill/>
        </p:spPr>
        <p:txBody>
          <a:bodyPr wrap="square" anchor="t" lIns="45720" rIns="45720" tIns="18288" bIns="18288">
            <a:spAutoFit/>
          </a:bodyPr>
          <a:lstStyle/>
          <a:p>
            <a:pPr algn="l"/>
            <a:r>
              <a:rPr sz="1500" b="1">
                <a:solidFill>
                  <a:srgbClr val="007BFF"/>
                </a:solidFill>
                <a:latin typeface="Calibri"/>
              </a:rPr>
              <a:t>How it works</a:t>
            </a:r>
          </a:p>
        </p:txBody>
      </p:sp>
      <p:sp>
        <p:nvSpPr>
          <p:cNvPr id="10" name="TextBox 9"/>
          <p:cNvSpPr txBox="1"/>
          <p:nvPr/>
        </p:nvSpPr>
        <p:spPr>
          <a:xfrm>
            <a:off x="6263640" y="1463040"/>
            <a:ext cx="5486400" cy="1920240"/>
          </a:xfrm>
          <a:prstGeom prst="rect">
            <a:avLst/>
          </a:prstGeom>
          <a:noFill/>
        </p:spPr>
        <p:txBody>
          <a:bodyPr wrap="square">
            <a:spAutoFit/>
          </a:bodyPr>
          <a:lstStyle/>
          <a:p>
            <a:pPr algn="l">
              <a:spcAft>
                <a:spcPts val="400"/>
              </a:spcAft>
            </a:pPr>
            <a:r>
              <a:rPr sz="1150" b="1">
                <a:solidFill>
                  <a:srgbClr val="007BFF"/>
                </a:solidFill>
              </a:rPr>
              <a:t>■  </a:t>
            </a:r>
            <a:r>
              <a:rPr sz="1150">
                <a:solidFill>
                  <a:srgbClr val="1A1A1A"/>
                </a:solidFill>
              </a:rPr>
              <a:t>For each of 4 sensors, fit slope vs flight_cycle over the 40-flight window</a:t>
            </a:r>
          </a:p>
          <a:p>
            <a:pPr algn="l">
              <a:spcAft>
                <a:spcPts val="400"/>
              </a:spcAft>
            </a:pPr>
            <a:r>
              <a:rPr sz="1150" b="1">
                <a:solidFill>
                  <a:srgbClr val="007BFF"/>
                </a:solidFill>
              </a:rPr>
              <a:t>■  </a:t>
            </a:r>
            <a:r>
              <a:rPr sz="1150">
                <a:solidFill>
                  <a:srgbClr val="1A1A1A"/>
                </a:solidFill>
              </a:rPr>
              <a:t>Apply degradation sign (+ for EGT/fuel; − for core_spd/oil_pres)</a:t>
            </a:r>
          </a:p>
          <a:p>
            <a:pPr algn="l">
              <a:spcAft>
                <a:spcPts val="400"/>
              </a:spcAft>
            </a:pPr>
            <a:r>
              <a:rPr sz="1150" b="1">
                <a:solidFill>
                  <a:srgbClr val="007BFF"/>
                </a:solidFill>
              </a:rPr>
              <a:t>■  </a:t>
            </a:r>
            <a:r>
              <a:rPr sz="1150">
                <a:solidFill>
                  <a:srgbClr val="1A1A1A"/>
                </a:solidFill>
              </a:rPr>
              <a:t>Compare signed slope to fleet-wide percentiles (54K windows used)</a:t>
            </a:r>
          </a:p>
          <a:p>
            <a:pPr algn="l">
              <a:spcAft>
                <a:spcPts val="400"/>
              </a:spcAft>
            </a:pPr>
            <a:r>
              <a:rPr sz="1150" b="1">
                <a:solidFill>
                  <a:srgbClr val="007BFF"/>
                </a:solidFill>
              </a:rPr>
              <a:t>■  </a:t>
            </a:r>
            <a:r>
              <a:rPr sz="1150">
                <a:solidFill>
                  <a:srgbClr val="1A1A1A"/>
                </a:solidFill>
              </a:rPr>
              <a:t>Stable &lt; P50 · Mild P50-P75 · Elevated P75-P90 · Severe &gt; P90</a:t>
            </a:r>
          </a:p>
        </p:txBody>
      </p:sp>
      <p:sp>
        <p:nvSpPr>
          <p:cNvPr id="11" name="Rectangle 10"/>
          <p:cNvSpPr/>
          <p:nvPr/>
        </p:nvSpPr>
        <p:spPr>
          <a:xfrm>
            <a:off x="365760" y="3657600"/>
            <a:ext cx="11475720" cy="2697480"/>
          </a:xfrm>
          <a:prstGeom prst="rect">
            <a:avLst/>
          </a:prstGeom>
          <a:solidFill>
            <a:srgbClr val="F6F8FB"/>
          </a:solidFill>
          <a:ln w="12700">
            <a:solidFill>
              <a:srgbClr val="F0A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749039"/>
            <a:ext cx="11155680" cy="365760"/>
          </a:xfrm>
          <a:prstGeom prst="rect">
            <a:avLst/>
          </a:prstGeom>
          <a:noFill/>
        </p:spPr>
        <p:txBody>
          <a:bodyPr wrap="square" anchor="t" lIns="45720" rIns="45720" tIns="18288" bIns="18288">
            <a:spAutoFit/>
          </a:bodyPr>
          <a:lstStyle/>
          <a:p>
            <a:pPr algn="l"/>
            <a:r>
              <a:rPr sz="1500" b="1">
                <a:solidFill>
                  <a:srgbClr val="F0AD4E"/>
                </a:solidFill>
                <a:latin typeface="Calibri"/>
              </a:rPr>
              <a:t>Sample output (ESN1, 40-flight window)</a:t>
            </a:r>
          </a:p>
        </p:txBody>
      </p:sp>
      <p:sp>
        <p:nvSpPr>
          <p:cNvPr id="13" name="Rectangle 12"/>
          <p:cNvSpPr/>
          <p:nvPr/>
        </p:nvSpPr>
        <p:spPr>
          <a:xfrm>
            <a:off x="502920" y="4160520"/>
            <a:ext cx="1463040" cy="41148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160520"/>
            <a:ext cx="1463040" cy="411480"/>
          </a:xfrm>
          <a:prstGeom prst="rect">
            <a:avLst/>
          </a:prstGeom>
          <a:noFill/>
        </p:spPr>
        <p:txBody>
          <a:bodyPr wrap="square" anchor="ctr" lIns="45720" rIns="45720" tIns="18288" bIns="18288">
            <a:spAutoFit/>
          </a:bodyPr>
          <a:lstStyle/>
          <a:p>
            <a:pPr algn="ctr"/>
            <a:r>
              <a:rPr sz="1400" b="1">
                <a:solidFill>
                  <a:srgbClr val="FFFFFF"/>
                </a:solidFill>
                <a:latin typeface="Calibri"/>
              </a:rPr>
              <a:t>MILD</a:t>
            </a:r>
          </a:p>
        </p:txBody>
      </p:sp>
      <p:sp>
        <p:nvSpPr>
          <p:cNvPr id="15" name="TextBox 14"/>
          <p:cNvSpPr txBox="1"/>
          <p:nvPr/>
        </p:nvSpPr>
        <p:spPr>
          <a:xfrm>
            <a:off x="2103120" y="4160520"/>
            <a:ext cx="9601200" cy="411480"/>
          </a:xfrm>
          <a:prstGeom prst="rect">
            <a:avLst/>
          </a:prstGeom>
          <a:noFill/>
        </p:spPr>
        <p:txBody>
          <a:bodyPr wrap="square" anchor="ctr" lIns="45720" rIns="45720" tIns="18288" bIns="18288">
            <a:spAutoFit/>
          </a:bodyPr>
          <a:lstStyle/>
          <a:p>
            <a:pPr algn="l"/>
            <a:r>
              <a:rPr sz="1100" b="0">
                <a:solidFill>
                  <a:srgbClr val="555F6B"/>
                </a:solidFill>
                <a:latin typeface="Calibri"/>
              </a:rPr>
              <a:t>Worst-sensor percentile P62 · composite mean P50 · 4 sensors analyzed</a:t>
            </a:r>
          </a:p>
        </p:txBody>
      </p:sp>
      <p:sp>
        <p:nvSpPr>
          <p:cNvPr id="16" name="Rectangle 15"/>
          <p:cNvSpPr/>
          <p:nvPr/>
        </p:nvSpPr>
        <p:spPr>
          <a:xfrm>
            <a:off x="502920" y="4709160"/>
            <a:ext cx="365760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709160"/>
            <a:ext cx="3566160" cy="292608"/>
          </a:xfrm>
          <a:prstGeom prst="rect">
            <a:avLst/>
          </a:prstGeom>
          <a:noFill/>
        </p:spPr>
        <p:txBody>
          <a:bodyPr wrap="square" anchor="ctr" lIns="45720" rIns="45720" tIns="18288" bIns="18288">
            <a:spAutoFit/>
          </a:bodyPr>
          <a:lstStyle/>
          <a:p>
            <a:pPr algn="l"/>
            <a:r>
              <a:rPr sz="1050" b="1">
                <a:solidFill>
                  <a:srgbClr val="FFFFFF"/>
                </a:solidFill>
                <a:latin typeface="Calibri"/>
              </a:rPr>
              <a:t>Sensor</a:t>
            </a:r>
          </a:p>
        </p:txBody>
      </p:sp>
      <p:sp>
        <p:nvSpPr>
          <p:cNvPr id="18" name="Rectangle 17"/>
          <p:cNvSpPr/>
          <p:nvPr/>
        </p:nvSpPr>
        <p:spPr>
          <a:xfrm>
            <a:off x="4160520" y="4709160"/>
            <a:ext cx="274320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4709160"/>
            <a:ext cx="2651760" cy="292608"/>
          </a:xfrm>
          <a:prstGeom prst="rect">
            <a:avLst/>
          </a:prstGeom>
          <a:noFill/>
        </p:spPr>
        <p:txBody>
          <a:bodyPr wrap="square" anchor="ctr" lIns="45720" rIns="45720" tIns="18288" bIns="18288">
            <a:spAutoFit/>
          </a:bodyPr>
          <a:lstStyle/>
          <a:p>
            <a:pPr algn="l"/>
            <a:r>
              <a:rPr sz="1050" b="1">
                <a:solidFill>
                  <a:srgbClr val="FFFFFF"/>
                </a:solidFill>
                <a:latin typeface="Calibri"/>
              </a:rPr>
              <a:t>Slope per cycle</a:t>
            </a:r>
          </a:p>
        </p:txBody>
      </p:sp>
      <p:sp>
        <p:nvSpPr>
          <p:cNvPr id="20" name="Rectangle 19"/>
          <p:cNvSpPr/>
          <p:nvPr/>
        </p:nvSpPr>
        <p:spPr>
          <a:xfrm>
            <a:off x="6903720" y="4709160"/>
            <a:ext cx="228600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0" y="4709160"/>
            <a:ext cx="2194560" cy="292608"/>
          </a:xfrm>
          <a:prstGeom prst="rect">
            <a:avLst/>
          </a:prstGeom>
          <a:noFill/>
        </p:spPr>
        <p:txBody>
          <a:bodyPr wrap="square" anchor="ctr" lIns="45720" rIns="45720" tIns="18288" bIns="18288">
            <a:spAutoFit/>
          </a:bodyPr>
          <a:lstStyle/>
          <a:p>
            <a:pPr algn="l"/>
            <a:r>
              <a:rPr sz="1050" b="1">
                <a:solidFill>
                  <a:srgbClr val="FFFFFF"/>
                </a:solidFill>
                <a:latin typeface="Calibri"/>
              </a:rPr>
              <a:t>Fleet pct</a:t>
            </a:r>
          </a:p>
        </p:txBody>
      </p:sp>
      <p:sp>
        <p:nvSpPr>
          <p:cNvPr id="22" name="Rectangle 21"/>
          <p:cNvSpPr/>
          <p:nvPr/>
        </p:nvSpPr>
        <p:spPr>
          <a:xfrm>
            <a:off x="9189720" y="4709160"/>
            <a:ext cx="269748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4709160"/>
            <a:ext cx="2606040" cy="292608"/>
          </a:xfrm>
          <a:prstGeom prst="rect">
            <a:avLst/>
          </a:prstGeom>
          <a:noFill/>
        </p:spPr>
        <p:txBody>
          <a:bodyPr wrap="square" anchor="ctr" lIns="45720" rIns="45720" tIns="18288" bIns="18288">
            <a:spAutoFit/>
          </a:bodyPr>
          <a:lstStyle/>
          <a:p>
            <a:pPr algn="l"/>
            <a:r>
              <a:rPr sz="1050" b="1">
                <a:solidFill>
                  <a:srgbClr val="FFFFFF"/>
                </a:solidFill>
                <a:latin typeface="Calibri"/>
              </a:rPr>
              <a:t>Severity</a:t>
            </a:r>
          </a:p>
        </p:txBody>
      </p:sp>
      <p:sp>
        <p:nvSpPr>
          <p:cNvPr id="24" name="Rectangle 23"/>
          <p:cNvSpPr/>
          <p:nvPr/>
        </p:nvSpPr>
        <p:spPr>
          <a:xfrm>
            <a:off x="502920" y="5001768"/>
            <a:ext cx="3657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01768"/>
            <a:ext cx="3566160" cy="292608"/>
          </a:xfrm>
          <a:prstGeom prst="rect">
            <a:avLst/>
          </a:prstGeom>
          <a:noFill/>
        </p:spPr>
        <p:txBody>
          <a:bodyPr wrap="square" anchor="ctr" lIns="45720" rIns="45720" tIns="18288" bIns="18288">
            <a:spAutoFit/>
          </a:bodyPr>
          <a:lstStyle/>
          <a:p>
            <a:pPr algn="l"/>
            <a:r>
              <a:rPr sz="1050" b="0">
                <a:solidFill>
                  <a:srgbClr val="1A1A1A"/>
                </a:solidFill>
                <a:latin typeface="Calibri"/>
              </a:rPr>
              <a:t>EGT (degradation +)</a:t>
            </a:r>
          </a:p>
        </p:txBody>
      </p:sp>
      <p:sp>
        <p:nvSpPr>
          <p:cNvPr id="26" name="Rectangle 25"/>
          <p:cNvSpPr/>
          <p:nvPr/>
        </p:nvSpPr>
        <p:spPr>
          <a:xfrm>
            <a:off x="4160520" y="5001768"/>
            <a:ext cx="27432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5001768"/>
            <a:ext cx="2651760" cy="292608"/>
          </a:xfrm>
          <a:prstGeom prst="rect">
            <a:avLst/>
          </a:prstGeom>
          <a:noFill/>
        </p:spPr>
        <p:txBody>
          <a:bodyPr wrap="square" anchor="ctr" lIns="45720" rIns="45720" tIns="18288" bIns="18288">
            <a:spAutoFit/>
          </a:bodyPr>
          <a:lstStyle/>
          <a:p>
            <a:pPr algn="l"/>
            <a:r>
              <a:rPr sz="1050" b="0">
                <a:solidFill>
                  <a:srgbClr val="1A1A1A"/>
                </a:solidFill>
                <a:latin typeface="Consolas"/>
              </a:rPr>
              <a:t>+2.232</a:t>
            </a:r>
          </a:p>
        </p:txBody>
      </p:sp>
      <p:sp>
        <p:nvSpPr>
          <p:cNvPr id="28" name="Rectangle 27"/>
          <p:cNvSpPr/>
          <p:nvPr/>
        </p:nvSpPr>
        <p:spPr>
          <a:xfrm>
            <a:off x="6903720" y="5001768"/>
            <a:ext cx="2286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5001768"/>
            <a:ext cx="2194560" cy="292608"/>
          </a:xfrm>
          <a:prstGeom prst="rect">
            <a:avLst/>
          </a:prstGeom>
          <a:noFill/>
        </p:spPr>
        <p:txBody>
          <a:bodyPr wrap="square" anchor="ctr" lIns="45720" rIns="45720" tIns="18288" bIns="18288">
            <a:spAutoFit/>
          </a:bodyPr>
          <a:lstStyle/>
          <a:p>
            <a:pPr algn="l"/>
            <a:r>
              <a:rPr sz="1050" b="0">
                <a:solidFill>
                  <a:srgbClr val="1A1A1A"/>
                </a:solidFill>
                <a:latin typeface="Calibri"/>
              </a:rPr>
              <a:t>P62</a:t>
            </a:r>
          </a:p>
        </p:txBody>
      </p:sp>
      <p:sp>
        <p:nvSpPr>
          <p:cNvPr id="30" name="Rectangle 29"/>
          <p:cNvSpPr/>
          <p:nvPr/>
        </p:nvSpPr>
        <p:spPr>
          <a:xfrm>
            <a:off x="9189720" y="5001768"/>
            <a:ext cx="26974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5001768"/>
            <a:ext cx="2606040" cy="292608"/>
          </a:xfrm>
          <a:prstGeom prst="rect">
            <a:avLst/>
          </a:prstGeom>
          <a:noFill/>
        </p:spPr>
        <p:txBody>
          <a:bodyPr wrap="square" anchor="ctr" lIns="45720" rIns="45720" tIns="18288" bIns="18288">
            <a:spAutoFit/>
          </a:bodyPr>
          <a:lstStyle/>
          <a:p>
            <a:pPr algn="l"/>
            <a:r>
              <a:rPr sz="1050" b="1">
                <a:solidFill>
                  <a:srgbClr val="F0AD4E"/>
                </a:solidFill>
                <a:latin typeface="Calibri"/>
              </a:rPr>
              <a:t>MILD</a:t>
            </a:r>
          </a:p>
        </p:txBody>
      </p:sp>
      <p:sp>
        <p:nvSpPr>
          <p:cNvPr id="32" name="Rectangle 31"/>
          <p:cNvSpPr/>
          <p:nvPr/>
        </p:nvSpPr>
        <p:spPr>
          <a:xfrm>
            <a:off x="502920" y="5294376"/>
            <a:ext cx="36576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294376"/>
            <a:ext cx="3566160" cy="292608"/>
          </a:xfrm>
          <a:prstGeom prst="rect">
            <a:avLst/>
          </a:prstGeom>
          <a:noFill/>
        </p:spPr>
        <p:txBody>
          <a:bodyPr wrap="square" anchor="ctr" lIns="45720" rIns="45720" tIns="18288" bIns="18288">
            <a:spAutoFit/>
          </a:bodyPr>
          <a:lstStyle/>
          <a:p>
            <a:pPr algn="l"/>
            <a:r>
              <a:rPr sz="1050" b="0">
                <a:solidFill>
                  <a:srgbClr val="1A1A1A"/>
                </a:solidFill>
                <a:latin typeface="Calibri"/>
              </a:rPr>
              <a:t>Fuel flow (degradation +)</a:t>
            </a:r>
          </a:p>
        </p:txBody>
      </p:sp>
      <p:sp>
        <p:nvSpPr>
          <p:cNvPr id="34" name="Rectangle 33"/>
          <p:cNvSpPr/>
          <p:nvPr/>
        </p:nvSpPr>
        <p:spPr>
          <a:xfrm>
            <a:off x="4160520" y="5294376"/>
            <a:ext cx="27432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06240" y="5294376"/>
            <a:ext cx="2651760" cy="292608"/>
          </a:xfrm>
          <a:prstGeom prst="rect">
            <a:avLst/>
          </a:prstGeom>
          <a:noFill/>
        </p:spPr>
        <p:txBody>
          <a:bodyPr wrap="square" anchor="ctr" lIns="45720" rIns="45720" tIns="18288" bIns="18288">
            <a:spAutoFit/>
          </a:bodyPr>
          <a:lstStyle/>
          <a:p>
            <a:pPr algn="l"/>
            <a:r>
              <a:rPr sz="1050" b="0">
                <a:solidFill>
                  <a:srgbClr val="1A1A1A"/>
                </a:solidFill>
                <a:latin typeface="Consolas"/>
              </a:rPr>
              <a:t>+30.76</a:t>
            </a:r>
          </a:p>
        </p:txBody>
      </p:sp>
      <p:sp>
        <p:nvSpPr>
          <p:cNvPr id="36" name="Rectangle 35"/>
          <p:cNvSpPr/>
          <p:nvPr/>
        </p:nvSpPr>
        <p:spPr>
          <a:xfrm>
            <a:off x="6903720" y="5294376"/>
            <a:ext cx="22860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0" y="5294376"/>
            <a:ext cx="2194560" cy="292608"/>
          </a:xfrm>
          <a:prstGeom prst="rect">
            <a:avLst/>
          </a:prstGeom>
          <a:noFill/>
        </p:spPr>
        <p:txBody>
          <a:bodyPr wrap="square" anchor="ctr" lIns="45720" rIns="45720" tIns="18288" bIns="18288">
            <a:spAutoFit/>
          </a:bodyPr>
          <a:lstStyle/>
          <a:p>
            <a:pPr algn="l"/>
            <a:r>
              <a:rPr sz="1050" b="0">
                <a:solidFill>
                  <a:srgbClr val="1A1A1A"/>
                </a:solidFill>
                <a:latin typeface="Calibri"/>
              </a:rPr>
              <a:t>P62</a:t>
            </a:r>
          </a:p>
        </p:txBody>
      </p:sp>
      <p:sp>
        <p:nvSpPr>
          <p:cNvPr id="38" name="Rectangle 37"/>
          <p:cNvSpPr/>
          <p:nvPr/>
        </p:nvSpPr>
        <p:spPr>
          <a:xfrm>
            <a:off x="9189720" y="5294376"/>
            <a:ext cx="26974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35440" y="5294376"/>
            <a:ext cx="2606040" cy="292608"/>
          </a:xfrm>
          <a:prstGeom prst="rect">
            <a:avLst/>
          </a:prstGeom>
          <a:noFill/>
        </p:spPr>
        <p:txBody>
          <a:bodyPr wrap="square" anchor="ctr" lIns="45720" rIns="45720" tIns="18288" bIns="18288">
            <a:spAutoFit/>
          </a:bodyPr>
          <a:lstStyle/>
          <a:p>
            <a:pPr algn="l"/>
            <a:r>
              <a:rPr sz="1050" b="1">
                <a:solidFill>
                  <a:srgbClr val="F0AD4E"/>
                </a:solidFill>
                <a:latin typeface="Calibri"/>
              </a:rPr>
              <a:t>MILD</a:t>
            </a:r>
          </a:p>
        </p:txBody>
      </p:sp>
      <p:sp>
        <p:nvSpPr>
          <p:cNvPr id="40" name="Rectangle 39"/>
          <p:cNvSpPr/>
          <p:nvPr/>
        </p:nvSpPr>
        <p:spPr>
          <a:xfrm>
            <a:off x="502920" y="5586984"/>
            <a:ext cx="3657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586984"/>
            <a:ext cx="3566160" cy="292608"/>
          </a:xfrm>
          <a:prstGeom prst="rect">
            <a:avLst/>
          </a:prstGeom>
          <a:noFill/>
        </p:spPr>
        <p:txBody>
          <a:bodyPr wrap="square" anchor="ctr" lIns="45720" rIns="45720" tIns="18288" bIns="18288">
            <a:spAutoFit/>
          </a:bodyPr>
          <a:lstStyle/>
          <a:p>
            <a:pPr algn="l"/>
            <a:r>
              <a:rPr sz="1050" b="0">
                <a:solidFill>
                  <a:srgbClr val="1A1A1A"/>
                </a:solidFill>
                <a:latin typeface="Calibri"/>
              </a:rPr>
              <a:t>Core speed (degradation -)</a:t>
            </a:r>
          </a:p>
        </p:txBody>
      </p:sp>
      <p:sp>
        <p:nvSpPr>
          <p:cNvPr id="42" name="Rectangle 41"/>
          <p:cNvSpPr/>
          <p:nvPr/>
        </p:nvSpPr>
        <p:spPr>
          <a:xfrm>
            <a:off x="4160520" y="5586984"/>
            <a:ext cx="27432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06240" y="5586984"/>
            <a:ext cx="2651760" cy="292608"/>
          </a:xfrm>
          <a:prstGeom prst="rect">
            <a:avLst/>
          </a:prstGeom>
          <a:noFill/>
        </p:spPr>
        <p:txBody>
          <a:bodyPr wrap="square" anchor="ctr" lIns="45720" rIns="45720" tIns="18288" bIns="18288">
            <a:spAutoFit/>
          </a:bodyPr>
          <a:lstStyle/>
          <a:p>
            <a:pPr algn="l"/>
            <a:r>
              <a:rPr sz="1050" b="0">
                <a:solidFill>
                  <a:srgbClr val="1A1A1A"/>
                </a:solidFill>
                <a:latin typeface="Consolas"/>
              </a:rPr>
              <a:t>-0.123</a:t>
            </a:r>
          </a:p>
        </p:txBody>
      </p:sp>
      <p:sp>
        <p:nvSpPr>
          <p:cNvPr id="44" name="Rectangle 43"/>
          <p:cNvSpPr/>
          <p:nvPr/>
        </p:nvSpPr>
        <p:spPr>
          <a:xfrm>
            <a:off x="6903720" y="5586984"/>
            <a:ext cx="2286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0" y="5586984"/>
            <a:ext cx="2194560" cy="292608"/>
          </a:xfrm>
          <a:prstGeom prst="rect">
            <a:avLst/>
          </a:prstGeom>
          <a:noFill/>
        </p:spPr>
        <p:txBody>
          <a:bodyPr wrap="square" anchor="ctr" lIns="45720" rIns="45720" tIns="18288" bIns="18288">
            <a:spAutoFit/>
          </a:bodyPr>
          <a:lstStyle/>
          <a:p>
            <a:pPr algn="l"/>
            <a:r>
              <a:rPr sz="1050" b="0">
                <a:solidFill>
                  <a:srgbClr val="1A1A1A"/>
                </a:solidFill>
                <a:latin typeface="Calibri"/>
              </a:rPr>
              <a:t>P38</a:t>
            </a:r>
          </a:p>
        </p:txBody>
      </p:sp>
      <p:sp>
        <p:nvSpPr>
          <p:cNvPr id="46" name="Rectangle 45"/>
          <p:cNvSpPr/>
          <p:nvPr/>
        </p:nvSpPr>
        <p:spPr>
          <a:xfrm>
            <a:off x="9189720" y="5586984"/>
            <a:ext cx="26974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35440" y="5586984"/>
            <a:ext cx="2606040" cy="292608"/>
          </a:xfrm>
          <a:prstGeom prst="rect">
            <a:avLst/>
          </a:prstGeom>
          <a:noFill/>
        </p:spPr>
        <p:txBody>
          <a:bodyPr wrap="square" anchor="ctr" lIns="45720" rIns="45720" tIns="18288" bIns="18288">
            <a:spAutoFit/>
          </a:bodyPr>
          <a:lstStyle/>
          <a:p>
            <a:pPr algn="l"/>
            <a:r>
              <a:rPr sz="1050" b="1">
                <a:solidFill>
                  <a:srgbClr val="28A745"/>
                </a:solidFill>
                <a:latin typeface="Calibri"/>
              </a:rPr>
              <a:t>STABLE</a:t>
            </a:r>
          </a:p>
        </p:txBody>
      </p:sp>
      <p:sp>
        <p:nvSpPr>
          <p:cNvPr id="48" name="Rectangle 47"/>
          <p:cNvSpPr/>
          <p:nvPr/>
        </p:nvSpPr>
        <p:spPr>
          <a:xfrm>
            <a:off x="502920" y="5879592"/>
            <a:ext cx="36576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5879592"/>
            <a:ext cx="3566160" cy="292608"/>
          </a:xfrm>
          <a:prstGeom prst="rect">
            <a:avLst/>
          </a:prstGeom>
          <a:noFill/>
        </p:spPr>
        <p:txBody>
          <a:bodyPr wrap="square" anchor="ctr" lIns="45720" rIns="45720" tIns="18288" bIns="18288">
            <a:spAutoFit/>
          </a:bodyPr>
          <a:lstStyle/>
          <a:p>
            <a:pPr algn="l"/>
            <a:r>
              <a:rPr sz="1050" b="0">
                <a:solidFill>
                  <a:srgbClr val="1A1A1A"/>
                </a:solidFill>
                <a:latin typeface="Calibri"/>
              </a:rPr>
              <a:t>Oil pressure (degradation -)</a:t>
            </a:r>
          </a:p>
        </p:txBody>
      </p:sp>
      <p:sp>
        <p:nvSpPr>
          <p:cNvPr id="50" name="Rectangle 49"/>
          <p:cNvSpPr/>
          <p:nvPr/>
        </p:nvSpPr>
        <p:spPr>
          <a:xfrm>
            <a:off x="4160520" y="5879592"/>
            <a:ext cx="27432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06240" y="5879592"/>
            <a:ext cx="2651760" cy="292608"/>
          </a:xfrm>
          <a:prstGeom prst="rect">
            <a:avLst/>
          </a:prstGeom>
          <a:noFill/>
        </p:spPr>
        <p:txBody>
          <a:bodyPr wrap="square" anchor="ctr" lIns="45720" rIns="45720" tIns="18288" bIns="18288">
            <a:spAutoFit/>
          </a:bodyPr>
          <a:lstStyle/>
          <a:p>
            <a:pPr algn="l"/>
            <a:r>
              <a:rPr sz="1050" b="0">
                <a:solidFill>
                  <a:srgbClr val="1A1A1A"/>
                </a:solidFill>
                <a:latin typeface="Consolas"/>
              </a:rPr>
              <a:t>-0.125</a:t>
            </a:r>
          </a:p>
        </p:txBody>
      </p:sp>
      <p:sp>
        <p:nvSpPr>
          <p:cNvPr id="52" name="Rectangle 51"/>
          <p:cNvSpPr/>
          <p:nvPr/>
        </p:nvSpPr>
        <p:spPr>
          <a:xfrm>
            <a:off x="6903720" y="5879592"/>
            <a:ext cx="22860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49440" y="5879592"/>
            <a:ext cx="2194560" cy="292608"/>
          </a:xfrm>
          <a:prstGeom prst="rect">
            <a:avLst/>
          </a:prstGeom>
          <a:noFill/>
        </p:spPr>
        <p:txBody>
          <a:bodyPr wrap="square" anchor="ctr" lIns="45720" rIns="45720" tIns="18288" bIns="18288">
            <a:spAutoFit/>
          </a:bodyPr>
          <a:lstStyle/>
          <a:p>
            <a:pPr algn="l"/>
            <a:r>
              <a:rPr sz="1050" b="0">
                <a:solidFill>
                  <a:srgbClr val="1A1A1A"/>
                </a:solidFill>
                <a:latin typeface="Calibri"/>
              </a:rPr>
              <a:t>P38</a:t>
            </a:r>
          </a:p>
        </p:txBody>
      </p:sp>
      <p:sp>
        <p:nvSpPr>
          <p:cNvPr id="54" name="Rectangle 53"/>
          <p:cNvSpPr/>
          <p:nvPr/>
        </p:nvSpPr>
        <p:spPr>
          <a:xfrm>
            <a:off x="9189720" y="5879592"/>
            <a:ext cx="26974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35440" y="5879592"/>
            <a:ext cx="2606040" cy="292608"/>
          </a:xfrm>
          <a:prstGeom prst="rect">
            <a:avLst/>
          </a:prstGeom>
          <a:noFill/>
        </p:spPr>
        <p:txBody>
          <a:bodyPr wrap="square" anchor="ctr" lIns="45720" rIns="45720" tIns="18288" bIns="18288">
            <a:spAutoFit/>
          </a:bodyPr>
          <a:lstStyle/>
          <a:p>
            <a:pPr algn="l"/>
            <a:r>
              <a:rPr sz="1050" b="1">
                <a:solidFill>
                  <a:srgbClr val="28A745"/>
                </a:solidFill>
                <a:latin typeface="Calibri"/>
              </a:rPr>
              <a:t>STABLE</a:t>
            </a:r>
          </a:p>
        </p:txBody>
      </p:sp>
      <p:sp>
        <p:nvSpPr>
          <p:cNvPr id="56" name="TextBox 55"/>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a:solidFill>
                  <a:srgbClr val="555F6B"/>
                </a:solidFill>
                <a:latin typeface="Calibri"/>
              </a:rPr>
              <a:t>A320neo Engine RCL Forecast</a:t>
            </a:r>
          </a:p>
        </p:txBody>
      </p:sp>
      <p:sp>
        <p:nvSpPr>
          <p:cNvPr id="57" name="TextBox 56"/>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a:solidFill>
                  <a:srgbClr val="555F6B"/>
                </a:solidFill>
                <a:latin typeface="Calibri"/>
              </a:rPr>
              <a:t>16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Limitations &amp; Honest Caveats</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What this model is and isn't</a:t>
            </a:r>
          </a:p>
        </p:txBody>
      </p:sp>
      <p:sp>
        <p:nvSpPr>
          <p:cNvPr id="5" name="Rectangle 4"/>
          <p:cNvSpPr/>
          <p:nvPr/>
        </p:nvSpPr>
        <p:spPr>
          <a:xfrm>
            <a:off x="457200" y="1188720"/>
            <a:ext cx="137160" cy="114300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10972800" cy="457200"/>
          </a:xfrm>
          <a:prstGeom prst="rect">
            <a:avLst/>
          </a:prstGeom>
          <a:noFill/>
        </p:spPr>
        <p:txBody>
          <a:bodyPr wrap="square" anchor="t" lIns="45720" rIns="45720" tIns="18288" bIns="18288">
            <a:spAutoFit/>
          </a:bodyPr>
          <a:lstStyle/>
          <a:p>
            <a:pPr algn="l"/>
            <a:r>
              <a:rPr sz="1400" b="1" i="0">
                <a:solidFill>
                  <a:srgbClr val="0B2A4A"/>
                </a:solidFill>
                <a:latin typeface="Calibri"/>
              </a:rPr>
              <a:t>Predicts shop-visit interval, not engine retirement</a:t>
            </a:r>
          </a:p>
        </p:txBody>
      </p:sp>
      <p:sp>
        <p:nvSpPr>
          <p:cNvPr id="7" name="TextBox 6"/>
          <p:cNvSpPr txBox="1"/>
          <p:nvPr/>
        </p:nvSpPr>
        <p:spPr>
          <a:xfrm>
            <a:off x="731520" y="1600200"/>
            <a:ext cx="10972800" cy="777240"/>
          </a:xfrm>
          <a:prstGeom prst="rect">
            <a:avLst/>
          </a:prstGeom>
          <a:noFill/>
        </p:spPr>
        <p:txBody>
          <a:bodyPr wrap="square" anchor="t" lIns="45720" rIns="45720" tIns="18288" bIns="18288">
            <a:spAutoFit/>
          </a:bodyPr>
          <a:lstStyle/>
          <a:p>
            <a:pPr algn="l"/>
            <a:r>
              <a:rPr sz="1100" b="0" i="0">
                <a:solidFill>
                  <a:srgbClr val="1A1A1A"/>
                </a:solidFill>
                <a:latin typeface="Calibri"/>
              </a:rPr>
              <a:t>Only 6 of 49 engines have actually been removed, all between 3,634-5,153 cycles. The model is calibrated to those events — likely shop visits, not catastrophic end-of-life. True retirement life is operator- and contract-specific and not derivable from this dataset.</a:t>
            </a:r>
          </a:p>
        </p:txBody>
      </p:sp>
      <p:sp>
        <p:nvSpPr>
          <p:cNvPr id="8" name="Rectangle 7"/>
          <p:cNvSpPr/>
          <p:nvPr/>
        </p:nvSpPr>
        <p:spPr>
          <a:xfrm>
            <a:off x="457200" y="2468880"/>
            <a:ext cx="137160" cy="114300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468880"/>
            <a:ext cx="10972800" cy="457200"/>
          </a:xfrm>
          <a:prstGeom prst="rect">
            <a:avLst/>
          </a:prstGeom>
          <a:noFill/>
        </p:spPr>
        <p:txBody>
          <a:bodyPr wrap="square" anchor="t" lIns="45720" rIns="45720" tIns="18288" bIns="18288">
            <a:spAutoFit/>
          </a:bodyPr>
          <a:lstStyle/>
          <a:p>
            <a:pPr algn="l"/>
            <a:r>
              <a:rPr sz="1400" b="1" i="0">
                <a:solidFill>
                  <a:srgbClr val="0B2A4A"/>
                </a:solidFill>
                <a:latin typeface="Calibri"/>
              </a:rPr>
              <a:t>Fleet prior depends on small off-wing sample</a:t>
            </a:r>
          </a:p>
        </p:txBody>
      </p:sp>
      <p:sp>
        <p:nvSpPr>
          <p:cNvPr id="10" name="TextBox 9"/>
          <p:cNvSpPr txBox="1"/>
          <p:nvPr/>
        </p:nvSpPr>
        <p:spPr>
          <a:xfrm>
            <a:off x="731520" y="2880360"/>
            <a:ext cx="10972800" cy="777240"/>
          </a:xfrm>
          <a:prstGeom prst="rect">
            <a:avLst/>
          </a:prstGeom>
          <a:noFill/>
        </p:spPr>
        <p:txBody>
          <a:bodyPr wrap="square" anchor="t" lIns="45720" rIns="45720" tIns="18288" bIns="18288">
            <a:spAutoFit/>
          </a:bodyPr>
          <a:lstStyle/>
          <a:p>
            <a:pPr algn="l"/>
            <a:r>
              <a:rPr sz="1100" b="0" i="0">
                <a:solidFill>
                  <a:srgbClr val="1A1A1A"/>
                </a:solidFill>
                <a:latin typeface="Calibri"/>
              </a:rPr>
              <a:t>LEAP-1A26 prior built from 4 engines; LEAP-1A26E1 prior currently falls back to fleet mean (only 2 E1s off-wing vs the 3-sample threshold). Will refine automatically as more engines come off-wing.</a:t>
            </a:r>
          </a:p>
        </p:txBody>
      </p:sp>
      <p:sp>
        <p:nvSpPr>
          <p:cNvPr id="11" name="Rectangle 10"/>
          <p:cNvSpPr/>
          <p:nvPr/>
        </p:nvSpPr>
        <p:spPr>
          <a:xfrm>
            <a:off x="457200" y="3749039"/>
            <a:ext cx="137160" cy="114300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49039"/>
            <a:ext cx="10972800" cy="457200"/>
          </a:xfrm>
          <a:prstGeom prst="rect">
            <a:avLst/>
          </a:prstGeom>
          <a:noFill/>
        </p:spPr>
        <p:txBody>
          <a:bodyPr wrap="square" anchor="t" lIns="45720" rIns="45720" tIns="18288" bIns="18288">
            <a:spAutoFit/>
          </a:bodyPr>
          <a:lstStyle/>
          <a:p>
            <a:pPr algn="l"/>
            <a:r>
              <a:rPr sz="1400" b="1" i="0">
                <a:solidFill>
                  <a:srgbClr val="0B2A4A"/>
                </a:solidFill>
                <a:latin typeface="Calibri"/>
              </a:rPr>
              <a:t>Engines past the empirical prior get RCL clipped at 0</a:t>
            </a:r>
          </a:p>
        </p:txBody>
      </p:sp>
      <p:sp>
        <p:nvSpPr>
          <p:cNvPr id="13" name="TextBox 12"/>
          <p:cNvSpPr txBox="1"/>
          <p:nvPr/>
        </p:nvSpPr>
        <p:spPr>
          <a:xfrm>
            <a:off x="731520" y="4160520"/>
            <a:ext cx="10972800" cy="777240"/>
          </a:xfrm>
          <a:prstGeom prst="rect">
            <a:avLst/>
          </a:prstGeom>
          <a:noFill/>
        </p:spPr>
        <p:txBody>
          <a:bodyPr wrap="square" anchor="t" lIns="45720" rIns="45720" tIns="18288" bIns="18288">
            <a:spAutoFit/>
          </a:bodyPr>
          <a:lstStyle/>
          <a:p>
            <a:pPr algn="l"/>
            <a:r>
              <a:rPr sz="1100" b="0" i="0">
                <a:solidFill>
                  <a:srgbClr val="1A1A1A"/>
                </a:solidFill>
                <a:latin typeface="Calibri"/>
              </a:rPr>
              <a:t>ESN26, ESN22, ESN11 (all &gt;5,900 cycles, still flying) have RCL=0 throughout much of their later data. The model treats them as 'overdue' — a real maintenance signal, but should be reviewed by an engineer.</a:t>
            </a:r>
          </a:p>
        </p:txBody>
      </p:sp>
      <p:sp>
        <p:nvSpPr>
          <p:cNvPr id="14" name="Rectangle 13"/>
          <p:cNvSpPr/>
          <p:nvPr/>
        </p:nvSpPr>
        <p:spPr>
          <a:xfrm>
            <a:off x="457200" y="5029199"/>
            <a:ext cx="137160" cy="1143000"/>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029199"/>
            <a:ext cx="10972800" cy="457200"/>
          </a:xfrm>
          <a:prstGeom prst="rect">
            <a:avLst/>
          </a:prstGeom>
          <a:noFill/>
        </p:spPr>
        <p:txBody>
          <a:bodyPr wrap="square" anchor="t" lIns="45720" rIns="45720" tIns="18288" bIns="18288">
            <a:spAutoFit/>
          </a:bodyPr>
          <a:lstStyle/>
          <a:p>
            <a:pPr algn="l"/>
            <a:r>
              <a:rPr sz="1400" b="1" i="0">
                <a:solidFill>
                  <a:srgbClr val="0B2A4A"/>
                </a:solidFill>
                <a:latin typeface="Calibri"/>
              </a:rPr>
              <a:t>Late-life R squared appears very negative</a:t>
            </a:r>
          </a:p>
        </p:txBody>
      </p:sp>
      <p:sp>
        <p:nvSpPr>
          <p:cNvPr id="16" name="TextBox 15"/>
          <p:cNvSpPr txBox="1"/>
          <p:nvPr/>
        </p:nvSpPr>
        <p:spPr>
          <a:xfrm>
            <a:off x="731520" y="5440679"/>
            <a:ext cx="10972800" cy="777240"/>
          </a:xfrm>
          <a:prstGeom prst="rect">
            <a:avLst/>
          </a:prstGeom>
          <a:noFill/>
        </p:spPr>
        <p:txBody>
          <a:bodyPr wrap="square" anchor="t" lIns="45720" rIns="45720" tIns="18288" bIns="18288">
            <a:spAutoFit/>
          </a:bodyPr>
          <a:lstStyle/>
          <a:p>
            <a:pPr algn="l"/>
            <a:r>
              <a:rPr sz="1100" b="0" i="0">
                <a:solidFill>
                  <a:srgbClr val="1A1A1A"/>
                </a:solidFill>
                <a:latin typeface="Calibri"/>
              </a:rPr>
              <a:t>Measurement artefact: with clipped labels, late-life target variance is tiny so R squared blows up. MAE is the right metric in that slice (394-430 cycles).</a:t>
            </a:r>
          </a:p>
        </p:txBody>
      </p:sp>
      <p:sp>
        <p:nvSpPr>
          <p:cNvPr id="17" name="TextBox 16"/>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18" name="TextBox 17"/>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17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Future Work</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Where this pipeline goes next</a:t>
            </a:r>
          </a:p>
        </p:txBody>
      </p:sp>
      <p:sp>
        <p:nvSpPr>
          <p:cNvPr id="5" name="Rectangle 4"/>
          <p:cNvSpPr/>
          <p:nvPr/>
        </p:nvSpPr>
        <p:spPr>
          <a:xfrm>
            <a:off x="457200" y="1188720"/>
            <a:ext cx="3749039" cy="5120640"/>
          </a:xfrm>
          <a:prstGeom prst="rect">
            <a:avLst/>
          </a:prstGeom>
          <a:solidFill>
            <a:srgbClr val="F6F8FB"/>
          </a:solidFill>
          <a:ln w="9525">
            <a:solidFill>
              <a:srgbClr val="00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749039" cy="502920"/>
          </a:xfrm>
          <a:prstGeom prst="rect">
            <a:avLst/>
          </a:prstGeom>
          <a:solidFill>
            <a:srgbClr val="00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88720"/>
            <a:ext cx="3749039" cy="502920"/>
          </a:xfrm>
          <a:prstGeom prst="rect">
            <a:avLst/>
          </a:prstGeom>
          <a:noFill/>
        </p:spPr>
        <p:txBody>
          <a:bodyPr wrap="square" anchor="ctr" lIns="45720" rIns="45720" tIns="18288" bIns="18288">
            <a:spAutoFit/>
          </a:bodyPr>
          <a:lstStyle/>
          <a:p>
            <a:pPr algn="ctr"/>
            <a:r>
              <a:rPr sz="1500" b="1" i="0">
                <a:solidFill>
                  <a:srgbClr val="FFFFFF"/>
                </a:solidFill>
                <a:latin typeface="Calibri"/>
              </a:rPr>
              <a:t>Modelling</a:t>
            </a:r>
          </a:p>
        </p:txBody>
      </p:sp>
      <p:sp>
        <p:nvSpPr>
          <p:cNvPr id="8" name="TextBox 7"/>
          <p:cNvSpPr txBox="1"/>
          <p:nvPr/>
        </p:nvSpPr>
        <p:spPr>
          <a:xfrm>
            <a:off x="640080" y="1828800"/>
            <a:ext cx="3383280" cy="4297680"/>
          </a:xfrm>
          <a:prstGeom prst="rect">
            <a:avLst/>
          </a:prstGeom>
          <a:noFill/>
        </p:spPr>
        <p:txBody>
          <a:bodyPr wrap="square">
            <a:spAutoFit/>
          </a:bodyPr>
          <a:lstStyle/>
          <a:p>
            <a:pPr algn="l">
              <a:spcAft>
                <a:spcPts val="400"/>
              </a:spcAft>
            </a:pPr>
            <a:r>
              <a:rPr sz="1150" b="1">
                <a:solidFill>
                  <a:srgbClr val="007BFF"/>
                </a:solidFill>
              </a:rPr>
              <a:t>■  </a:t>
            </a:r>
            <a:r>
              <a:rPr sz="1150">
                <a:solidFill>
                  <a:srgbClr val="1A1A1A"/>
                </a:solidFill>
              </a:rPr>
              <a:t>Full 48-fold leave-one-engine-out CV (~3.5h on T4)</a:t>
            </a:r>
          </a:p>
          <a:p>
            <a:pPr algn="l">
              <a:spcAft>
                <a:spcPts val="400"/>
              </a:spcAft>
            </a:pPr>
            <a:r>
              <a:rPr sz="1150" b="1">
                <a:solidFill>
                  <a:srgbClr val="007BFF"/>
                </a:solidFill>
              </a:rPr>
              <a:t>■  </a:t>
            </a:r>
            <a:r>
              <a:rPr sz="1150">
                <a:solidFill>
                  <a:srgbClr val="1A1A1A"/>
                </a:solidFill>
              </a:rPr>
              <a:t>Survival analysis (Cox-PH or DeepSurv) when more retirements arrive</a:t>
            </a:r>
          </a:p>
          <a:p>
            <a:pPr algn="l">
              <a:spcAft>
                <a:spcPts val="400"/>
              </a:spcAft>
            </a:pPr>
            <a:r>
              <a:rPr sz="1150" b="1">
                <a:solidFill>
                  <a:srgbClr val="007BFF"/>
                </a:solidFill>
              </a:rPr>
              <a:t>■  </a:t>
            </a:r>
            <a:r>
              <a:rPr sz="1150">
                <a:solidFill>
                  <a:srgbClr val="1A1A1A"/>
                </a:solidFill>
              </a:rPr>
              <a:t>Per-engine calibration layer from first-N-cycle trajectory</a:t>
            </a:r>
          </a:p>
          <a:p>
            <a:pPr algn="l">
              <a:spcAft>
                <a:spcPts val="400"/>
              </a:spcAft>
            </a:pPr>
            <a:r>
              <a:rPr sz="1150" b="1">
                <a:solidFill>
                  <a:srgbClr val="007BFF"/>
                </a:solidFill>
              </a:rPr>
              <a:t>■  </a:t>
            </a:r>
            <a:r>
              <a:rPr sz="1150">
                <a:solidFill>
                  <a:srgbClr val="1A1A1A"/>
                </a:solidFill>
              </a:rPr>
              <a:t>Uncertainty quantification (deep ensembles or MC dropout)</a:t>
            </a:r>
          </a:p>
        </p:txBody>
      </p:sp>
      <p:sp>
        <p:nvSpPr>
          <p:cNvPr id="9" name="Rectangle 8"/>
          <p:cNvSpPr/>
          <p:nvPr/>
        </p:nvSpPr>
        <p:spPr>
          <a:xfrm>
            <a:off x="4389120" y="1188720"/>
            <a:ext cx="3749039" cy="5120640"/>
          </a:xfrm>
          <a:prstGeom prst="rect">
            <a:avLst/>
          </a:prstGeom>
          <a:solidFill>
            <a:srgbClr val="F6F8FB"/>
          </a:solidFill>
          <a:ln w="95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188720"/>
            <a:ext cx="3749039" cy="502920"/>
          </a:xfrm>
          <a:prstGeom prst="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188720"/>
            <a:ext cx="3749039" cy="502920"/>
          </a:xfrm>
          <a:prstGeom prst="rect">
            <a:avLst/>
          </a:prstGeom>
          <a:noFill/>
        </p:spPr>
        <p:txBody>
          <a:bodyPr wrap="square" anchor="ctr" lIns="45720" rIns="45720" tIns="18288" bIns="18288">
            <a:spAutoFit/>
          </a:bodyPr>
          <a:lstStyle/>
          <a:p>
            <a:pPr algn="ctr"/>
            <a:r>
              <a:rPr sz="1500" b="1" i="0">
                <a:solidFill>
                  <a:srgbClr val="FFFFFF"/>
                </a:solidFill>
                <a:latin typeface="Calibri"/>
              </a:rPr>
              <a:t>Data</a:t>
            </a:r>
          </a:p>
        </p:txBody>
      </p:sp>
      <p:sp>
        <p:nvSpPr>
          <p:cNvPr id="12" name="TextBox 11"/>
          <p:cNvSpPr txBox="1"/>
          <p:nvPr/>
        </p:nvSpPr>
        <p:spPr>
          <a:xfrm>
            <a:off x="4572000" y="1828800"/>
            <a:ext cx="3383280" cy="4297680"/>
          </a:xfrm>
          <a:prstGeom prst="rect">
            <a:avLst/>
          </a:prstGeom>
          <a:noFill/>
        </p:spPr>
        <p:txBody>
          <a:bodyPr wrap="square">
            <a:spAutoFit/>
          </a:bodyPr>
          <a:lstStyle/>
          <a:p>
            <a:pPr algn="l">
              <a:spcAft>
                <a:spcPts val="400"/>
              </a:spcAft>
            </a:pPr>
            <a:r>
              <a:rPr sz="1150" b="1">
                <a:solidFill>
                  <a:srgbClr val="28A745"/>
                </a:solidFill>
              </a:rPr>
              <a:t>■  </a:t>
            </a:r>
            <a:r>
              <a:rPr sz="1150">
                <a:solidFill>
                  <a:srgbClr val="1A1A1A"/>
                </a:solidFill>
              </a:rPr>
              <a:t>Real-time ingestion via Kafka or scheduled CSV drop</a:t>
            </a:r>
          </a:p>
          <a:p>
            <a:pPr algn="l">
              <a:spcAft>
                <a:spcPts val="400"/>
              </a:spcAft>
            </a:pPr>
            <a:r>
              <a:rPr sz="1150" b="1">
                <a:solidFill>
                  <a:srgbClr val="28A745"/>
                </a:solidFill>
              </a:rPr>
              <a:t>■  </a:t>
            </a:r>
            <a:r>
              <a:rPr sz="1150">
                <a:solidFill>
                  <a:srgbClr val="1A1A1A"/>
                </a:solidFill>
              </a:rPr>
              <a:t>Capture additional sensors (vibration, oil debris) when available</a:t>
            </a:r>
          </a:p>
          <a:p>
            <a:pPr algn="l">
              <a:spcAft>
                <a:spcPts val="400"/>
              </a:spcAft>
            </a:pPr>
            <a:r>
              <a:rPr sz="1150" b="1">
                <a:solidFill>
                  <a:srgbClr val="28A745"/>
                </a:solidFill>
              </a:rPr>
              <a:t>■  </a:t>
            </a:r>
            <a:r>
              <a:rPr sz="1150">
                <a:solidFill>
                  <a:srgbClr val="1A1A1A"/>
                </a:solidFill>
              </a:rPr>
              <a:t>Cross-fleet validation against other A320neo operators</a:t>
            </a:r>
          </a:p>
        </p:txBody>
      </p:sp>
      <p:sp>
        <p:nvSpPr>
          <p:cNvPr id="13" name="Rectangle 12"/>
          <p:cNvSpPr/>
          <p:nvPr/>
        </p:nvSpPr>
        <p:spPr>
          <a:xfrm>
            <a:off x="8321040" y="1188720"/>
            <a:ext cx="3749039" cy="5120640"/>
          </a:xfrm>
          <a:prstGeom prst="rect">
            <a:avLst/>
          </a:prstGeom>
          <a:solidFill>
            <a:srgbClr val="F6F8FB"/>
          </a:solidFill>
          <a:ln w="9525">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1188720"/>
            <a:ext cx="3749039" cy="502920"/>
          </a:xfrm>
          <a:prstGeom prst="rect">
            <a:avLst/>
          </a:prstGeom>
          <a:solidFill>
            <a:srgbClr val="DC3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188720"/>
            <a:ext cx="3749039" cy="502920"/>
          </a:xfrm>
          <a:prstGeom prst="rect">
            <a:avLst/>
          </a:prstGeom>
          <a:noFill/>
        </p:spPr>
        <p:txBody>
          <a:bodyPr wrap="square" anchor="ctr" lIns="45720" rIns="45720" tIns="18288" bIns="18288">
            <a:spAutoFit/>
          </a:bodyPr>
          <a:lstStyle/>
          <a:p>
            <a:pPr algn="ctr"/>
            <a:r>
              <a:rPr sz="1500" b="1" i="0">
                <a:solidFill>
                  <a:srgbClr val="FFFFFF"/>
                </a:solidFill>
                <a:latin typeface="Calibri"/>
              </a:rPr>
              <a:t>Operations</a:t>
            </a:r>
          </a:p>
        </p:txBody>
      </p:sp>
      <p:sp>
        <p:nvSpPr>
          <p:cNvPr id="16" name="TextBox 15"/>
          <p:cNvSpPr txBox="1"/>
          <p:nvPr/>
        </p:nvSpPr>
        <p:spPr>
          <a:xfrm>
            <a:off x="8503919" y="1828800"/>
            <a:ext cx="3383280" cy="4297680"/>
          </a:xfrm>
          <a:prstGeom prst="rect">
            <a:avLst/>
          </a:prstGeom>
          <a:noFill/>
        </p:spPr>
        <p:txBody>
          <a:bodyPr wrap="square">
            <a:spAutoFit/>
          </a:bodyPr>
          <a:lstStyle/>
          <a:p>
            <a:pPr algn="l">
              <a:spcAft>
                <a:spcPts val="400"/>
              </a:spcAft>
            </a:pPr>
            <a:r>
              <a:rPr sz="1150" b="1">
                <a:solidFill>
                  <a:srgbClr val="DC3545"/>
                </a:solidFill>
              </a:rPr>
              <a:t>■  </a:t>
            </a:r>
            <a:r>
              <a:rPr sz="1150">
                <a:solidFill>
                  <a:srgbClr val="1A1A1A"/>
                </a:solidFill>
              </a:rPr>
              <a:t>Slack / email notifier wired to Airflow notify task</a:t>
            </a:r>
          </a:p>
          <a:p>
            <a:pPr algn="l">
              <a:spcAft>
                <a:spcPts val="400"/>
              </a:spcAft>
            </a:pPr>
            <a:r>
              <a:rPr sz="1150" b="1">
                <a:solidFill>
                  <a:srgbClr val="DC3545"/>
                </a:solidFill>
              </a:rPr>
              <a:t>■  </a:t>
            </a:r>
            <a:r>
              <a:rPr sz="1150">
                <a:solidFill>
                  <a:srgbClr val="1A1A1A"/>
                </a:solidFill>
              </a:rPr>
              <a:t>Grafana dashboards on top of Prometheus /metrics</a:t>
            </a:r>
          </a:p>
          <a:p>
            <a:pPr algn="l">
              <a:spcAft>
                <a:spcPts val="400"/>
              </a:spcAft>
            </a:pPr>
            <a:r>
              <a:rPr sz="1150" b="1">
                <a:solidFill>
                  <a:srgbClr val="DC3545"/>
                </a:solidFill>
              </a:rPr>
              <a:t>■  </a:t>
            </a:r>
            <a:r>
              <a:rPr sz="1150">
                <a:solidFill>
                  <a:srgbClr val="1A1A1A"/>
                </a:solidFill>
              </a:rPr>
              <a:t>MLflow Model Registry promotion gates (staging — production)</a:t>
            </a:r>
          </a:p>
          <a:p>
            <a:pPr algn="l">
              <a:spcAft>
                <a:spcPts val="400"/>
              </a:spcAft>
            </a:pPr>
            <a:r>
              <a:rPr sz="1150" b="1">
                <a:solidFill>
                  <a:srgbClr val="DC3545"/>
                </a:solidFill>
              </a:rPr>
              <a:t>■  </a:t>
            </a:r>
            <a:r>
              <a:rPr sz="1150">
                <a:solidFill>
                  <a:srgbClr val="1A1A1A"/>
                </a:solidFill>
              </a:rPr>
              <a:t>Confidence-flagged predictions in the /predict response</a:t>
            </a:r>
          </a:p>
        </p:txBody>
      </p:sp>
      <p:sp>
        <p:nvSpPr>
          <p:cNvPr id="17" name="TextBox 16"/>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18" name="TextBox 17"/>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18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1188720"/>
          </a:xfrm>
          <a:prstGeom prst="rect">
            <a:avLst/>
          </a:prstGeom>
          <a:noFill/>
        </p:spPr>
        <p:txBody>
          <a:bodyPr wrap="square" anchor="t" lIns="45720" rIns="45720" tIns="18288" bIns="18288">
            <a:spAutoFit/>
          </a:bodyPr>
          <a:lstStyle/>
          <a:p>
            <a:pPr algn="ctr"/>
            <a:r>
              <a:rPr sz="6400" b="1" i="0">
                <a:solidFill>
                  <a:srgbClr val="FFFFFF"/>
                </a:solidFill>
                <a:latin typeface="Calibri"/>
              </a:rPr>
              <a:t>Thank you</a:t>
            </a:r>
          </a:p>
        </p:txBody>
      </p:sp>
      <p:sp>
        <p:nvSpPr>
          <p:cNvPr id="4" name="Rectangle 3"/>
          <p:cNvSpPr/>
          <p:nvPr/>
        </p:nvSpPr>
        <p:spPr>
          <a:xfrm>
            <a:off x="4572000" y="3200400"/>
            <a:ext cx="3047695" cy="54864"/>
          </a:xfrm>
          <a:prstGeom prst="rect">
            <a:avLst/>
          </a:prstGeom>
          <a:solidFill>
            <a:srgbClr val="F0A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566160"/>
            <a:ext cx="11247120" cy="457200"/>
          </a:xfrm>
          <a:prstGeom prst="rect">
            <a:avLst/>
          </a:prstGeom>
          <a:noFill/>
        </p:spPr>
        <p:txBody>
          <a:bodyPr wrap="square" anchor="t" lIns="45720" rIns="45720" tIns="18288" bIns="18288">
            <a:spAutoFit/>
          </a:bodyPr>
          <a:lstStyle/>
          <a:p>
            <a:pPr algn="ctr"/>
            <a:r>
              <a:rPr sz="2200" b="0" i="0">
                <a:solidFill>
                  <a:srgbClr val="C0CBDE"/>
                </a:solidFill>
                <a:latin typeface="Calibri"/>
              </a:rPr>
              <a:t>Questions and discussion</a:t>
            </a:r>
          </a:p>
        </p:txBody>
      </p:sp>
      <p:sp>
        <p:nvSpPr>
          <p:cNvPr id="6" name="TextBox 5"/>
          <p:cNvSpPr txBox="1"/>
          <p:nvPr/>
        </p:nvSpPr>
        <p:spPr>
          <a:xfrm>
            <a:off x="457200" y="4846320"/>
            <a:ext cx="11247120" cy="365760"/>
          </a:xfrm>
          <a:prstGeom prst="rect">
            <a:avLst/>
          </a:prstGeom>
          <a:noFill/>
        </p:spPr>
        <p:txBody>
          <a:bodyPr wrap="square" anchor="t" lIns="45720" rIns="45720" tIns="18288" bIns="18288">
            <a:spAutoFit/>
          </a:bodyPr>
          <a:lstStyle/>
          <a:p>
            <a:pPr algn="ctr"/>
            <a:r>
              <a:rPr sz="1400" b="0" i="0">
                <a:solidFill>
                  <a:srgbClr val="F0AD4E"/>
                </a:solidFill>
                <a:latin typeface="Calibri"/>
              </a:rPr>
              <a:t>All artefacts reproducible from the repo</a:t>
            </a:r>
          </a:p>
        </p:txBody>
      </p:sp>
      <p:sp>
        <p:nvSpPr>
          <p:cNvPr id="7" name="TextBox 6"/>
          <p:cNvSpPr txBox="1"/>
          <p:nvPr/>
        </p:nvSpPr>
        <p:spPr>
          <a:xfrm>
            <a:off x="457200" y="5212080"/>
            <a:ext cx="11247120" cy="274320"/>
          </a:xfrm>
          <a:prstGeom prst="rect">
            <a:avLst/>
          </a:prstGeom>
          <a:noFill/>
        </p:spPr>
        <p:txBody>
          <a:bodyPr wrap="square" anchor="t" lIns="45720" rIns="45720" tIns="18288" bIns="18288">
            <a:spAutoFit/>
          </a:bodyPr>
          <a:lstStyle/>
          <a:p>
            <a:pPr algn="ctr"/>
            <a:r>
              <a:rPr sz="1200" b="0" i="0">
                <a:solidFill>
                  <a:srgbClr val="C0CBDE"/>
                </a:solidFill>
                <a:latin typeface="Consolas"/>
              </a:rPr>
              <a:t>README.md  ·  FLOWCHARTS.md  ·  Aircraft Engine Removal Forecast Repo.docx  ·  pytest -v</a:t>
            </a:r>
          </a:p>
        </p:txBody>
      </p:sp>
      <p:sp>
        <p:nvSpPr>
          <p:cNvPr id="8" name="TextBox 7"/>
          <p:cNvSpPr txBox="1"/>
          <p:nvPr/>
        </p:nvSpPr>
        <p:spPr>
          <a:xfrm>
            <a:off x="457200" y="6126480"/>
            <a:ext cx="11247120" cy="365760"/>
          </a:xfrm>
          <a:prstGeom prst="rect">
            <a:avLst/>
          </a:prstGeom>
          <a:noFill/>
        </p:spPr>
        <p:txBody>
          <a:bodyPr wrap="square" anchor="t" lIns="45720" rIns="45720" tIns="18288" bIns="18288">
            <a:spAutoFit/>
          </a:bodyPr>
          <a:lstStyle/>
          <a:p>
            <a:pPr algn="ctr"/>
            <a:r>
              <a:rPr sz="1200" b="0" i="0">
                <a:solidFill>
                  <a:srgbClr val="C0CBDE"/>
                </a:solidFill>
                <a:latin typeface="Calibri"/>
              </a:rPr>
              <a:t>Mohamed Hassan Ahmed   ·   eng.abmohas@gmail.com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365760"/>
          </a:xfrm>
          <a:prstGeom prst="rect">
            <a:avLst/>
          </a:prstGeom>
          <a:noFill/>
        </p:spPr>
        <p:txBody>
          <a:bodyPr wrap="square" anchor="ctr" lIns="45720" rIns="45720" tIns="18288" bIns="18288">
            <a:spAutoFit/>
          </a:bodyPr>
          <a:lstStyle/>
          <a:p>
            <a:pPr algn="l"/>
            <a:r>
              <a:rPr sz="2200" b="1" i="0">
                <a:solidFill>
                  <a:srgbClr val="FFFFFF"/>
                </a:solidFill>
                <a:latin typeface="Calibri"/>
              </a:rPr>
              <a:t>Root Cause: A Structural Data Finding</a:t>
            </a:r>
          </a:p>
        </p:txBody>
      </p:sp>
      <p:sp>
        <p:nvSpPr>
          <p:cNvPr id="4" name="TextBox 3"/>
          <p:cNvSpPr txBox="1"/>
          <p:nvPr/>
        </p:nvSpPr>
        <p:spPr>
          <a:xfrm>
            <a:off x="457200" y="457200"/>
            <a:ext cx="10972800" cy="365760"/>
          </a:xfrm>
          <a:prstGeom prst="rect">
            <a:avLst/>
          </a:prstGeom>
          <a:noFill/>
        </p:spPr>
        <p:txBody>
          <a:bodyPr wrap="square" anchor="t" lIns="45720" rIns="45720" tIns="18288" bIns="18288">
            <a:spAutoFit/>
          </a:bodyPr>
          <a:lstStyle/>
          <a:p>
            <a:pPr algn="l"/>
            <a:r>
              <a:rPr sz="1200" b="0" i="0">
                <a:solidFill>
                  <a:srgbClr val="C0CBDE"/>
                </a:solidFill>
                <a:latin typeface="Calibri"/>
              </a:rPr>
              <a:t>Why the LSTM/GRU/CNN all collapsed — and why no model could have worked here</a:t>
            </a:r>
          </a:p>
        </p:txBody>
      </p:sp>
      <p:sp>
        <p:nvSpPr>
          <p:cNvPr id="5" name="Rectangle 4"/>
          <p:cNvSpPr/>
          <p:nvPr/>
        </p:nvSpPr>
        <p:spPr>
          <a:xfrm>
            <a:off x="365760" y="960120"/>
            <a:ext cx="11475720" cy="640080"/>
          </a:xfrm>
          <a:prstGeom prst="rect">
            <a:avLst/>
          </a:prstGeom>
          <a:solidFill>
            <a:srgbClr val="F6F8FB"/>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05840"/>
            <a:ext cx="11155680" cy="548640"/>
          </a:xfrm>
          <a:prstGeom prst="rect">
            <a:avLst/>
          </a:prstGeom>
          <a:noFill/>
        </p:spPr>
        <p:txBody>
          <a:bodyPr wrap="square" anchor="ctr" lIns="45720" rIns="45720" tIns="18288" bIns="18288">
            <a:spAutoFit/>
          </a:bodyPr>
          <a:lstStyle/>
          <a:p>
            <a:pPr algn="l"/>
            <a:r>
              <a:rPr sz="1400" b="1" i="0">
                <a:solidFill>
                  <a:srgbClr val="0B2A4A"/>
                </a:solidFill>
                <a:latin typeface="Calibri"/>
              </a:rPr>
              <a:t>Hypothesis tested: Do early-life sensor degradation rates predict actual removal cycles?</a:t>
            </a:r>
          </a:p>
        </p:txBody>
      </p:sp>
      <p:sp>
        <p:nvSpPr>
          <p:cNvPr id="7" name="Rectangle 6"/>
          <p:cNvSpPr/>
          <p:nvPr/>
        </p:nvSpPr>
        <p:spPr>
          <a:xfrm>
            <a:off x="365760" y="1691640"/>
            <a:ext cx="5577840" cy="3931920"/>
          </a:xfrm>
          <a:prstGeom prst="rect">
            <a:avLst/>
          </a:prstGeom>
          <a:solidFill>
            <a:srgbClr val="F6F8FB"/>
          </a:solidFill>
          <a:ln w="12700">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783080"/>
            <a:ext cx="5394960" cy="365760"/>
          </a:xfrm>
          <a:prstGeom prst="rect">
            <a:avLst/>
          </a:prstGeom>
          <a:noFill/>
        </p:spPr>
        <p:txBody>
          <a:bodyPr wrap="square" anchor="t" lIns="45720" rIns="45720" tIns="18288" bIns="18288">
            <a:spAutoFit/>
          </a:bodyPr>
          <a:lstStyle/>
          <a:p>
            <a:pPr algn="l"/>
            <a:r>
              <a:rPr sz="1400" b="1" i="0">
                <a:solidFill>
                  <a:srgbClr val="DC3545"/>
                </a:solidFill>
                <a:latin typeface="Calibri"/>
              </a:rPr>
              <a:t>Result: NO correlation at any window size</a:t>
            </a:r>
          </a:p>
        </p:txBody>
      </p:sp>
      <p:sp>
        <p:nvSpPr>
          <p:cNvPr id="9" name="TextBox 8"/>
          <p:cNvSpPr txBox="1"/>
          <p:nvPr/>
        </p:nvSpPr>
        <p:spPr>
          <a:xfrm>
            <a:off x="502920" y="2194560"/>
            <a:ext cx="5394960" cy="320040"/>
          </a:xfrm>
          <a:prstGeom prst="rect">
            <a:avLst/>
          </a:prstGeom>
          <a:noFill/>
        </p:spPr>
        <p:txBody>
          <a:bodyPr wrap="square" anchor="t" lIns="45720" rIns="45720" tIns="18288" bIns="18288">
            <a:spAutoFit/>
          </a:bodyPr>
          <a:lstStyle/>
          <a:p>
            <a:pPr algn="l"/>
            <a:r>
              <a:rPr sz="1000" b="0" i="0">
                <a:solidFill>
                  <a:srgbClr val="555F6B"/>
                </a:solidFill>
                <a:latin typeface="Calibri"/>
              </a:rPr>
              <a:t>Pearson correlation between early-life severity score and actual removal_cycle for the 6 off-wing engines:</a:t>
            </a:r>
          </a:p>
        </p:txBody>
      </p:sp>
      <p:sp>
        <p:nvSpPr>
          <p:cNvPr id="10" name="Rectangle 9"/>
          <p:cNvSpPr/>
          <p:nvPr/>
        </p:nvSpPr>
        <p:spPr>
          <a:xfrm>
            <a:off x="502920" y="2606040"/>
            <a:ext cx="182880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606040"/>
            <a:ext cx="1691640" cy="292608"/>
          </a:xfrm>
          <a:prstGeom prst="rect">
            <a:avLst/>
          </a:prstGeom>
          <a:noFill/>
        </p:spPr>
        <p:txBody>
          <a:bodyPr wrap="square" anchor="ctr" lIns="45720" rIns="45720" tIns="18288" bIns="18288">
            <a:spAutoFit/>
          </a:bodyPr>
          <a:lstStyle/>
          <a:p>
            <a:pPr algn="l"/>
            <a:r>
              <a:rPr sz="1000" b="1" i="0">
                <a:solidFill>
                  <a:srgbClr val="FFFFFF"/>
                </a:solidFill>
                <a:latin typeface="Calibri"/>
              </a:rPr>
              <a:t>Early-life window</a:t>
            </a:r>
          </a:p>
        </p:txBody>
      </p:sp>
      <p:sp>
        <p:nvSpPr>
          <p:cNvPr id="12" name="Rectangle 11"/>
          <p:cNvSpPr/>
          <p:nvPr/>
        </p:nvSpPr>
        <p:spPr>
          <a:xfrm>
            <a:off x="2331720" y="2606040"/>
            <a:ext cx="128016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95727" y="2606040"/>
            <a:ext cx="1143000" cy="292608"/>
          </a:xfrm>
          <a:prstGeom prst="rect">
            <a:avLst/>
          </a:prstGeom>
          <a:noFill/>
        </p:spPr>
        <p:txBody>
          <a:bodyPr wrap="square" anchor="ctr" lIns="45720" rIns="45720" tIns="18288" bIns="18288">
            <a:spAutoFit/>
          </a:bodyPr>
          <a:lstStyle/>
          <a:p>
            <a:pPr algn="l"/>
            <a:r>
              <a:rPr sz="1000" b="1" i="0">
                <a:solidFill>
                  <a:srgbClr val="FFFFFF"/>
                </a:solidFill>
                <a:latin typeface="Calibri"/>
              </a:rPr>
              <a:t>Pearson r</a:t>
            </a:r>
          </a:p>
        </p:txBody>
      </p:sp>
      <p:sp>
        <p:nvSpPr>
          <p:cNvPr id="14" name="Rectangle 13"/>
          <p:cNvSpPr/>
          <p:nvPr/>
        </p:nvSpPr>
        <p:spPr>
          <a:xfrm>
            <a:off x="3611879" y="2606040"/>
            <a:ext cx="109728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5887" y="2606040"/>
            <a:ext cx="960120" cy="292608"/>
          </a:xfrm>
          <a:prstGeom prst="rect">
            <a:avLst/>
          </a:prstGeom>
          <a:noFill/>
        </p:spPr>
        <p:txBody>
          <a:bodyPr wrap="square" anchor="ctr" lIns="45720" rIns="45720" tIns="18288" bIns="18288">
            <a:spAutoFit/>
          </a:bodyPr>
          <a:lstStyle/>
          <a:p>
            <a:pPr algn="l"/>
            <a:r>
              <a:rPr sz="1000" b="1" i="0">
                <a:solidFill>
                  <a:srgbClr val="FFFFFF"/>
                </a:solidFill>
                <a:latin typeface="Calibri"/>
              </a:rPr>
              <a:t>p-value</a:t>
            </a:r>
          </a:p>
        </p:txBody>
      </p:sp>
      <p:sp>
        <p:nvSpPr>
          <p:cNvPr id="16" name="Rectangle 15"/>
          <p:cNvSpPr/>
          <p:nvPr/>
        </p:nvSpPr>
        <p:spPr>
          <a:xfrm>
            <a:off x="4709159" y="2606040"/>
            <a:ext cx="1188720" cy="29260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606040"/>
            <a:ext cx="1051560" cy="292608"/>
          </a:xfrm>
          <a:prstGeom prst="rect">
            <a:avLst/>
          </a:prstGeom>
          <a:noFill/>
        </p:spPr>
        <p:txBody>
          <a:bodyPr wrap="square" anchor="ctr" lIns="45720" rIns="45720" tIns="18288" bIns="18288">
            <a:spAutoFit/>
          </a:bodyPr>
          <a:lstStyle/>
          <a:p>
            <a:pPr algn="l"/>
            <a:r>
              <a:rPr sz="1000" b="1" i="0">
                <a:solidFill>
                  <a:srgbClr val="FFFFFF"/>
                </a:solidFill>
                <a:latin typeface="Calibri"/>
              </a:rPr>
              <a:t>Verdict</a:t>
            </a:r>
          </a:p>
        </p:txBody>
      </p:sp>
      <p:sp>
        <p:nvSpPr>
          <p:cNvPr id="18" name="Rectangle 17"/>
          <p:cNvSpPr/>
          <p:nvPr/>
        </p:nvSpPr>
        <p:spPr>
          <a:xfrm>
            <a:off x="502920" y="2898648"/>
            <a:ext cx="18288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898648"/>
            <a:ext cx="1691640" cy="292608"/>
          </a:xfrm>
          <a:prstGeom prst="rect">
            <a:avLst/>
          </a:prstGeom>
          <a:noFill/>
        </p:spPr>
        <p:txBody>
          <a:bodyPr wrap="square" anchor="ctr" lIns="45720" rIns="45720" tIns="18288" bIns="18288">
            <a:spAutoFit/>
          </a:bodyPr>
          <a:lstStyle/>
          <a:p>
            <a:pPr algn="l"/>
            <a:r>
              <a:rPr sz="1000" b="0" i="0">
                <a:solidFill>
                  <a:srgbClr val="1A1A1A"/>
                </a:solidFill>
                <a:latin typeface="Calibri"/>
              </a:rPr>
              <a:t>First 50 cycles</a:t>
            </a:r>
          </a:p>
        </p:txBody>
      </p:sp>
      <p:sp>
        <p:nvSpPr>
          <p:cNvPr id="20" name="Rectangle 19"/>
          <p:cNvSpPr/>
          <p:nvPr/>
        </p:nvSpPr>
        <p:spPr>
          <a:xfrm>
            <a:off x="2331720" y="2898648"/>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95727" y="2898648"/>
            <a:ext cx="114300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-0.29</a:t>
            </a:r>
          </a:p>
        </p:txBody>
      </p:sp>
      <p:sp>
        <p:nvSpPr>
          <p:cNvPr id="22" name="Rectangle 21"/>
          <p:cNvSpPr/>
          <p:nvPr/>
        </p:nvSpPr>
        <p:spPr>
          <a:xfrm>
            <a:off x="3611879" y="2898648"/>
            <a:ext cx="1097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75887" y="2898648"/>
            <a:ext cx="96012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0.57</a:t>
            </a:r>
          </a:p>
        </p:txBody>
      </p:sp>
      <p:sp>
        <p:nvSpPr>
          <p:cNvPr id="24" name="Rectangle 23"/>
          <p:cNvSpPr/>
          <p:nvPr/>
        </p:nvSpPr>
        <p:spPr>
          <a:xfrm>
            <a:off x="4709159" y="2898648"/>
            <a:ext cx="11887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73168" y="2898648"/>
            <a:ext cx="1051560" cy="292608"/>
          </a:xfrm>
          <a:prstGeom prst="rect">
            <a:avLst/>
          </a:prstGeom>
          <a:noFill/>
        </p:spPr>
        <p:txBody>
          <a:bodyPr wrap="square" anchor="ctr" lIns="45720" rIns="45720" tIns="18288" bIns="18288">
            <a:spAutoFit/>
          </a:bodyPr>
          <a:lstStyle/>
          <a:p>
            <a:pPr algn="l"/>
            <a:r>
              <a:rPr sz="1000" b="1" i="0">
                <a:solidFill>
                  <a:srgbClr val="DC3545"/>
                </a:solidFill>
                <a:latin typeface="Calibri"/>
              </a:rPr>
              <a:t>None</a:t>
            </a:r>
          </a:p>
        </p:txBody>
      </p:sp>
      <p:sp>
        <p:nvSpPr>
          <p:cNvPr id="26" name="Rectangle 25"/>
          <p:cNvSpPr/>
          <p:nvPr/>
        </p:nvSpPr>
        <p:spPr>
          <a:xfrm>
            <a:off x="502920" y="3191256"/>
            <a:ext cx="18288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191256"/>
            <a:ext cx="1691640" cy="292608"/>
          </a:xfrm>
          <a:prstGeom prst="rect">
            <a:avLst/>
          </a:prstGeom>
          <a:noFill/>
        </p:spPr>
        <p:txBody>
          <a:bodyPr wrap="square" anchor="ctr" lIns="45720" rIns="45720" tIns="18288" bIns="18288">
            <a:spAutoFit/>
          </a:bodyPr>
          <a:lstStyle/>
          <a:p>
            <a:pPr algn="l"/>
            <a:r>
              <a:rPr sz="1000" b="0" i="0">
                <a:solidFill>
                  <a:srgbClr val="1A1A1A"/>
                </a:solidFill>
                <a:latin typeface="Calibri"/>
              </a:rPr>
              <a:t>First 100 cycles</a:t>
            </a:r>
          </a:p>
        </p:txBody>
      </p:sp>
      <p:sp>
        <p:nvSpPr>
          <p:cNvPr id="28" name="Rectangle 27"/>
          <p:cNvSpPr/>
          <p:nvPr/>
        </p:nvSpPr>
        <p:spPr>
          <a:xfrm>
            <a:off x="2331720" y="3191256"/>
            <a:ext cx="128016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95727" y="3191256"/>
            <a:ext cx="114300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-0.25</a:t>
            </a:r>
          </a:p>
        </p:txBody>
      </p:sp>
      <p:sp>
        <p:nvSpPr>
          <p:cNvPr id="30" name="Rectangle 29"/>
          <p:cNvSpPr/>
          <p:nvPr/>
        </p:nvSpPr>
        <p:spPr>
          <a:xfrm>
            <a:off x="3611879" y="3191256"/>
            <a:ext cx="10972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75887" y="3191256"/>
            <a:ext cx="96012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0.64</a:t>
            </a:r>
          </a:p>
        </p:txBody>
      </p:sp>
      <p:sp>
        <p:nvSpPr>
          <p:cNvPr id="32" name="Rectangle 31"/>
          <p:cNvSpPr/>
          <p:nvPr/>
        </p:nvSpPr>
        <p:spPr>
          <a:xfrm>
            <a:off x="4709159" y="3191256"/>
            <a:ext cx="118872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3191256"/>
            <a:ext cx="1051560" cy="292608"/>
          </a:xfrm>
          <a:prstGeom prst="rect">
            <a:avLst/>
          </a:prstGeom>
          <a:noFill/>
        </p:spPr>
        <p:txBody>
          <a:bodyPr wrap="square" anchor="ctr" lIns="45720" rIns="45720" tIns="18288" bIns="18288">
            <a:spAutoFit/>
          </a:bodyPr>
          <a:lstStyle/>
          <a:p>
            <a:pPr algn="l"/>
            <a:r>
              <a:rPr sz="1000" b="1" i="0">
                <a:solidFill>
                  <a:srgbClr val="DC3545"/>
                </a:solidFill>
                <a:latin typeface="Calibri"/>
              </a:rPr>
              <a:t>None</a:t>
            </a:r>
          </a:p>
        </p:txBody>
      </p:sp>
      <p:sp>
        <p:nvSpPr>
          <p:cNvPr id="34" name="Rectangle 33"/>
          <p:cNvSpPr/>
          <p:nvPr/>
        </p:nvSpPr>
        <p:spPr>
          <a:xfrm>
            <a:off x="502920" y="3483864"/>
            <a:ext cx="18288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3483864"/>
            <a:ext cx="1691640" cy="292608"/>
          </a:xfrm>
          <a:prstGeom prst="rect">
            <a:avLst/>
          </a:prstGeom>
          <a:noFill/>
        </p:spPr>
        <p:txBody>
          <a:bodyPr wrap="square" anchor="ctr" lIns="45720" rIns="45720" tIns="18288" bIns="18288">
            <a:spAutoFit/>
          </a:bodyPr>
          <a:lstStyle/>
          <a:p>
            <a:pPr algn="l"/>
            <a:r>
              <a:rPr sz="1000" b="0" i="0">
                <a:solidFill>
                  <a:srgbClr val="1A1A1A"/>
                </a:solidFill>
                <a:latin typeface="Calibri"/>
              </a:rPr>
              <a:t>First 200 cycles</a:t>
            </a:r>
          </a:p>
        </p:txBody>
      </p:sp>
      <p:sp>
        <p:nvSpPr>
          <p:cNvPr id="36" name="Rectangle 35"/>
          <p:cNvSpPr/>
          <p:nvPr/>
        </p:nvSpPr>
        <p:spPr>
          <a:xfrm>
            <a:off x="2331720" y="3483864"/>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95727" y="3483864"/>
            <a:ext cx="114300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-0.07</a:t>
            </a:r>
          </a:p>
        </p:txBody>
      </p:sp>
      <p:sp>
        <p:nvSpPr>
          <p:cNvPr id="38" name="Rectangle 37"/>
          <p:cNvSpPr/>
          <p:nvPr/>
        </p:nvSpPr>
        <p:spPr>
          <a:xfrm>
            <a:off x="3611879" y="3483864"/>
            <a:ext cx="1097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75887" y="3483864"/>
            <a:ext cx="96012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0.90</a:t>
            </a:r>
          </a:p>
        </p:txBody>
      </p:sp>
      <p:sp>
        <p:nvSpPr>
          <p:cNvPr id="40" name="Rectangle 39"/>
          <p:cNvSpPr/>
          <p:nvPr/>
        </p:nvSpPr>
        <p:spPr>
          <a:xfrm>
            <a:off x="4709159" y="3483864"/>
            <a:ext cx="11887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73168" y="3483864"/>
            <a:ext cx="1051560" cy="292608"/>
          </a:xfrm>
          <a:prstGeom prst="rect">
            <a:avLst/>
          </a:prstGeom>
          <a:noFill/>
        </p:spPr>
        <p:txBody>
          <a:bodyPr wrap="square" anchor="ctr" lIns="45720" rIns="45720" tIns="18288" bIns="18288">
            <a:spAutoFit/>
          </a:bodyPr>
          <a:lstStyle/>
          <a:p>
            <a:pPr algn="l"/>
            <a:r>
              <a:rPr sz="1000" b="1" i="0">
                <a:solidFill>
                  <a:srgbClr val="DC3545"/>
                </a:solidFill>
                <a:latin typeface="Calibri"/>
              </a:rPr>
              <a:t>None</a:t>
            </a:r>
          </a:p>
        </p:txBody>
      </p:sp>
      <p:sp>
        <p:nvSpPr>
          <p:cNvPr id="42" name="Rectangle 41"/>
          <p:cNvSpPr/>
          <p:nvPr/>
        </p:nvSpPr>
        <p:spPr>
          <a:xfrm>
            <a:off x="502920" y="3776472"/>
            <a:ext cx="182880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3776472"/>
            <a:ext cx="1691640" cy="292608"/>
          </a:xfrm>
          <a:prstGeom prst="rect">
            <a:avLst/>
          </a:prstGeom>
          <a:noFill/>
        </p:spPr>
        <p:txBody>
          <a:bodyPr wrap="square" anchor="ctr" lIns="45720" rIns="45720" tIns="18288" bIns="18288">
            <a:spAutoFit/>
          </a:bodyPr>
          <a:lstStyle/>
          <a:p>
            <a:pPr algn="l"/>
            <a:r>
              <a:rPr sz="1000" b="0" i="0">
                <a:solidFill>
                  <a:srgbClr val="1A1A1A"/>
                </a:solidFill>
                <a:latin typeface="Calibri"/>
              </a:rPr>
              <a:t>First 300 cycles</a:t>
            </a:r>
          </a:p>
        </p:txBody>
      </p:sp>
      <p:sp>
        <p:nvSpPr>
          <p:cNvPr id="44" name="Rectangle 43"/>
          <p:cNvSpPr/>
          <p:nvPr/>
        </p:nvSpPr>
        <p:spPr>
          <a:xfrm>
            <a:off x="2331720" y="3776472"/>
            <a:ext cx="128016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95727" y="3776472"/>
            <a:ext cx="114300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-0.16</a:t>
            </a:r>
          </a:p>
        </p:txBody>
      </p:sp>
      <p:sp>
        <p:nvSpPr>
          <p:cNvPr id="46" name="Rectangle 45"/>
          <p:cNvSpPr/>
          <p:nvPr/>
        </p:nvSpPr>
        <p:spPr>
          <a:xfrm>
            <a:off x="3611879" y="3776472"/>
            <a:ext cx="109728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75887" y="3776472"/>
            <a:ext cx="960120" cy="292608"/>
          </a:xfrm>
          <a:prstGeom prst="rect">
            <a:avLst/>
          </a:prstGeom>
          <a:noFill/>
        </p:spPr>
        <p:txBody>
          <a:bodyPr wrap="square" anchor="ctr" lIns="45720" rIns="45720" tIns="18288" bIns="18288">
            <a:spAutoFit/>
          </a:bodyPr>
          <a:lstStyle/>
          <a:p>
            <a:pPr algn="l"/>
            <a:r>
              <a:rPr sz="1000" b="0" i="0">
                <a:solidFill>
                  <a:srgbClr val="1A1A1A"/>
                </a:solidFill>
                <a:latin typeface="Consolas"/>
              </a:rPr>
              <a:t>0.76</a:t>
            </a:r>
          </a:p>
        </p:txBody>
      </p:sp>
      <p:sp>
        <p:nvSpPr>
          <p:cNvPr id="48" name="Rectangle 47"/>
          <p:cNvSpPr/>
          <p:nvPr/>
        </p:nvSpPr>
        <p:spPr>
          <a:xfrm>
            <a:off x="4709159" y="3776472"/>
            <a:ext cx="1188720" cy="29260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73168" y="3776472"/>
            <a:ext cx="1051560" cy="292608"/>
          </a:xfrm>
          <a:prstGeom prst="rect">
            <a:avLst/>
          </a:prstGeom>
          <a:noFill/>
        </p:spPr>
        <p:txBody>
          <a:bodyPr wrap="square" anchor="ctr" lIns="45720" rIns="45720" tIns="18288" bIns="18288">
            <a:spAutoFit/>
          </a:bodyPr>
          <a:lstStyle/>
          <a:p>
            <a:pPr algn="l"/>
            <a:r>
              <a:rPr sz="1000" b="1" i="0">
                <a:solidFill>
                  <a:srgbClr val="DC3545"/>
                </a:solidFill>
                <a:latin typeface="Calibri"/>
              </a:rPr>
              <a:t>None</a:t>
            </a:r>
          </a:p>
        </p:txBody>
      </p:sp>
      <p:sp>
        <p:nvSpPr>
          <p:cNvPr id="50" name="TextBox 49"/>
          <p:cNvSpPr txBox="1"/>
          <p:nvPr/>
        </p:nvSpPr>
        <p:spPr>
          <a:xfrm>
            <a:off x="502920" y="4160520"/>
            <a:ext cx="5394960" cy="320040"/>
          </a:xfrm>
          <a:prstGeom prst="rect">
            <a:avLst/>
          </a:prstGeom>
          <a:noFill/>
        </p:spPr>
        <p:txBody>
          <a:bodyPr wrap="square" anchor="t" lIns="45720" rIns="45720" tIns="18288" bIns="18288">
            <a:spAutoFit/>
          </a:bodyPr>
          <a:lstStyle/>
          <a:p>
            <a:pPr algn="l"/>
            <a:r>
              <a:rPr sz="1000" b="0" i="1">
                <a:solidFill>
                  <a:srgbClr val="1A1A1A"/>
                </a:solidFill>
                <a:latin typeface="Calibri"/>
              </a:rPr>
              <a:t>All p-values &gt;&gt; 0.05. The signal is statistically indistinguishable from random noise.</a:t>
            </a:r>
          </a:p>
        </p:txBody>
      </p:sp>
      <p:sp>
        <p:nvSpPr>
          <p:cNvPr id="51" name="TextBox 50"/>
          <p:cNvSpPr txBox="1"/>
          <p:nvPr/>
        </p:nvSpPr>
        <p:spPr>
          <a:xfrm>
            <a:off x="502920" y="4526280"/>
            <a:ext cx="5394960" cy="365760"/>
          </a:xfrm>
          <a:prstGeom prst="rect">
            <a:avLst/>
          </a:prstGeom>
          <a:noFill/>
        </p:spPr>
        <p:txBody>
          <a:bodyPr wrap="square" anchor="t" lIns="45720" rIns="45720" tIns="18288" bIns="18288">
            <a:spAutoFit/>
          </a:bodyPr>
          <a:lstStyle/>
          <a:p>
            <a:pPr algn="l"/>
            <a:r>
              <a:rPr sz="1100" b="1" i="0">
                <a:solidFill>
                  <a:srgbClr val="0B2A4A"/>
                </a:solidFill>
                <a:latin typeface="Calibri"/>
              </a:rPr>
              <a:t>Per-engine breakdown:</a:t>
            </a:r>
          </a:p>
        </p:txBody>
      </p:sp>
      <p:sp>
        <p:nvSpPr>
          <p:cNvPr id="52" name="TextBox 51"/>
          <p:cNvSpPr txBox="1"/>
          <p:nvPr/>
        </p:nvSpPr>
        <p:spPr>
          <a:xfrm>
            <a:off x="502920" y="4846320"/>
            <a:ext cx="5394960" cy="777240"/>
          </a:xfrm>
          <a:prstGeom prst="rect">
            <a:avLst/>
          </a:prstGeom>
          <a:noFill/>
        </p:spPr>
        <p:txBody>
          <a:bodyPr wrap="square" anchor="t" lIns="45720" rIns="45720" tIns="18288" bIns="18288">
            <a:spAutoFit/>
          </a:bodyPr>
          <a:lstStyle/>
          <a:p>
            <a:pPr algn="l"/>
            <a:r>
              <a:rPr sz="1000" b="0" i="0">
                <a:solidFill>
                  <a:srgbClr val="1A1A1A"/>
                </a:solidFill>
                <a:latin typeface="Calibri"/>
              </a:rPr>
              <a:t>Of the 6 known-removal engines, only 3 fit the hypothesis (high early severity → early removal).</a:t>
            </a:r>
          </a:p>
          <a:p>
            <a:pPr algn="l"/>
            <a:r>
              <a:rPr sz="1000" b="0" i="0">
                <a:solidFill>
                  <a:srgbClr val="1A1A1A"/>
                </a:solidFill>
                <a:latin typeface="Calibri"/>
              </a:rPr>
              <a:t>ESN39 (earliest removal at 3,634 cyc) had LOW early severity → contradicts theory.</a:t>
            </a:r>
          </a:p>
          <a:p>
            <a:pPr algn="l"/>
            <a:r>
              <a:rPr sz="1000" b="0" i="0">
                <a:solidFill>
                  <a:srgbClr val="1A1A1A"/>
                </a:solidFill>
                <a:latin typeface="Calibri"/>
              </a:rPr>
              <a:t>ESN13 (mid removal at 4,562 cyc) had HIGH early severity → contradicts theory.</a:t>
            </a:r>
          </a:p>
        </p:txBody>
      </p:sp>
      <p:sp>
        <p:nvSpPr>
          <p:cNvPr id="53" name="Rectangle 52"/>
          <p:cNvSpPr/>
          <p:nvPr/>
        </p:nvSpPr>
        <p:spPr>
          <a:xfrm>
            <a:off x="6035040" y="1691640"/>
            <a:ext cx="5806440" cy="3931920"/>
          </a:xfrm>
          <a:prstGeom prst="rect">
            <a:avLst/>
          </a:prstGeom>
          <a:solidFill>
            <a:srgbClr val="F6F8FB"/>
          </a:solidFill>
          <a:ln w="12700">
            <a:solidFill>
              <a:srgbClr val="F0AD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72200" y="1783080"/>
            <a:ext cx="5577840" cy="365760"/>
          </a:xfrm>
          <a:prstGeom prst="rect">
            <a:avLst/>
          </a:prstGeom>
          <a:noFill/>
        </p:spPr>
        <p:txBody>
          <a:bodyPr wrap="square" anchor="t" lIns="45720" rIns="45720" tIns="18288" bIns="18288">
            <a:spAutoFit/>
          </a:bodyPr>
          <a:lstStyle/>
          <a:p>
            <a:pPr algn="l"/>
            <a:r>
              <a:rPr sz="1400" b="1" i="0">
                <a:solidFill>
                  <a:srgbClr val="F0AD4E"/>
                </a:solidFill>
                <a:latin typeface="Calibri"/>
              </a:rPr>
              <a:t>Interpretation</a:t>
            </a:r>
          </a:p>
        </p:txBody>
      </p:sp>
      <p:sp>
        <p:nvSpPr>
          <p:cNvPr id="55" name="TextBox 54"/>
          <p:cNvSpPr txBox="1"/>
          <p:nvPr/>
        </p:nvSpPr>
        <p:spPr>
          <a:xfrm>
            <a:off x="6172200" y="2194560"/>
            <a:ext cx="5577840" cy="868680"/>
          </a:xfrm>
          <a:prstGeom prst="rect">
            <a:avLst/>
          </a:prstGeom>
          <a:noFill/>
        </p:spPr>
        <p:txBody>
          <a:bodyPr wrap="square" anchor="t" lIns="45720" rIns="45720" tIns="18288" bIns="18288">
            <a:spAutoFit/>
          </a:bodyPr>
          <a:lstStyle/>
          <a:p>
            <a:pPr algn="l"/>
            <a:r>
              <a:rPr sz="1100" b="0" i="0">
                <a:solidFill>
                  <a:srgbClr val="1A1A1A"/>
                </a:solidFill>
                <a:latin typeface="Calibri"/>
              </a:rPr>
              <a:t>The 6 removed engines came off at contractual shop-visit intervals (3,634-5,153 cycles), not because their sensors warranted removal.</a:t>
            </a:r>
          </a:p>
        </p:txBody>
      </p:sp>
      <p:sp>
        <p:nvSpPr>
          <p:cNvPr id="56" name="TextBox 55"/>
          <p:cNvSpPr txBox="1"/>
          <p:nvPr/>
        </p:nvSpPr>
        <p:spPr>
          <a:xfrm>
            <a:off x="6172200" y="3108960"/>
            <a:ext cx="5577840" cy="1005840"/>
          </a:xfrm>
          <a:prstGeom prst="rect">
            <a:avLst/>
          </a:prstGeom>
          <a:noFill/>
        </p:spPr>
        <p:txBody>
          <a:bodyPr wrap="square" anchor="t" lIns="45720" rIns="45720" tIns="18288" bIns="18288">
            <a:spAutoFit/>
          </a:bodyPr>
          <a:lstStyle/>
          <a:p>
            <a:pPr algn="l"/>
            <a:r>
              <a:rPr sz="1100" b="0" i="0">
                <a:solidFill>
                  <a:srgbClr val="1A1A1A"/>
                </a:solidFill>
                <a:latin typeface="Calibri"/>
              </a:rPr>
              <a:t>In this dataset, removal events follow a maintenance schedule, not a sensor-driven trigger. Sensors and removal_cycle are essentially decoupled.</a:t>
            </a:r>
          </a:p>
        </p:txBody>
      </p:sp>
      <p:sp>
        <p:nvSpPr>
          <p:cNvPr id="57" name="TextBox 56"/>
          <p:cNvSpPr txBox="1"/>
          <p:nvPr/>
        </p:nvSpPr>
        <p:spPr>
          <a:xfrm>
            <a:off x="6172200" y="4160520"/>
            <a:ext cx="5577840" cy="320040"/>
          </a:xfrm>
          <a:prstGeom prst="rect">
            <a:avLst/>
          </a:prstGeom>
          <a:noFill/>
        </p:spPr>
        <p:txBody>
          <a:bodyPr wrap="square" anchor="t" lIns="45720" rIns="45720" tIns="18288" bIns="18288">
            <a:spAutoFit/>
          </a:bodyPr>
          <a:lstStyle/>
          <a:p>
            <a:pPr algn="l"/>
            <a:r>
              <a:rPr sz="1200" b="1" i="0">
                <a:solidFill>
                  <a:srgbClr val="F0AD4E"/>
                </a:solidFill>
                <a:latin typeface="Calibri"/>
              </a:rPr>
              <a:t>Implication:</a:t>
            </a:r>
          </a:p>
        </p:txBody>
      </p:sp>
      <p:sp>
        <p:nvSpPr>
          <p:cNvPr id="58" name="TextBox 57"/>
          <p:cNvSpPr txBox="1"/>
          <p:nvPr/>
        </p:nvSpPr>
        <p:spPr>
          <a:xfrm>
            <a:off x="6263640" y="4434840"/>
            <a:ext cx="5486400" cy="1097280"/>
          </a:xfrm>
          <a:prstGeom prst="rect">
            <a:avLst/>
          </a:prstGeom>
          <a:noFill/>
        </p:spPr>
        <p:txBody>
          <a:bodyPr wrap="square">
            <a:spAutoFit/>
          </a:bodyPr>
          <a:lstStyle/>
          <a:p>
            <a:pPr algn="l">
              <a:spcAft>
                <a:spcPts val="400"/>
              </a:spcAft>
            </a:pPr>
            <a:r>
              <a:rPr sz="1050" b="1">
                <a:solidFill>
                  <a:srgbClr val="F0AD4E"/>
                </a:solidFill>
              </a:rPr>
              <a:t>■  </a:t>
            </a:r>
            <a:r>
              <a:rPr sz="1050">
                <a:solidFill>
                  <a:srgbClr val="1A1A1A"/>
                </a:solidFill>
              </a:rPr>
              <a:t>Not a model architecture problem</a:t>
            </a:r>
          </a:p>
          <a:p>
            <a:pPr algn="l">
              <a:spcAft>
                <a:spcPts val="400"/>
              </a:spcAft>
            </a:pPr>
            <a:r>
              <a:rPr sz="1050" b="1">
                <a:solidFill>
                  <a:srgbClr val="F0AD4E"/>
                </a:solidFill>
              </a:rPr>
              <a:t>■  </a:t>
            </a:r>
            <a:r>
              <a:rPr sz="1050">
                <a:solidFill>
                  <a:srgbClr val="1A1A1A"/>
                </a:solidFill>
              </a:rPr>
              <a:t>Not a regularization tuning problem</a:t>
            </a:r>
          </a:p>
          <a:p>
            <a:pPr algn="l">
              <a:spcAft>
                <a:spcPts val="400"/>
              </a:spcAft>
            </a:pPr>
            <a:r>
              <a:rPr sz="1050" b="1">
                <a:solidFill>
                  <a:srgbClr val="F0AD4E"/>
                </a:solidFill>
              </a:rPr>
              <a:t>■  </a:t>
            </a:r>
            <a:r>
              <a:rPr sz="1050">
                <a:solidFill>
                  <a:srgbClr val="1A1A1A"/>
                </a:solidFill>
              </a:rPr>
              <a:t>Not a baseline-formula problem</a:t>
            </a:r>
          </a:p>
          <a:p>
            <a:pPr algn="l">
              <a:spcAft>
                <a:spcPts val="400"/>
              </a:spcAft>
            </a:pPr>
            <a:r>
              <a:rPr sz="1050" b="1">
                <a:solidFill>
                  <a:srgbClr val="F0AD4E"/>
                </a:solidFill>
              </a:rPr>
              <a:t>■  </a:t>
            </a:r>
            <a:r>
              <a:rPr sz="1050">
                <a:solidFill>
                  <a:srgbClr val="1A1A1A"/>
                </a:solidFill>
              </a:rPr>
              <a:t>The features and labels aren't causally connected in this data</a:t>
            </a:r>
          </a:p>
        </p:txBody>
      </p:sp>
      <p:sp>
        <p:nvSpPr>
          <p:cNvPr id="59" name="Rectangle 58"/>
          <p:cNvSpPr/>
          <p:nvPr/>
        </p:nvSpPr>
        <p:spPr>
          <a:xfrm>
            <a:off x="365760" y="5760720"/>
            <a:ext cx="11475720" cy="685800"/>
          </a:xfrm>
          <a:prstGeom prst="rect">
            <a:avLst/>
          </a:prstGeom>
          <a:solidFill>
            <a:srgbClr val="F6F8FB"/>
          </a:solidFill>
          <a:ln w="1270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5806440"/>
            <a:ext cx="11155680" cy="640080"/>
          </a:xfrm>
          <a:prstGeom prst="rect">
            <a:avLst/>
          </a:prstGeom>
          <a:noFill/>
        </p:spPr>
        <p:txBody>
          <a:bodyPr wrap="square" anchor="ctr" lIns="45720" rIns="45720" tIns="18288" bIns="18288">
            <a:spAutoFit/>
          </a:bodyPr>
          <a:lstStyle/>
          <a:p>
            <a:pPr algn="l"/>
            <a:r>
              <a:rPr sz="1200" b="1" i="0">
                <a:solidFill>
                  <a:srgbClr val="28A745"/>
                </a:solidFill>
                <a:latin typeface="Calibri"/>
              </a:rPr>
              <a:t>What we ship instead:  Sensor-driven degradation index (next slide). It claims only what the data can support — measured rate of degradation per sensor — not unobservable removal events.</a:t>
            </a:r>
          </a:p>
        </p:txBody>
      </p:sp>
      <p:sp>
        <p:nvSpPr>
          <p:cNvPr id="61" name="TextBox 60"/>
          <p:cNvSpPr txBox="1"/>
          <p:nvPr/>
        </p:nvSpPr>
        <p:spPr>
          <a:xfrm>
            <a:off x="457200" y="6537960"/>
            <a:ext cx="5486400" cy="274320"/>
          </a:xfrm>
          <a:prstGeom prst="rect">
            <a:avLst/>
          </a:prstGeom>
          <a:noFill/>
        </p:spPr>
        <p:txBody>
          <a:bodyPr wrap="square" anchor="t" lIns="45720" rIns="45720" tIns="18288" bIns="18288">
            <a:spAutoFit/>
          </a:bodyPr>
          <a:lstStyle/>
          <a:p>
            <a:pPr algn="l"/>
            <a:r>
              <a:rPr sz="900" b="0" i="0">
                <a:solidFill>
                  <a:srgbClr val="555F6B"/>
                </a:solidFill>
                <a:latin typeface="Calibri"/>
              </a:rPr>
              <a:t>A320neo Engine RCL Forecast</a:t>
            </a:r>
          </a:p>
        </p:txBody>
      </p:sp>
      <p:sp>
        <p:nvSpPr>
          <p:cNvPr id="62" name="TextBox 61"/>
          <p:cNvSpPr txBox="1"/>
          <p:nvPr/>
        </p:nvSpPr>
        <p:spPr>
          <a:xfrm>
            <a:off x="10515600" y="6537960"/>
            <a:ext cx="1371600" cy="274320"/>
          </a:xfrm>
          <a:prstGeom prst="rect">
            <a:avLst/>
          </a:prstGeom>
          <a:noFill/>
        </p:spPr>
        <p:txBody>
          <a:bodyPr wrap="square" anchor="t" lIns="45720" rIns="45720" tIns="18288" bIns="18288">
            <a:spAutoFit/>
          </a:bodyPr>
          <a:lstStyle/>
          <a:p>
            <a:pPr algn="r"/>
            <a:r>
              <a:rPr sz="900" b="0" i="0">
                <a:solidFill>
                  <a:srgbClr val="555F6B"/>
                </a:solidFill>
                <a:latin typeface="Calibri"/>
              </a:rPr>
              <a:t>15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